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6" r:id="rId2"/>
    <p:sldId id="26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BFAD6-E3A6-4E15-824F-DAF4CD64BED9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FC45E-810E-4A52-AA7D-749A01C9B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01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 to target FCI/CBS in a systematic and affordable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FC45E-810E-4A52-AA7D-749A01C9B6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48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AAE8-D692-42C3-BE8C-37CB40541DE4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54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440" indent="-182880">
              <a:buFont typeface="Arial" panose="020B0604020202020204" pitchFamily="34" charset="0"/>
              <a:buChar char="•"/>
              <a:defRPr sz="24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E763D-90AC-4950-B2D2-6A558D31061A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4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310ED-E4F3-462E-B6A1-EB61FABA25F9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35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0A70A-7DAD-4964-8D4C-41761594FC6B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84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A783D-E755-4608-99C2-35E3C436B21D}" type="datetime1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09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32D40-0E31-47A6-B7B0-439EE7E1B166}" type="datetime1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3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3E74-94AB-459F-82D1-F07F04239D03}" type="datetime1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99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D5669D1-43D0-4BC1-9B9B-FB6D129954D7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03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79320-DC77-4B15-A90F-EF81F9491991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5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7078D-95E1-42CA-847B-16DC69237D9A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37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652B-A492-4570-8163-14A8621E7170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6CD32F9-9DBA-414C-9705-24F2F3DAE2E7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652EB28-31C0-4061-83C4-F6D8103F695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7059-2EB7-C331-8AB3-A2581C785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Focal Point Approach (FPA)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9E91E-D04B-6CA7-1F9C-D0583A7BC1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Carson Tang</a:t>
            </a:r>
          </a:p>
          <a:p>
            <a:r>
              <a:rPr lang="en-US" dirty="0"/>
              <a:t>CCQC Summer lecture</a:t>
            </a:r>
          </a:p>
          <a:p>
            <a:r>
              <a:rPr lang="en-US" dirty="0"/>
              <a:t>7 July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6861C-7F0C-CCE3-6914-D6758E94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6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249D-C5A8-0A4C-BA67-58134F985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BDC60-B6A8-D1C4-8667-0D5C08DB6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often report energies in our work for thermochemistry, reaction barriers, etc.</a:t>
            </a:r>
          </a:p>
          <a:p>
            <a:r>
              <a:rPr lang="en-US" dirty="0"/>
              <a:t>Accuracy is desired to compare with experiment</a:t>
            </a:r>
          </a:p>
          <a:p>
            <a:r>
              <a:rPr lang="en-US" dirty="0"/>
              <a:t>How accurate can we get with current methods?</a:t>
            </a:r>
          </a:p>
          <a:p>
            <a:pPr lvl="1"/>
            <a:r>
              <a:rPr lang="en-US" dirty="0"/>
              <a:t>HF is not accurate but very fast, CCSD(T) is accurate but very slow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E642D-6C91-3946-A212-AA1690D4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A540-5403-8813-4F88-DC1542560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244" y="1840654"/>
            <a:ext cx="715151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50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BE69-056A-16B7-57C8-F24785F8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98D357-C197-B8EA-B0D1-683324A732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In short, a correction scheme to approach the exact answer using basis set extrapolations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𝐶𝑋</m:t>
                        </m:r>
                      </m:sup>
                    </m:sSup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𝑐𝑜𝑟𝑟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98D357-C197-B8EA-B0D1-683324A732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E79FF-EACC-976D-62A7-4A995C288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F076980-2557-9200-945E-F98602266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201" y="2829733"/>
            <a:ext cx="7407282" cy="253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62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60825-1DC2-E2E7-902B-0863E796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F64DC-973C-ADFA-04F1-C9E512226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Optimize geometries at your highest level of theory</a:t>
            </a:r>
          </a:p>
          <a:p>
            <a:r>
              <a:rPr lang="en-US" dirty="0"/>
              <a:t>2. Compute energies</a:t>
            </a:r>
          </a:p>
          <a:p>
            <a:r>
              <a:rPr lang="en-US" dirty="0"/>
              <a:t>3. Extrapolate energies</a:t>
            </a:r>
          </a:p>
          <a:p>
            <a:r>
              <a:rPr lang="en-US" dirty="0"/>
              <a:t>4. Put them in a table</a:t>
            </a:r>
          </a:p>
          <a:p>
            <a:r>
              <a:rPr lang="en-US" dirty="0"/>
              <a:t>5. Add corrections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553A3-00DE-6CB0-EB54-A45B4DBD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1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0E0D-52DD-F3FB-CC9F-CF4FB44E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Computing Energies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6C839-0AD3-DE0F-7FC2-1C223285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52761F-6747-F4FB-185C-BB4EFD0588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49" y="3429000"/>
            <a:ext cx="10982301" cy="155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17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6CF-D404-32A4-83FC-9A0DFF9A5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Product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DF633-7348-12EB-D38B-91A61E47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56131D-060B-F77B-9FA9-37467EC05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168339E-5A1D-7936-FD4E-C599AD8BD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28" y="2529068"/>
            <a:ext cx="10798533" cy="265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607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68B4-AAF9-A1F4-6FA2-747C26559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Order Correlation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3D673-03DF-98AB-65B2-2B51B11B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7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1FF4421-5519-884B-BAC8-307061FA87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887" y="3559725"/>
            <a:ext cx="7407282" cy="253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33C0E1-35A8-3DE7-CD15-2DDF92B03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887" y="1737360"/>
            <a:ext cx="7407282" cy="18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542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10C8E-BB6B-AE30-0BD6-3BAFB0CE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Corrections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4CFED-BAEC-E679-C698-A35CD5DF2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Zero Point Vibrational Energy (ZPVE)</a:t>
            </a:r>
          </a:p>
          <a:p>
            <a:pPr lvl="1"/>
            <a:r>
              <a:rPr lang="en-US" dirty="0"/>
              <a:t>Accounts for the fact that molecules are not perfectly still at 0 K</a:t>
            </a:r>
          </a:p>
          <a:p>
            <a:pPr lvl="1"/>
            <a:r>
              <a:rPr lang="en-US" dirty="0"/>
              <a:t>Harmonic Approximation</a:t>
            </a:r>
          </a:p>
          <a:p>
            <a:r>
              <a:rPr lang="en-US" dirty="0"/>
              <a:t>Anharmonic ZPVE</a:t>
            </a:r>
          </a:p>
          <a:p>
            <a:pPr lvl="1"/>
            <a:r>
              <a:rPr lang="en-US" dirty="0"/>
              <a:t>More realistic approximation of harmonic ZPVE</a:t>
            </a:r>
          </a:p>
          <a:p>
            <a:pPr lvl="1"/>
            <a:r>
              <a:rPr lang="en-US" dirty="0"/>
              <a:t>VPT2</a:t>
            </a:r>
          </a:p>
          <a:p>
            <a:pPr lvl="1"/>
            <a:r>
              <a:rPr lang="en-US" dirty="0"/>
              <a:t>Usually small changes, but required for extreme accuracy</a:t>
            </a:r>
          </a:p>
          <a:p>
            <a:r>
              <a:rPr lang="en-US" dirty="0"/>
              <a:t>Diagonal Born-Oppenheimer Correction (DBOC)</a:t>
            </a:r>
          </a:p>
          <a:p>
            <a:pPr lvl="1"/>
            <a:r>
              <a:rPr lang="en-US" dirty="0"/>
              <a:t>Accounts for coupling of nuclear and electronic motion</a:t>
            </a:r>
          </a:p>
          <a:p>
            <a:pPr lvl="1"/>
            <a:r>
              <a:rPr lang="en-US" dirty="0"/>
              <a:t>HF is usually sufficient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EB852-F614-D5C5-8CEF-C5C6F3DA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64B5-AEB4-C09F-262A-70F78AE4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AC4DC-DA99-36E4-4486-7E34724E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Corrections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786CC-6146-1CA7-C6DB-9C4739125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Frozen Core (FC)</a:t>
            </a:r>
          </a:p>
          <a:p>
            <a:pPr lvl="1"/>
            <a:r>
              <a:rPr lang="en-US" dirty="0"/>
              <a:t>Energy difference between all electrons correlated vs. frozen core</a:t>
            </a:r>
          </a:p>
          <a:p>
            <a:pPr lvl="1"/>
            <a:r>
              <a:rPr lang="en-US" dirty="0"/>
              <a:t>Often required for heavier elements, but ECPs can take care of this</a:t>
            </a:r>
          </a:p>
          <a:p>
            <a:r>
              <a:rPr lang="en-US" dirty="0"/>
              <a:t>Relativistic Effects (Z&gt;36)</a:t>
            </a:r>
          </a:p>
          <a:p>
            <a:pPr lvl="1"/>
            <a:r>
              <a:rPr lang="en-US" dirty="0"/>
              <a:t>Scalar relativistic effects without inclusion of spin-orbit coupling</a:t>
            </a:r>
          </a:p>
          <a:p>
            <a:pPr lvl="1"/>
            <a:r>
              <a:rPr lang="en-US" dirty="0"/>
              <a:t>Spin-orbit coupling</a:t>
            </a:r>
          </a:p>
          <a:p>
            <a:r>
              <a:rPr lang="en-US" dirty="0"/>
              <a:t>Scalar Relativity (Rel.)</a:t>
            </a:r>
          </a:p>
          <a:p>
            <a:pPr lvl="1"/>
            <a:r>
              <a:rPr lang="en-US" dirty="0"/>
              <a:t>Includes relativistic corrections</a:t>
            </a:r>
          </a:p>
          <a:p>
            <a:pPr lvl="1"/>
            <a:r>
              <a:rPr lang="en-US" dirty="0"/>
              <a:t>X2C1E, X2CMF, DKH, ZORA, MVD1, MVD2, DPT2,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33E9D-3E12-0F38-1406-AAD851D2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7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0B1A-3C9C-D495-1F11-284322B0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8C17F-B6AB-27E4-4128-6730ABA4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Corrections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8C6DD-D273-2744-C8E5-90A2D1122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Spin-Orbit Coupling (SO or SOC)</a:t>
            </a:r>
          </a:p>
          <a:p>
            <a:pPr lvl="1"/>
            <a:r>
              <a:rPr lang="en-US" dirty="0"/>
              <a:t>Accounts for splitting of electronic states due to spin-orbit interactions</a:t>
            </a:r>
          </a:p>
          <a:p>
            <a:pPr lvl="1"/>
            <a:r>
              <a:rPr lang="en-US" dirty="0"/>
              <a:t>Multireference methods</a:t>
            </a:r>
          </a:p>
          <a:p>
            <a:pPr lvl="1"/>
            <a:r>
              <a:rPr lang="en-US" dirty="0"/>
              <a:t>Heavy elements or open-shell systems</a:t>
            </a:r>
          </a:p>
          <a:p>
            <a:r>
              <a:rPr lang="en-US" dirty="0"/>
              <a:t>Basis Set Superposition Errors (BSSE)</a:t>
            </a:r>
          </a:p>
          <a:p>
            <a:pPr lvl="1"/>
            <a:r>
              <a:rPr lang="en-US" dirty="0"/>
              <a:t>Intermolecular interactions, weakly bound systems, van der Waals complexes</a:t>
            </a:r>
          </a:p>
          <a:p>
            <a:pPr lvl="1"/>
            <a:r>
              <a:rPr lang="en-US" dirty="0"/>
              <a:t>Counterpoise method</a:t>
            </a:r>
          </a:p>
          <a:p>
            <a:r>
              <a:rPr lang="en-US" dirty="0"/>
              <a:t>Thermal Corrections</a:t>
            </a:r>
          </a:p>
          <a:p>
            <a:pPr lvl="1"/>
            <a:r>
              <a:rPr lang="en-US" dirty="0"/>
              <a:t>Computing energy above 0 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CFFB9-4F8E-2554-79B9-E34F4A25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8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2BEF-F599-B827-0642-74E83422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report?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0F521-D2C8-C2CF-A4CC-06A20CAB3D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𝐶𝐶𝑆𝐷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𝐶𝐵𝑆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𝑍𝑃𝑉𝐸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𝐷𝐵𝑂𝐶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𝑅𝑒𝑙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𝑆𝑂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0F521-D2C8-C2CF-A4CC-06A20CAB3D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B7964-9313-9666-A667-1494D917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2F4A3-5247-807E-FCED-3B9EB9238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839" y="2517817"/>
            <a:ext cx="7407282" cy="18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52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1E41-07BC-4B98-8DEB-ED46941A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Cite These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DDD50-7214-BB63-EDF9-249784BB1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/>
              <a:t>@article{fpa1,</a:t>
            </a:r>
          </a:p>
          <a:p>
            <a:pPr marL="0" indent="0">
              <a:buNone/>
            </a:pPr>
            <a:r>
              <a:rPr lang="en-US" sz="1500" dirty="0"/>
              <a:t>	title        = {{The heat of formation of NCO}},</a:t>
            </a:r>
          </a:p>
          <a:p>
            <a:pPr marL="0" indent="0">
              <a:buNone/>
            </a:pPr>
            <a:r>
              <a:rPr lang="en-US" sz="1500" dirty="0"/>
              <a:t>	author       = {East, Allan L. L. and Allen, Wesley D.},</a:t>
            </a:r>
          </a:p>
          <a:p>
            <a:pPr marL="0" indent="0">
              <a:buNone/>
            </a:pPr>
            <a:r>
              <a:rPr lang="en-US" sz="1500" dirty="0"/>
              <a:t>	year         = 1993,</a:t>
            </a:r>
          </a:p>
          <a:p>
            <a:pPr marL="0" indent="0">
              <a:buNone/>
            </a:pPr>
            <a:r>
              <a:rPr lang="en-US" sz="1500" dirty="0"/>
              <a:t>	month        = {09},</a:t>
            </a:r>
          </a:p>
          <a:p>
            <a:pPr marL="0" indent="0">
              <a:buNone/>
            </a:pPr>
            <a:r>
              <a:rPr lang="en-US" sz="1500" dirty="0"/>
              <a:t>	journal      = {J. Chem. Phys.},</a:t>
            </a:r>
          </a:p>
          <a:p>
            <a:pPr marL="0" indent="0">
              <a:buNone/>
            </a:pPr>
            <a:r>
              <a:rPr lang="en-US" sz="1500" dirty="0"/>
              <a:t>	volume       = 99,</a:t>
            </a:r>
          </a:p>
          <a:p>
            <a:pPr marL="0" indent="0">
              <a:buNone/>
            </a:pPr>
            <a:r>
              <a:rPr lang="en-US" sz="1500" dirty="0"/>
              <a:t>	number       = 6,</a:t>
            </a:r>
          </a:p>
          <a:p>
            <a:pPr marL="0" indent="0">
              <a:buNone/>
            </a:pPr>
            <a:r>
              <a:rPr lang="en-US" sz="1500" dirty="0"/>
              <a:t>	pages        = {4638--4650},</a:t>
            </a:r>
          </a:p>
          <a:p>
            <a:pPr marL="0" indent="0">
              <a:buNone/>
            </a:pPr>
            <a:r>
              <a:rPr lang="en-US" sz="1500" dirty="0"/>
              <a:t>	</a:t>
            </a:r>
            <a:r>
              <a:rPr lang="en-US" sz="1500" dirty="0" err="1"/>
              <a:t>doi</a:t>
            </a:r>
            <a:r>
              <a:rPr lang="en-US" sz="1500" dirty="0"/>
              <a:t>          = {10.1063/1.466062},</a:t>
            </a:r>
          </a:p>
          <a:p>
            <a:pPr marL="0" indent="0">
              <a:buNone/>
            </a:pPr>
            <a:r>
              <a:rPr lang="en-US" sz="1500" dirty="0"/>
              <a:t>	</a:t>
            </a:r>
            <a:r>
              <a:rPr lang="en-US" sz="1500" dirty="0" err="1"/>
              <a:t>issn</a:t>
            </a:r>
            <a:r>
              <a:rPr lang="en-US" sz="1500" dirty="0"/>
              <a:t>         = {0021-9606},</a:t>
            </a:r>
          </a:p>
          <a:p>
            <a:pPr marL="0" indent="0">
              <a:buNone/>
            </a:pPr>
            <a:r>
              <a:rPr lang="en-US" sz="1500" dirty="0"/>
              <a:t>}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260A7-42A6-F907-8B13-947C5E380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47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C2AE4-4C17-621C-1477-81A11C85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701B8-F531-D7ED-872A-05507D0B6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Cite These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9CE98-675B-90E3-60B1-52CE053C0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@article{fpa2,</a:t>
            </a:r>
          </a:p>
          <a:p>
            <a:pPr marL="0" indent="0">
              <a:buNone/>
            </a:pPr>
            <a:r>
              <a:rPr lang="en-US" dirty="0"/>
              <a:t>	title        = {{In pursuit of the ab initio limit for conformational energy prototypes}},</a:t>
            </a:r>
          </a:p>
          <a:p>
            <a:pPr marL="0" indent="0">
              <a:buNone/>
            </a:pPr>
            <a:r>
              <a:rPr lang="en-US" dirty="0"/>
              <a:t>	author       = {Császár, Attila G. and Allen, Wesley D. and Schaefer, Henry F.,},</a:t>
            </a:r>
          </a:p>
          <a:p>
            <a:pPr marL="0" indent="0">
              <a:buNone/>
            </a:pPr>
            <a:r>
              <a:rPr lang="en-US" dirty="0"/>
              <a:t>	year         = 1998,</a:t>
            </a:r>
          </a:p>
          <a:p>
            <a:pPr marL="0" indent="0">
              <a:buNone/>
            </a:pPr>
            <a:r>
              <a:rPr lang="en-US" dirty="0"/>
              <a:t>	month        = {06},</a:t>
            </a:r>
          </a:p>
          <a:p>
            <a:pPr marL="0" indent="0">
              <a:buNone/>
            </a:pPr>
            <a:r>
              <a:rPr lang="en-US" dirty="0"/>
              <a:t>	journal      = {J. Chem. Phys.},</a:t>
            </a:r>
          </a:p>
          <a:p>
            <a:pPr marL="0" indent="0">
              <a:buNone/>
            </a:pPr>
            <a:r>
              <a:rPr lang="en-US" dirty="0"/>
              <a:t>	volume       = 108,</a:t>
            </a:r>
          </a:p>
          <a:p>
            <a:pPr marL="0" indent="0">
              <a:buNone/>
            </a:pPr>
            <a:r>
              <a:rPr lang="en-US" dirty="0"/>
              <a:t>	number       = 23,</a:t>
            </a:r>
          </a:p>
          <a:p>
            <a:pPr marL="0" indent="0">
              <a:buNone/>
            </a:pPr>
            <a:r>
              <a:rPr lang="en-US" dirty="0"/>
              <a:t>	pages        = {9751--9764},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doi</a:t>
            </a:r>
            <a:r>
              <a:rPr lang="en-US" dirty="0"/>
              <a:t>          = {10.1063/1.476449},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issn</a:t>
            </a:r>
            <a:r>
              <a:rPr lang="en-US" dirty="0"/>
              <a:t>         = {0021-9606},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D4155-5FB2-6079-A506-18F2C050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54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87651-A795-47A3-3781-20A7BDBA0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529F-5C6E-CD66-51D2-C181209E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Cite These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214EF-A109-73AA-9D02-DAF30C8AD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/>
              <a:t>@inbook{fpa3,</a:t>
            </a:r>
          </a:p>
          <a:p>
            <a:pPr marL="0" indent="0">
              <a:buNone/>
            </a:pPr>
            <a:r>
              <a:rPr lang="en-US" sz="1500" dirty="0"/>
              <a:t>	title        = {Dream or Reality: Complete Basis Set Full Configuration Interaction Potential Energy Hypersurfaces},</a:t>
            </a:r>
          </a:p>
          <a:p>
            <a:pPr marL="0" indent="0">
              <a:buNone/>
            </a:pPr>
            <a:r>
              <a:rPr lang="en-US" sz="1500" dirty="0"/>
              <a:t>	author       = {Cs{\'a}</a:t>
            </a:r>
            <a:r>
              <a:rPr lang="en-US" sz="1500" dirty="0" err="1"/>
              <a:t>sz</a:t>
            </a:r>
            <a:r>
              <a:rPr lang="en-US" sz="1500" dirty="0"/>
              <a:t>{\'a}r, Attila G. and </a:t>
            </a:r>
            <a:r>
              <a:rPr lang="en-US" sz="1500" dirty="0" err="1"/>
              <a:t>Tarczay</a:t>
            </a:r>
            <a:r>
              <a:rPr lang="en-US" sz="1500" dirty="0"/>
              <a:t>, Gy{\"o}</a:t>
            </a:r>
            <a:r>
              <a:rPr lang="en-US" sz="1500" dirty="0" err="1"/>
              <a:t>rgy</a:t>
            </a:r>
            <a:r>
              <a:rPr lang="en-US" sz="1500" dirty="0"/>
              <a:t> and Leininger, Matthew L. and </a:t>
            </a:r>
            <a:r>
              <a:rPr lang="en-US" sz="1500" dirty="0" err="1"/>
              <a:t>Polyansky</a:t>
            </a:r>
            <a:r>
              <a:rPr lang="en-US" sz="1500" dirty="0"/>
              <a:t>, Oleg L. and Tennyson, Jonathan and Allen, Wesley D.},</a:t>
            </a:r>
          </a:p>
          <a:p>
            <a:pPr marL="0" indent="0">
              <a:buNone/>
            </a:pPr>
            <a:r>
              <a:rPr lang="en-US" sz="1500" dirty="0"/>
              <a:t>	year         = 2001,</a:t>
            </a:r>
          </a:p>
          <a:p>
            <a:pPr marL="0" indent="0">
              <a:buNone/>
            </a:pPr>
            <a:r>
              <a:rPr lang="en-US" sz="1500" dirty="0"/>
              <a:t>	</a:t>
            </a:r>
            <a:r>
              <a:rPr lang="en-US" sz="1500" dirty="0" err="1"/>
              <a:t>booktitle</a:t>
            </a:r>
            <a:r>
              <a:rPr lang="en-US" sz="1500" dirty="0"/>
              <a:t>    = {Spectroscopy from Space},</a:t>
            </a:r>
          </a:p>
          <a:p>
            <a:pPr marL="0" indent="0">
              <a:buNone/>
            </a:pPr>
            <a:r>
              <a:rPr lang="en-US" sz="1500" dirty="0"/>
              <a:t>	publisher    = {Springer Netherlands},</a:t>
            </a:r>
          </a:p>
          <a:p>
            <a:pPr marL="0" indent="0">
              <a:buNone/>
            </a:pPr>
            <a:r>
              <a:rPr lang="en-US" sz="1500" dirty="0"/>
              <a:t>	address      = {Dordrecht},</a:t>
            </a:r>
          </a:p>
          <a:p>
            <a:pPr marL="0" indent="0">
              <a:buNone/>
            </a:pPr>
            <a:r>
              <a:rPr lang="en-US" sz="1500" dirty="0"/>
              <a:t>	pages        = {317--339},</a:t>
            </a:r>
          </a:p>
          <a:p>
            <a:pPr marL="0" indent="0">
              <a:buNone/>
            </a:pPr>
            <a:r>
              <a:rPr lang="en-US" sz="1500" dirty="0"/>
              <a:t>	</a:t>
            </a:r>
            <a:r>
              <a:rPr lang="en-US" sz="1500" dirty="0" err="1"/>
              <a:t>doi</a:t>
            </a:r>
            <a:r>
              <a:rPr lang="en-US" sz="1500" dirty="0"/>
              <a:t>          = {10.1007/978-94-010-0832-7_19},</a:t>
            </a:r>
          </a:p>
          <a:p>
            <a:pPr marL="0" indent="0">
              <a:buNone/>
            </a:pPr>
            <a:r>
              <a:rPr lang="en-US" sz="1500" dirty="0"/>
              <a:t>	</a:t>
            </a:r>
            <a:r>
              <a:rPr lang="en-US" sz="1500" dirty="0" err="1"/>
              <a:t>isbn</a:t>
            </a:r>
            <a:r>
              <a:rPr lang="en-US" sz="1500" dirty="0"/>
              <a:t>         = {978-94-010-0832-7},</a:t>
            </a:r>
          </a:p>
          <a:p>
            <a:pPr marL="0" indent="0">
              <a:buNone/>
            </a:pPr>
            <a:r>
              <a:rPr lang="en-US" sz="1500" dirty="0"/>
              <a:t>	</a:t>
            </a:r>
            <a:r>
              <a:rPr lang="en-US" sz="1500" dirty="0" err="1"/>
              <a:t>url</a:t>
            </a:r>
            <a:r>
              <a:rPr lang="en-US" sz="1500" dirty="0"/>
              <a:t>          = {https://doi.org/10.1007/978-94-010-0832-7_19},</a:t>
            </a:r>
          </a:p>
          <a:p>
            <a:pPr marL="0" indent="0">
              <a:buNone/>
            </a:pPr>
            <a:r>
              <a:rPr lang="en-US" sz="15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3817C-9439-207F-4728-F7537522B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77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1F57-DCC0-BE8B-84D5-C1DCA2C80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EA04-4EB2-532D-0A20-B45BF16A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Cite These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0ACFB-B07B-CB43-1615-B875E6872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@article{fpa4,</a:t>
            </a:r>
          </a:p>
          <a:p>
            <a:pPr marL="0" indent="0">
              <a:buNone/>
            </a:pPr>
            <a:r>
              <a:rPr lang="en-US" dirty="0"/>
              <a:t>	title        = {Model identity SN2 reactions CH3X + X- (X = F, Cl, CN, OH, SH, NH2, PH2): Marcus theory analyzed},</a:t>
            </a:r>
          </a:p>
          <a:p>
            <a:pPr marL="0" indent="0">
              <a:buNone/>
            </a:pPr>
            <a:r>
              <a:rPr lang="en-US" dirty="0"/>
              <a:t>	author       = {Gonzales, Jason M and Allen, Wesley D and Schaefer, Henry F},</a:t>
            </a:r>
          </a:p>
          <a:p>
            <a:pPr marL="0" indent="0">
              <a:buNone/>
            </a:pPr>
            <a:r>
              <a:rPr lang="en-US" dirty="0"/>
              <a:t>	year         = 2005,</a:t>
            </a:r>
          </a:p>
          <a:p>
            <a:pPr marL="0" indent="0">
              <a:buNone/>
            </a:pPr>
            <a:r>
              <a:rPr lang="en-US" dirty="0"/>
              <a:t>	month        = {November},</a:t>
            </a:r>
          </a:p>
          <a:p>
            <a:pPr marL="0" indent="0">
              <a:buNone/>
            </a:pPr>
            <a:r>
              <a:rPr lang="en-US" dirty="0"/>
              <a:t>	journal      = {J. Phys. Chem. A},</a:t>
            </a:r>
          </a:p>
          <a:p>
            <a:pPr marL="0" indent="0">
              <a:buNone/>
            </a:pPr>
            <a:r>
              <a:rPr lang="en-US" dirty="0"/>
              <a:t>	volume       = 109,</a:t>
            </a:r>
          </a:p>
          <a:p>
            <a:pPr marL="0" indent="0">
              <a:buNone/>
            </a:pPr>
            <a:r>
              <a:rPr lang="en-US" dirty="0"/>
              <a:t>	number       = 46,</a:t>
            </a:r>
          </a:p>
          <a:p>
            <a:pPr marL="0" indent="0">
              <a:buNone/>
            </a:pPr>
            <a:r>
              <a:rPr lang="en-US" dirty="0"/>
              <a:t>	pages        = {10613—10628},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doi</a:t>
            </a:r>
            <a:r>
              <a:rPr lang="en-US" dirty="0"/>
              <a:t>          = {10.1021/jp054734f},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issn</a:t>
            </a:r>
            <a:r>
              <a:rPr lang="en-US" dirty="0"/>
              <a:t>         = {1089-5639},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6E7FE-30B6-3985-DBE6-DBAFCB8A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39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C9DD-5A8C-EDA5-E2E7-3B2C879D5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32C44-5044-FC27-5207-D9D392CD5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B099C-02D6-FD00-F023-493C7F943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EB28-31C0-4061-83C4-F6D8103F695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299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2527</TotalTime>
  <Words>807</Words>
  <Application>Microsoft Office PowerPoint</Application>
  <PresentationFormat>Widescreen</PresentationFormat>
  <Paragraphs>126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Cambria Math</vt:lpstr>
      <vt:lpstr>Retrospect</vt:lpstr>
      <vt:lpstr>Focal Point Approach (FPA)</vt:lpstr>
      <vt:lpstr>Background</vt:lpstr>
      <vt:lpstr>What is it?</vt:lpstr>
      <vt:lpstr>How do you use it?</vt:lpstr>
      <vt:lpstr>Example: Computing Energies</vt:lpstr>
      <vt:lpstr>Final Product</vt:lpstr>
      <vt:lpstr>Higher Order Correlation</vt:lpstr>
      <vt:lpstr>Additional Corrections</vt:lpstr>
      <vt:lpstr>Additional Corrections</vt:lpstr>
      <vt:lpstr>Additional Corrections</vt:lpstr>
      <vt:lpstr>What do you report?</vt:lpstr>
      <vt:lpstr>Cite These Papers</vt:lpstr>
      <vt:lpstr>Cite These Papers</vt:lpstr>
      <vt:lpstr>Cite These Papers</vt:lpstr>
      <vt:lpstr>Cite These Papers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Born-Oppenheimer Approximation &amp; Potential Energy Surfaces</dc:title>
  <dc:creator>Carson Tang</dc:creator>
  <cp:lastModifiedBy>Carson Tang</cp:lastModifiedBy>
  <cp:revision>27</cp:revision>
  <dcterms:created xsi:type="dcterms:W3CDTF">2024-05-29T16:21:24Z</dcterms:created>
  <dcterms:modified xsi:type="dcterms:W3CDTF">2025-07-07T14:44:39Z</dcterms:modified>
</cp:coreProperties>
</file>