
<file path=[Content_Types].xml><?xml version="1.0" encoding="utf-8"?>
<Types xmlns="http://schemas.openxmlformats.org/package/2006/content-types">
  <Default Extension="A1Z0BI" ContentType="image/jpeg"/>
  <Default Extension="gif" ContentType="image/gif"/>
  <Default Extension="jpeg" ContentType="image/jpeg"/>
  <Default Extension="png" ContentType="image/png"/>
  <Default Extension="png&amp;f=1&amp;nofb=1&amp;ipt=e274385c400257cfd5ae351a890dd3c408f481a8d23c1cfac642505b528e02cb"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6"/>
  </p:notesMasterIdLst>
  <p:sldIdLst>
    <p:sldId id="256" r:id="rId2"/>
    <p:sldId id="257" r:id="rId3"/>
    <p:sldId id="290" r:id="rId4"/>
    <p:sldId id="289" r:id="rId5"/>
    <p:sldId id="259" r:id="rId6"/>
    <p:sldId id="292" r:id="rId7"/>
    <p:sldId id="291" r:id="rId8"/>
    <p:sldId id="260" r:id="rId9"/>
    <p:sldId id="293" r:id="rId10"/>
    <p:sldId id="258" r:id="rId11"/>
    <p:sldId id="295" r:id="rId12"/>
    <p:sldId id="294" r:id="rId13"/>
    <p:sldId id="261" r:id="rId14"/>
    <p:sldId id="296" r:id="rId15"/>
    <p:sldId id="262" r:id="rId16"/>
    <p:sldId id="297" r:id="rId17"/>
    <p:sldId id="298" r:id="rId18"/>
    <p:sldId id="299" r:id="rId19"/>
    <p:sldId id="268" r:id="rId20"/>
    <p:sldId id="269" r:id="rId21"/>
    <p:sldId id="267" r:id="rId22"/>
    <p:sldId id="270" r:id="rId23"/>
    <p:sldId id="271" r:id="rId24"/>
    <p:sldId id="272" r:id="rId25"/>
    <p:sldId id="301" r:id="rId26"/>
    <p:sldId id="300" r:id="rId27"/>
    <p:sldId id="274" r:id="rId28"/>
    <p:sldId id="302" r:id="rId29"/>
    <p:sldId id="275" r:id="rId30"/>
    <p:sldId id="304" r:id="rId31"/>
    <p:sldId id="303" r:id="rId32"/>
    <p:sldId id="276" r:id="rId33"/>
    <p:sldId id="305" r:id="rId34"/>
    <p:sldId id="277" r:id="rId35"/>
    <p:sldId id="306" r:id="rId36"/>
    <p:sldId id="278" r:id="rId37"/>
    <p:sldId id="307" r:id="rId38"/>
    <p:sldId id="310" r:id="rId39"/>
    <p:sldId id="309" r:id="rId40"/>
    <p:sldId id="308" r:id="rId41"/>
    <p:sldId id="279" r:id="rId42"/>
    <p:sldId id="312" r:id="rId43"/>
    <p:sldId id="311" r:id="rId44"/>
    <p:sldId id="281" r:id="rId45"/>
    <p:sldId id="314" r:id="rId46"/>
    <p:sldId id="313" r:id="rId47"/>
    <p:sldId id="282" r:id="rId48"/>
    <p:sldId id="319" r:id="rId49"/>
    <p:sldId id="318" r:id="rId50"/>
    <p:sldId id="317" r:id="rId51"/>
    <p:sldId id="316" r:id="rId52"/>
    <p:sldId id="315" r:id="rId53"/>
    <p:sldId id="283" r:id="rId54"/>
    <p:sldId id="322" r:id="rId55"/>
    <p:sldId id="321" r:id="rId56"/>
    <p:sldId id="320" r:id="rId57"/>
    <p:sldId id="284" r:id="rId58"/>
    <p:sldId id="325" r:id="rId59"/>
    <p:sldId id="324" r:id="rId60"/>
    <p:sldId id="323" r:id="rId61"/>
    <p:sldId id="285" r:id="rId62"/>
    <p:sldId id="286" r:id="rId63"/>
    <p:sldId id="287" r:id="rId64"/>
    <p:sldId id="288" r:id="rId6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BEC258-343B-4B43-AB39-A2867085ECD5}" type="datetimeFigureOut">
              <a:rPr lang="en-US" smtClean="0"/>
              <a:t>7/23/26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158DC3-DF90-E44F-AD74-BE4663BE8A84}" type="slidenum">
              <a:rPr lang="en-US" smtClean="0"/>
              <a:t>‹#›</a:t>
            </a:fld>
            <a:endParaRPr lang="en-US"/>
          </a:p>
        </p:txBody>
      </p:sp>
    </p:spTree>
    <p:extLst>
      <p:ext uri="{BB962C8B-B14F-4D97-AF65-F5344CB8AC3E}">
        <p14:creationId xmlns:p14="http://schemas.microsoft.com/office/powerpoint/2010/main" val="41774927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9158DC3-DF90-E44F-AD74-BE4663BE8A84}" type="slidenum">
              <a:rPr lang="en-US" smtClean="0"/>
              <a:t>62</a:t>
            </a:fld>
            <a:endParaRPr lang="en-US"/>
          </a:p>
        </p:txBody>
      </p:sp>
    </p:spTree>
    <p:extLst>
      <p:ext uri="{BB962C8B-B14F-4D97-AF65-F5344CB8AC3E}">
        <p14:creationId xmlns:p14="http://schemas.microsoft.com/office/powerpoint/2010/main" val="24013836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F4A47-268C-66B2-9B85-EDEE230CD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CB5BF4-0903-02B4-099B-9B0ED1CFCF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F15B94-E206-A1CB-444A-21B3A957320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D508E7E-08F2-5410-3B9E-8D901CE3A752}"/>
              </a:ext>
            </a:extLst>
          </p:cNvPr>
          <p:cNvSpPr>
            <a:spLocks noGrp="1"/>
          </p:cNvSpPr>
          <p:nvPr>
            <p:ph type="sldNum" sz="quarter" idx="5"/>
          </p:nvPr>
        </p:nvSpPr>
        <p:spPr/>
        <p:txBody>
          <a:bodyPr/>
          <a:lstStyle/>
          <a:p>
            <a:fld id="{09158DC3-DF90-E44F-AD74-BE4663BE8A84}" type="slidenum">
              <a:rPr lang="en-US" smtClean="0"/>
              <a:t>63</a:t>
            </a:fld>
            <a:endParaRPr lang="en-US"/>
          </a:p>
        </p:txBody>
      </p:sp>
    </p:spTree>
    <p:extLst>
      <p:ext uri="{BB962C8B-B14F-4D97-AF65-F5344CB8AC3E}">
        <p14:creationId xmlns:p14="http://schemas.microsoft.com/office/powerpoint/2010/main" val="6657785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8634A-C470-FC11-DED2-DD4B7E226C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ED519F-697E-425D-AE45-7C72E11879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DA6E98-263A-CD30-B2C2-773F842C992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598E755-C618-DF52-A228-800DCE9F9A2E}"/>
              </a:ext>
            </a:extLst>
          </p:cNvPr>
          <p:cNvSpPr>
            <a:spLocks noGrp="1"/>
          </p:cNvSpPr>
          <p:nvPr>
            <p:ph type="sldNum" sz="quarter" idx="5"/>
          </p:nvPr>
        </p:nvSpPr>
        <p:spPr/>
        <p:txBody>
          <a:bodyPr/>
          <a:lstStyle/>
          <a:p>
            <a:fld id="{09158DC3-DF90-E44F-AD74-BE4663BE8A84}" type="slidenum">
              <a:rPr lang="en-US" smtClean="0"/>
              <a:t>64</a:t>
            </a:fld>
            <a:endParaRPr lang="en-US"/>
          </a:p>
        </p:txBody>
      </p:sp>
    </p:spTree>
    <p:extLst>
      <p:ext uri="{BB962C8B-B14F-4D97-AF65-F5344CB8AC3E}">
        <p14:creationId xmlns:p14="http://schemas.microsoft.com/office/powerpoint/2010/main" val="4876412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F3EA3F-8157-49FA-BDD4-0206275C097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2139AF6-6436-8719-75CF-D6618510AB7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21AD3B3-C075-8CD4-809D-548168DAACDF}"/>
              </a:ext>
            </a:extLst>
          </p:cNvPr>
          <p:cNvSpPr>
            <a:spLocks noGrp="1"/>
          </p:cNvSpPr>
          <p:nvPr>
            <p:ph type="dt" sz="half" idx="10"/>
          </p:nvPr>
        </p:nvSpPr>
        <p:spPr/>
        <p:txBody>
          <a:bodyPr/>
          <a:lstStyle/>
          <a:p>
            <a:fld id="{BCBBF048-36B8-D240-B4E2-4FE03CBC4109}" type="datetimeFigureOut">
              <a:rPr lang="en-US" smtClean="0"/>
              <a:t>7/23/26</a:t>
            </a:fld>
            <a:endParaRPr lang="en-US"/>
          </a:p>
        </p:txBody>
      </p:sp>
      <p:sp>
        <p:nvSpPr>
          <p:cNvPr id="5" name="Footer Placeholder 4">
            <a:extLst>
              <a:ext uri="{FF2B5EF4-FFF2-40B4-BE49-F238E27FC236}">
                <a16:creationId xmlns:a16="http://schemas.microsoft.com/office/drawing/2014/main" id="{C4E9039F-A905-79AE-9EEE-1F2A0DC78B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7441A2-F8C7-C77A-0AC3-ABD5EFA0E5BB}"/>
              </a:ext>
            </a:extLst>
          </p:cNvPr>
          <p:cNvSpPr>
            <a:spLocks noGrp="1"/>
          </p:cNvSpPr>
          <p:nvPr>
            <p:ph type="sldNum" sz="quarter" idx="12"/>
          </p:nvPr>
        </p:nvSpPr>
        <p:spPr/>
        <p:txBody>
          <a:bodyPr/>
          <a:lstStyle/>
          <a:p>
            <a:fld id="{24656EC3-859E-2846-9477-4B06EEA7E2A0}" type="slidenum">
              <a:rPr lang="en-US" smtClean="0"/>
              <a:t>‹#›</a:t>
            </a:fld>
            <a:endParaRPr lang="en-US"/>
          </a:p>
        </p:txBody>
      </p:sp>
    </p:spTree>
    <p:extLst>
      <p:ext uri="{BB962C8B-B14F-4D97-AF65-F5344CB8AC3E}">
        <p14:creationId xmlns:p14="http://schemas.microsoft.com/office/powerpoint/2010/main" val="38165547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2869C-6882-8D37-4D8E-6425A0A3FFF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9E76470-CABB-4243-DD39-8D788184407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FF9DC30-0DC0-7CB7-7EC2-2D6997C9F2FA}"/>
              </a:ext>
            </a:extLst>
          </p:cNvPr>
          <p:cNvSpPr>
            <a:spLocks noGrp="1"/>
          </p:cNvSpPr>
          <p:nvPr>
            <p:ph type="dt" sz="half" idx="10"/>
          </p:nvPr>
        </p:nvSpPr>
        <p:spPr/>
        <p:txBody>
          <a:bodyPr/>
          <a:lstStyle/>
          <a:p>
            <a:fld id="{BCBBF048-36B8-D240-B4E2-4FE03CBC4109}" type="datetimeFigureOut">
              <a:rPr lang="en-US" smtClean="0"/>
              <a:t>7/23/26</a:t>
            </a:fld>
            <a:endParaRPr lang="en-US"/>
          </a:p>
        </p:txBody>
      </p:sp>
      <p:sp>
        <p:nvSpPr>
          <p:cNvPr id="5" name="Footer Placeholder 4">
            <a:extLst>
              <a:ext uri="{FF2B5EF4-FFF2-40B4-BE49-F238E27FC236}">
                <a16:creationId xmlns:a16="http://schemas.microsoft.com/office/drawing/2014/main" id="{964B3504-3DF9-0681-54A7-8B25A2227E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994835-FE36-4141-3EA9-2C4771BB66C4}"/>
              </a:ext>
            </a:extLst>
          </p:cNvPr>
          <p:cNvSpPr>
            <a:spLocks noGrp="1"/>
          </p:cNvSpPr>
          <p:nvPr>
            <p:ph type="sldNum" sz="quarter" idx="12"/>
          </p:nvPr>
        </p:nvSpPr>
        <p:spPr/>
        <p:txBody>
          <a:bodyPr/>
          <a:lstStyle/>
          <a:p>
            <a:fld id="{24656EC3-859E-2846-9477-4B06EEA7E2A0}" type="slidenum">
              <a:rPr lang="en-US" smtClean="0"/>
              <a:t>‹#›</a:t>
            </a:fld>
            <a:endParaRPr lang="en-US"/>
          </a:p>
        </p:txBody>
      </p:sp>
    </p:spTree>
    <p:extLst>
      <p:ext uri="{BB962C8B-B14F-4D97-AF65-F5344CB8AC3E}">
        <p14:creationId xmlns:p14="http://schemas.microsoft.com/office/powerpoint/2010/main" val="3625890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71082-BA22-0529-FB56-B3A6A59EED8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66F6C3C-E7C9-E1FD-F18D-EC175670ADD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F9A9E53-38DC-2770-57C2-8E610D48592E}"/>
              </a:ext>
            </a:extLst>
          </p:cNvPr>
          <p:cNvSpPr>
            <a:spLocks noGrp="1"/>
          </p:cNvSpPr>
          <p:nvPr>
            <p:ph type="dt" sz="half" idx="10"/>
          </p:nvPr>
        </p:nvSpPr>
        <p:spPr/>
        <p:txBody>
          <a:bodyPr/>
          <a:lstStyle/>
          <a:p>
            <a:fld id="{BCBBF048-36B8-D240-B4E2-4FE03CBC4109}" type="datetimeFigureOut">
              <a:rPr lang="en-US" smtClean="0"/>
              <a:t>7/23/26</a:t>
            </a:fld>
            <a:endParaRPr lang="en-US"/>
          </a:p>
        </p:txBody>
      </p:sp>
      <p:sp>
        <p:nvSpPr>
          <p:cNvPr id="5" name="Footer Placeholder 4">
            <a:extLst>
              <a:ext uri="{FF2B5EF4-FFF2-40B4-BE49-F238E27FC236}">
                <a16:creationId xmlns:a16="http://schemas.microsoft.com/office/drawing/2014/main" id="{D61C7F03-578F-930C-1B2E-353D1A43A5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08872FA-909B-F7B0-E4FB-9E7A9D4551F8}"/>
              </a:ext>
            </a:extLst>
          </p:cNvPr>
          <p:cNvSpPr>
            <a:spLocks noGrp="1"/>
          </p:cNvSpPr>
          <p:nvPr>
            <p:ph type="sldNum" sz="quarter" idx="12"/>
          </p:nvPr>
        </p:nvSpPr>
        <p:spPr/>
        <p:txBody>
          <a:bodyPr/>
          <a:lstStyle/>
          <a:p>
            <a:fld id="{24656EC3-859E-2846-9477-4B06EEA7E2A0}" type="slidenum">
              <a:rPr lang="en-US" smtClean="0"/>
              <a:t>‹#›</a:t>
            </a:fld>
            <a:endParaRPr lang="en-US"/>
          </a:p>
        </p:txBody>
      </p:sp>
    </p:spTree>
    <p:extLst>
      <p:ext uri="{BB962C8B-B14F-4D97-AF65-F5344CB8AC3E}">
        <p14:creationId xmlns:p14="http://schemas.microsoft.com/office/powerpoint/2010/main" val="11310179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8274B-51A0-F42F-3EBC-D4A04A353BF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7E88E11-E658-A4BE-5EFA-F7E4D1A228C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D45D27B-E315-9817-313B-00C9EB23D0C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DD6176-BFF9-21E3-B827-DAD59CF380CE}"/>
              </a:ext>
            </a:extLst>
          </p:cNvPr>
          <p:cNvSpPr>
            <a:spLocks noGrp="1"/>
          </p:cNvSpPr>
          <p:nvPr>
            <p:ph type="dt" sz="half" idx="10"/>
          </p:nvPr>
        </p:nvSpPr>
        <p:spPr/>
        <p:txBody>
          <a:bodyPr/>
          <a:lstStyle/>
          <a:p>
            <a:fld id="{BCBBF048-36B8-D240-B4E2-4FE03CBC4109}" type="datetimeFigureOut">
              <a:rPr lang="en-US" smtClean="0"/>
              <a:t>7/23/26</a:t>
            </a:fld>
            <a:endParaRPr lang="en-US"/>
          </a:p>
        </p:txBody>
      </p:sp>
      <p:sp>
        <p:nvSpPr>
          <p:cNvPr id="6" name="Footer Placeholder 5">
            <a:extLst>
              <a:ext uri="{FF2B5EF4-FFF2-40B4-BE49-F238E27FC236}">
                <a16:creationId xmlns:a16="http://schemas.microsoft.com/office/drawing/2014/main" id="{11F9E46F-962D-4DA5-F7D5-B891FBF48F4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85E964E-849A-CA28-15AC-7D8E9CFDFE2C}"/>
              </a:ext>
            </a:extLst>
          </p:cNvPr>
          <p:cNvSpPr>
            <a:spLocks noGrp="1"/>
          </p:cNvSpPr>
          <p:nvPr>
            <p:ph type="sldNum" sz="quarter" idx="12"/>
          </p:nvPr>
        </p:nvSpPr>
        <p:spPr/>
        <p:txBody>
          <a:bodyPr/>
          <a:lstStyle/>
          <a:p>
            <a:fld id="{24656EC3-859E-2846-9477-4B06EEA7E2A0}" type="slidenum">
              <a:rPr lang="en-US" smtClean="0"/>
              <a:t>‹#›</a:t>
            </a:fld>
            <a:endParaRPr lang="en-US"/>
          </a:p>
        </p:txBody>
      </p:sp>
    </p:spTree>
    <p:extLst>
      <p:ext uri="{BB962C8B-B14F-4D97-AF65-F5344CB8AC3E}">
        <p14:creationId xmlns:p14="http://schemas.microsoft.com/office/powerpoint/2010/main" val="22251370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ECA44-2BF4-FC82-6607-B3666C038C2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DB45852-3A20-4F1B-CE22-FBD272EBEFE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878C45D-FC38-EC6B-2369-5558A99671F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EE81537-46B5-5C29-8177-6E01CEBA40C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B734DC2-223F-8555-23CB-9F703A7A9AA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2268D8D-2A93-6C88-B874-CF3FBA096D48}"/>
              </a:ext>
            </a:extLst>
          </p:cNvPr>
          <p:cNvSpPr>
            <a:spLocks noGrp="1"/>
          </p:cNvSpPr>
          <p:nvPr>
            <p:ph type="dt" sz="half" idx="10"/>
          </p:nvPr>
        </p:nvSpPr>
        <p:spPr/>
        <p:txBody>
          <a:bodyPr/>
          <a:lstStyle/>
          <a:p>
            <a:fld id="{BCBBF048-36B8-D240-B4E2-4FE03CBC4109}" type="datetimeFigureOut">
              <a:rPr lang="en-US" smtClean="0"/>
              <a:t>7/23/26</a:t>
            </a:fld>
            <a:endParaRPr lang="en-US"/>
          </a:p>
        </p:txBody>
      </p:sp>
      <p:sp>
        <p:nvSpPr>
          <p:cNvPr id="8" name="Footer Placeholder 7">
            <a:extLst>
              <a:ext uri="{FF2B5EF4-FFF2-40B4-BE49-F238E27FC236}">
                <a16:creationId xmlns:a16="http://schemas.microsoft.com/office/drawing/2014/main" id="{61A252A3-97E5-9440-B4FA-C60426D3CEB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492F117-72C8-26D9-0FF0-86BE42F40C13}"/>
              </a:ext>
            </a:extLst>
          </p:cNvPr>
          <p:cNvSpPr>
            <a:spLocks noGrp="1"/>
          </p:cNvSpPr>
          <p:nvPr>
            <p:ph type="sldNum" sz="quarter" idx="12"/>
          </p:nvPr>
        </p:nvSpPr>
        <p:spPr/>
        <p:txBody>
          <a:bodyPr/>
          <a:lstStyle/>
          <a:p>
            <a:fld id="{24656EC3-859E-2846-9477-4B06EEA7E2A0}" type="slidenum">
              <a:rPr lang="en-US" smtClean="0"/>
              <a:t>‹#›</a:t>
            </a:fld>
            <a:endParaRPr lang="en-US"/>
          </a:p>
        </p:txBody>
      </p:sp>
    </p:spTree>
    <p:extLst>
      <p:ext uri="{BB962C8B-B14F-4D97-AF65-F5344CB8AC3E}">
        <p14:creationId xmlns:p14="http://schemas.microsoft.com/office/powerpoint/2010/main" val="17964362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87A497-E52F-F76B-3708-08C5B38FDD1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900B058-4674-FFF7-F7EF-E52BF1B08C53}"/>
              </a:ext>
            </a:extLst>
          </p:cNvPr>
          <p:cNvSpPr>
            <a:spLocks noGrp="1"/>
          </p:cNvSpPr>
          <p:nvPr>
            <p:ph type="dt" sz="half" idx="10"/>
          </p:nvPr>
        </p:nvSpPr>
        <p:spPr/>
        <p:txBody>
          <a:bodyPr/>
          <a:lstStyle/>
          <a:p>
            <a:fld id="{BCBBF048-36B8-D240-B4E2-4FE03CBC4109}" type="datetimeFigureOut">
              <a:rPr lang="en-US" smtClean="0"/>
              <a:t>7/23/26</a:t>
            </a:fld>
            <a:endParaRPr lang="en-US"/>
          </a:p>
        </p:txBody>
      </p:sp>
      <p:sp>
        <p:nvSpPr>
          <p:cNvPr id="4" name="Footer Placeholder 3">
            <a:extLst>
              <a:ext uri="{FF2B5EF4-FFF2-40B4-BE49-F238E27FC236}">
                <a16:creationId xmlns:a16="http://schemas.microsoft.com/office/drawing/2014/main" id="{37141FBD-7B4E-40FC-316E-340CDD576FF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451CC0C-2468-DDE9-4827-9A5D8772BF98}"/>
              </a:ext>
            </a:extLst>
          </p:cNvPr>
          <p:cNvSpPr>
            <a:spLocks noGrp="1"/>
          </p:cNvSpPr>
          <p:nvPr>
            <p:ph type="sldNum" sz="quarter" idx="12"/>
          </p:nvPr>
        </p:nvSpPr>
        <p:spPr/>
        <p:txBody>
          <a:bodyPr/>
          <a:lstStyle/>
          <a:p>
            <a:fld id="{24656EC3-859E-2846-9477-4B06EEA7E2A0}" type="slidenum">
              <a:rPr lang="en-US" smtClean="0"/>
              <a:t>‹#›</a:t>
            </a:fld>
            <a:endParaRPr lang="en-US"/>
          </a:p>
        </p:txBody>
      </p:sp>
    </p:spTree>
    <p:extLst>
      <p:ext uri="{BB962C8B-B14F-4D97-AF65-F5344CB8AC3E}">
        <p14:creationId xmlns:p14="http://schemas.microsoft.com/office/powerpoint/2010/main" val="20787602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DC7863E-BD97-CD36-FF05-A417A464CA3B}"/>
              </a:ext>
            </a:extLst>
          </p:cNvPr>
          <p:cNvSpPr>
            <a:spLocks noGrp="1"/>
          </p:cNvSpPr>
          <p:nvPr>
            <p:ph type="dt" sz="half" idx="10"/>
          </p:nvPr>
        </p:nvSpPr>
        <p:spPr/>
        <p:txBody>
          <a:bodyPr/>
          <a:lstStyle/>
          <a:p>
            <a:fld id="{BCBBF048-36B8-D240-B4E2-4FE03CBC4109}" type="datetimeFigureOut">
              <a:rPr lang="en-US" smtClean="0"/>
              <a:t>7/23/26</a:t>
            </a:fld>
            <a:endParaRPr lang="en-US"/>
          </a:p>
        </p:txBody>
      </p:sp>
      <p:sp>
        <p:nvSpPr>
          <p:cNvPr id="3" name="Footer Placeholder 2">
            <a:extLst>
              <a:ext uri="{FF2B5EF4-FFF2-40B4-BE49-F238E27FC236}">
                <a16:creationId xmlns:a16="http://schemas.microsoft.com/office/drawing/2014/main" id="{28FFA378-4F81-A4C3-2F75-E98BAD3527C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A1494EC-4B79-63A1-6A7E-CB1C4A6857E7}"/>
              </a:ext>
            </a:extLst>
          </p:cNvPr>
          <p:cNvSpPr>
            <a:spLocks noGrp="1"/>
          </p:cNvSpPr>
          <p:nvPr>
            <p:ph type="sldNum" sz="quarter" idx="12"/>
          </p:nvPr>
        </p:nvSpPr>
        <p:spPr/>
        <p:txBody>
          <a:bodyPr/>
          <a:lstStyle/>
          <a:p>
            <a:fld id="{24656EC3-859E-2846-9477-4B06EEA7E2A0}" type="slidenum">
              <a:rPr lang="en-US" smtClean="0"/>
              <a:t>‹#›</a:t>
            </a:fld>
            <a:endParaRPr lang="en-US"/>
          </a:p>
        </p:txBody>
      </p:sp>
    </p:spTree>
    <p:extLst>
      <p:ext uri="{BB962C8B-B14F-4D97-AF65-F5344CB8AC3E}">
        <p14:creationId xmlns:p14="http://schemas.microsoft.com/office/powerpoint/2010/main" val="38544426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AA89D-0383-B7AB-BB9F-4C52B61BEB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A340310-18F9-0B78-7ED4-824EF152CF6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19DF763-F7C8-AADF-014F-E104C56991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CED6430-58AA-CD66-0BD5-F9A5328F3542}"/>
              </a:ext>
            </a:extLst>
          </p:cNvPr>
          <p:cNvSpPr>
            <a:spLocks noGrp="1"/>
          </p:cNvSpPr>
          <p:nvPr>
            <p:ph type="dt" sz="half" idx="10"/>
          </p:nvPr>
        </p:nvSpPr>
        <p:spPr/>
        <p:txBody>
          <a:bodyPr/>
          <a:lstStyle/>
          <a:p>
            <a:fld id="{BCBBF048-36B8-D240-B4E2-4FE03CBC4109}" type="datetimeFigureOut">
              <a:rPr lang="en-US" smtClean="0"/>
              <a:t>7/23/26</a:t>
            </a:fld>
            <a:endParaRPr lang="en-US"/>
          </a:p>
        </p:txBody>
      </p:sp>
      <p:sp>
        <p:nvSpPr>
          <p:cNvPr id="6" name="Footer Placeholder 5">
            <a:extLst>
              <a:ext uri="{FF2B5EF4-FFF2-40B4-BE49-F238E27FC236}">
                <a16:creationId xmlns:a16="http://schemas.microsoft.com/office/drawing/2014/main" id="{5E9103C4-B605-9AB2-A40C-EB5B74C52BF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1265C58-DCE5-C0C0-C035-8B7D2E2BC7E3}"/>
              </a:ext>
            </a:extLst>
          </p:cNvPr>
          <p:cNvSpPr>
            <a:spLocks noGrp="1"/>
          </p:cNvSpPr>
          <p:nvPr>
            <p:ph type="sldNum" sz="quarter" idx="12"/>
          </p:nvPr>
        </p:nvSpPr>
        <p:spPr/>
        <p:txBody>
          <a:bodyPr/>
          <a:lstStyle/>
          <a:p>
            <a:fld id="{24656EC3-859E-2846-9477-4B06EEA7E2A0}" type="slidenum">
              <a:rPr lang="en-US" smtClean="0"/>
              <a:t>‹#›</a:t>
            </a:fld>
            <a:endParaRPr lang="en-US"/>
          </a:p>
        </p:txBody>
      </p:sp>
    </p:spTree>
    <p:extLst>
      <p:ext uri="{BB962C8B-B14F-4D97-AF65-F5344CB8AC3E}">
        <p14:creationId xmlns:p14="http://schemas.microsoft.com/office/powerpoint/2010/main" val="30921916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180C8-170E-217C-DD7E-E55C1D4659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0C172BF-315B-0B57-183E-DBF69150798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A5DB296-3618-86F0-DB2B-10D99D8C7F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877F94B-21F5-58BC-62A7-EB1D21E3385B}"/>
              </a:ext>
            </a:extLst>
          </p:cNvPr>
          <p:cNvSpPr>
            <a:spLocks noGrp="1"/>
          </p:cNvSpPr>
          <p:nvPr>
            <p:ph type="dt" sz="half" idx="10"/>
          </p:nvPr>
        </p:nvSpPr>
        <p:spPr/>
        <p:txBody>
          <a:bodyPr/>
          <a:lstStyle/>
          <a:p>
            <a:fld id="{BCBBF048-36B8-D240-B4E2-4FE03CBC4109}" type="datetimeFigureOut">
              <a:rPr lang="en-US" smtClean="0"/>
              <a:t>7/23/26</a:t>
            </a:fld>
            <a:endParaRPr lang="en-US"/>
          </a:p>
        </p:txBody>
      </p:sp>
      <p:sp>
        <p:nvSpPr>
          <p:cNvPr id="6" name="Footer Placeholder 5">
            <a:extLst>
              <a:ext uri="{FF2B5EF4-FFF2-40B4-BE49-F238E27FC236}">
                <a16:creationId xmlns:a16="http://schemas.microsoft.com/office/drawing/2014/main" id="{E516186C-2845-BD49-82C5-4CA528B21E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6621C81-0B65-30C0-1E6B-DF75A0F921E6}"/>
              </a:ext>
            </a:extLst>
          </p:cNvPr>
          <p:cNvSpPr>
            <a:spLocks noGrp="1"/>
          </p:cNvSpPr>
          <p:nvPr>
            <p:ph type="sldNum" sz="quarter" idx="12"/>
          </p:nvPr>
        </p:nvSpPr>
        <p:spPr/>
        <p:txBody>
          <a:bodyPr/>
          <a:lstStyle/>
          <a:p>
            <a:fld id="{24656EC3-859E-2846-9477-4B06EEA7E2A0}" type="slidenum">
              <a:rPr lang="en-US" smtClean="0"/>
              <a:t>‹#›</a:t>
            </a:fld>
            <a:endParaRPr lang="en-US"/>
          </a:p>
        </p:txBody>
      </p:sp>
    </p:spTree>
    <p:extLst>
      <p:ext uri="{BB962C8B-B14F-4D97-AF65-F5344CB8AC3E}">
        <p14:creationId xmlns:p14="http://schemas.microsoft.com/office/powerpoint/2010/main" val="9038044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1FC1A-6E52-84E7-8982-A8E4C88AE9B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7DD05F9-3BD1-9D7C-FB5C-425B4CBB792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DEBB48-AC16-1208-5B06-85684DBCB320}"/>
              </a:ext>
            </a:extLst>
          </p:cNvPr>
          <p:cNvSpPr>
            <a:spLocks noGrp="1"/>
          </p:cNvSpPr>
          <p:nvPr>
            <p:ph type="dt" sz="half" idx="10"/>
          </p:nvPr>
        </p:nvSpPr>
        <p:spPr/>
        <p:txBody>
          <a:bodyPr/>
          <a:lstStyle/>
          <a:p>
            <a:fld id="{BCBBF048-36B8-D240-B4E2-4FE03CBC4109}" type="datetimeFigureOut">
              <a:rPr lang="en-US" smtClean="0"/>
              <a:t>7/23/26</a:t>
            </a:fld>
            <a:endParaRPr lang="en-US"/>
          </a:p>
        </p:txBody>
      </p:sp>
      <p:sp>
        <p:nvSpPr>
          <p:cNvPr id="5" name="Footer Placeholder 4">
            <a:extLst>
              <a:ext uri="{FF2B5EF4-FFF2-40B4-BE49-F238E27FC236}">
                <a16:creationId xmlns:a16="http://schemas.microsoft.com/office/drawing/2014/main" id="{310E2A2D-996A-C1F8-AA3B-74195BC8C6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AE7642-457F-9132-937D-0B7F3433E62E}"/>
              </a:ext>
            </a:extLst>
          </p:cNvPr>
          <p:cNvSpPr>
            <a:spLocks noGrp="1"/>
          </p:cNvSpPr>
          <p:nvPr>
            <p:ph type="sldNum" sz="quarter" idx="12"/>
          </p:nvPr>
        </p:nvSpPr>
        <p:spPr/>
        <p:txBody>
          <a:bodyPr/>
          <a:lstStyle/>
          <a:p>
            <a:fld id="{24656EC3-859E-2846-9477-4B06EEA7E2A0}" type="slidenum">
              <a:rPr lang="en-US" smtClean="0"/>
              <a:t>‹#›</a:t>
            </a:fld>
            <a:endParaRPr lang="en-US"/>
          </a:p>
        </p:txBody>
      </p:sp>
    </p:spTree>
    <p:extLst>
      <p:ext uri="{BB962C8B-B14F-4D97-AF65-F5344CB8AC3E}">
        <p14:creationId xmlns:p14="http://schemas.microsoft.com/office/powerpoint/2010/main" val="25326034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ABAC7F4-172A-CD56-73FF-66911CDAAEC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244C220-ACE7-2560-73EC-093BD7C58C9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F4DDCE-A01A-5534-8703-83B77A539C2D}"/>
              </a:ext>
            </a:extLst>
          </p:cNvPr>
          <p:cNvSpPr>
            <a:spLocks noGrp="1"/>
          </p:cNvSpPr>
          <p:nvPr>
            <p:ph type="dt" sz="half" idx="10"/>
          </p:nvPr>
        </p:nvSpPr>
        <p:spPr/>
        <p:txBody>
          <a:bodyPr/>
          <a:lstStyle/>
          <a:p>
            <a:fld id="{BCBBF048-36B8-D240-B4E2-4FE03CBC4109}" type="datetimeFigureOut">
              <a:rPr lang="en-US" smtClean="0"/>
              <a:t>7/23/26</a:t>
            </a:fld>
            <a:endParaRPr lang="en-US"/>
          </a:p>
        </p:txBody>
      </p:sp>
      <p:sp>
        <p:nvSpPr>
          <p:cNvPr id="5" name="Footer Placeholder 4">
            <a:extLst>
              <a:ext uri="{FF2B5EF4-FFF2-40B4-BE49-F238E27FC236}">
                <a16:creationId xmlns:a16="http://schemas.microsoft.com/office/drawing/2014/main" id="{4594B269-6160-64ED-8F35-42C30E67AD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33682F-9515-88F7-ED9F-85532D7AC819}"/>
              </a:ext>
            </a:extLst>
          </p:cNvPr>
          <p:cNvSpPr>
            <a:spLocks noGrp="1"/>
          </p:cNvSpPr>
          <p:nvPr>
            <p:ph type="sldNum" sz="quarter" idx="12"/>
          </p:nvPr>
        </p:nvSpPr>
        <p:spPr/>
        <p:txBody>
          <a:bodyPr/>
          <a:lstStyle/>
          <a:p>
            <a:fld id="{24656EC3-859E-2846-9477-4B06EEA7E2A0}" type="slidenum">
              <a:rPr lang="en-US" smtClean="0"/>
              <a:t>‹#›</a:t>
            </a:fld>
            <a:endParaRPr lang="en-US"/>
          </a:p>
        </p:txBody>
      </p:sp>
    </p:spTree>
    <p:extLst>
      <p:ext uri="{BB962C8B-B14F-4D97-AF65-F5344CB8AC3E}">
        <p14:creationId xmlns:p14="http://schemas.microsoft.com/office/powerpoint/2010/main" val="34978519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5C00FA2-CE27-85F2-FDA7-49A2EA7694F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52CEA0E-0A89-8017-B427-3BC8DCBD0BA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2AE78B-A7F4-7D91-5F6C-0EC269539AC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CBBF048-36B8-D240-B4E2-4FE03CBC4109}" type="datetimeFigureOut">
              <a:rPr lang="en-US" smtClean="0"/>
              <a:t>7/23/26</a:t>
            </a:fld>
            <a:endParaRPr lang="en-US"/>
          </a:p>
        </p:txBody>
      </p:sp>
      <p:sp>
        <p:nvSpPr>
          <p:cNvPr id="5" name="Footer Placeholder 4">
            <a:extLst>
              <a:ext uri="{FF2B5EF4-FFF2-40B4-BE49-F238E27FC236}">
                <a16:creationId xmlns:a16="http://schemas.microsoft.com/office/drawing/2014/main" id="{318E6630-1C5D-7AD9-ECB9-30AAB8427EB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910C607-A13D-9B87-E4E4-33CD59BC006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4656EC3-859E-2846-9477-4B06EEA7E2A0}" type="slidenum">
              <a:rPr lang="en-US" smtClean="0"/>
              <a:t>‹#›</a:t>
            </a:fld>
            <a:endParaRPr lang="en-US"/>
          </a:p>
        </p:txBody>
      </p:sp>
    </p:spTree>
    <p:extLst>
      <p:ext uri="{BB962C8B-B14F-4D97-AF65-F5344CB8AC3E}">
        <p14:creationId xmlns:p14="http://schemas.microsoft.com/office/powerpoint/2010/main" val="4449378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A1Z0BI"/><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A1Z0BI"/><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A1Z0BI"/><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A1Z0BI"/><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5.A1Z0BI"/></Relationships>
</file>

<file path=ppt/slides/_rels/slide18.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5.A1Z0BI"/></Relationships>
</file>

<file path=ppt/slides/_rels/slide19.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5.A1Z0BI"/></Relationships>
</file>

<file path=ppt/slides/_rels/slide20.xml.rels><?xml version="1.0" encoding="UTF-8" standalone="yes"?>
<Relationships xmlns="http://schemas.openxmlformats.org/package/2006/relationships"><Relationship Id="rId3" Type="http://schemas.openxmlformats.org/officeDocument/2006/relationships/image" Target="../media/image15.gif"/><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5.A1Z0BI"/></Relationships>
</file>

<file path=ppt/slides/_rels/slide21.xml.rels><?xml version="1.0" encoding="UTF-8" standalone="yes"?>
<Relationships xmlns="http://schemas.openxmlformats.org/package/2006/relationships"><Relationship Id="rId3" Type="http://schemas.openxmlformats.org/officeDocument/2006/relationships/image" Target="../media/image17.gif"/><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5.A1Z0BI"/></Relationships>
</file>

<file path=ppt/slides/_rels/slide22.xml.rels><?xml version="1.0" encoding="UTF-8" standalone="yes"?>
<Relationships xmlns="http://schemas.openxmlformats.org/package/2006/relationships"><Relationship Id="rId3" Type="http://schemas.openxmlformats.org/officeDocument/2006/relationships/image" Target="../media/image19.gif"/><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5.A1Z0BI"/></Relationships>
</file>

<file path=ppt/slides/_rels/slide23.xml.rels><?xml version="1.0" encoding="UTF-8" standalone="yes"?>
<Relationships xmlns="http://schemas.openxmlformats.org/package/2006/relationships"><Relationship Id="rId3" Type="http://schemas.openxmlformats.org/officeDocument/2006/relationships/image" Target="../media/image21.gif"/><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5.A1Z0BI"/></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5.A1Z0BI"/></Relationships>
</file>

<file path=ppt/slides/_rels/slide3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6.png&amp;f=1&amp;nofb=1&amp;ipt=e274385c400257cfd5ae351a890dd3c408f481a8d23c1cfac642505b528e02cb"/><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6.png&amp;f=1&amp;nofb=1&amp;ipt=e274385c400257cfd5ae351a890dd3c408f481a8d23c1cfac642505b528e02cb"/><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6.png&amp;f=1&amp;nofb=1&amp;ipt=e274385c400257cfd5ae351a890dd3c408f481a8d23c1cfac642505b528e02cb"/><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6.png&amp;f=1&amp;nofb=1&amp;ipt=e274385c400257cfd5ae351a890dd3c408f481a8d23c1cfac642505b528e02cb"/><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6.png&amp;f=1&amp;nofb=1&amp;ipt=e274385c400257cfd5ae351a890dd3c408f481a8d23c1cfac642505b528e02cb"/><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6.png&amp;f=1&amp;nofb=1&amp;ipt=e274385c400257cfd5ae351a890dd3c408f481a8d23c1cfac642505b528e02cb"/><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B5938-C45A-8FA7-1FEC-F09EF18A7F58}"/>
              </a:ext>
            </a:extLst>
          </p:cNvPr>
          <p:cNvSpPr>
            <a:spLocks noGrp="1"/>
          </p:cNvSpPr>
          <p:nvPr>
            <p:ph type="ctrTitle"/>
          </p:nvPr>
        </p:nvSpPr>
        <p:spPr/>
        <p:txBody>
          <a:bodyPr/>
          <a:lstStyle/>
          <a:p>
            <a:r>
              <a:rPr lang="en-US" dirty="0"/>
              <a:t>Harmonic and Anharmonic Frequencies</a:t>
            </a:r>
          </a:p>
        </p:txBody>
      </p:sp>
      <p:sp>
        <p:nvSpPr>
          <p:cNvPr id="3" name="Subtitle 2">
            <a:extLst>
              <a:ext uri="{FF2B5EF4-FFF2-40B4-BE49-F238E27FC236}">
                <a16:creationId xmlns:a16="http://schemas.microsoft.com/office/drawing/2014/main" id="{BB72D09E-31F1-4C93-DE16-2E04525D7CC2}"/>
              </a:ext>
            </a:extLst>
          </p:cNvPr>
          <p:cNvSpPr>
            <a:spLocks noGrp="1"/>
          </p:cNvSpPr>
          <p:nvPr>
            <p:ph type="subTitle" idx="1"/>
          </p:nvPr>
        </p:nvSpPr>
        <p:spPr/>
        <p:txBody>
          <a:bodyPr/>
          <a:lstStyle/>
          <a:p>
            <a:r>
              <a:rPr lang="en-US" dirty="0"/>
              <a:t>Mitchell Lahm</a:t>
            </a:r>
          </a:p>
          <a:p>
            <a:r>
              <a:rPr lang="en-US" dirty="0"/>
              <a:t>Summer Program</a:t>
            </a:r>
          </a:p>
          <a:p>
            <a:r>
              <a:rPr lang="en-US" dirty="0"/>
              <a:t>July 23, 2026</a:t>
            </a:r>
          </a:p>
        </p:txBody>
      </p:sp>
    </p:spTree>
    <p:extLst>
      <p:ext uri="{BB962C8B-B14F-4D97-AF65-F5344CB8AC3E}">
        <p14:creationId xmlns:p14="http://schemas.microsoft.com/office/powerpoint/2010/main" val="39743943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A6F56B3-ECE8-9CF9-64CA-5A8543D39338}"/>
              </a:ext>
            </a:extLst>
          </p:cNvPr>
          <p:cNvSpPr>
            <a:spLocks noGrp="1"/>
          </p:cNvSpPr>
          <p:nvPr>
            <p:ph type="title"/>
          </p:nvPr>
        </p:nvSpPr>
        <p:spPr>
          <a:xfrm>
            <a:off x="630936" y="640080"/>
            <a:ext cx="4818888" cy="1481328"/>
          </a:xfrm>
        </p:spPr>
        <p:txBody>
          <a:bodyPr anchor="b">
            <a:normAutofit/>
          </a:bodyPr>
          <a:lstStyle/>
          <a:p>
            <a:r>
              <a:rPr lang="en-US" sz="5000"/>
              <a:t>Potential Energy Surfaces</a:t>
            </a:r>
          </a:p>
        </p:txBody>
      </p:sp>
      <p:sp>
        <p:nvSpPr>
          <p:cNvPr id="18"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DDE338E-4365-61A9-9E76-39922C7705FE}"/>
              </a:ext>
            </a:extLst>
          </p:cNvPr>
          <p:cNvSpPr>
            <a:spLocks noGrp="1"/>
          </p:cNvSpPr>
          <p:nvPr>
            <p:ph idx="1"/>
          </p:nvPr>
        </p:nvSpPr>
        <p:spPr>
          <a:xfrm>
            <a:off x="630936" y="2660904"/>
            <a:ext cx="4818888" cy="3547872"/>
          </a:xfrm>
        </p:spPr>
        <p:txBody>
          <a:bodyPr anchor="t">
            <a:normAutofit/>
          </a:bodyPr>
          <a:lstStyle/>
          <a:p>
            <a:r>
              <a:rPr lang="en-US" sz="2200" dirty="0"/>
              <a:t>We have learned about a physical construct called a “Potential Energy Surface” that results from the Born-Oppenheimer Approximation.</a:t>
            </a:r>
          </a:p>
        </p:txBody>
      </p:sp>
      <p:pic>
        <p:nvPicPr>
          <p:cNvPr id="4" name="Picture 3">
            <a:extLst>
              <a:ext uri="{FF2B5EF4-FFF2-40B4-BE49-F238E27FC236}">
                <a16:creationId xmlns:a16="http://schemas.microsoft.com/office/drawing/2014/main" id="{B2362FA3-BF0B-9AE8-7742-8DC08CF6651F}"/>
              </a:ext>
            </a:extLst>
          </p:cNvPr>
          <p:cNvPicPr>
            <a:picLocks noChangeAspect="1"/>
          </p:cNvPicPr>
          <p:nvPr/>
        </p:nvPicPr>
        <p:blipFill>
          <a:blip r:embed="rId2"/>
          <a:stretch>
            <a:fillRect/>
          </a:stretch>
        </p:blipFill>
        <p:spPr>
          <a:xfrm>
            <a:off x="6099048" y="1702601"/>
            <a:ext cx="5458968" cy="3452797"/>
          </a:xfrm>
          <a:prstGeom prst="rect">
            <a:avLst/>
          </a:prstGeom>
        </p:spPr>
      </p:pic>
    </p:spTree>
    <p:extLst>
      <p:ext uri="{BB962C8B-B14F-4D97-AF65-F5344CB8AC3E}">
        <p14:creationId xmlns:p14="http://schemas.microsoft.com/office/powerpoint/2010/main" val="11535752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F6DB56-0F8B-69E8-1488-FBE1E35E40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FDB012-B3AD-E1BE-8EC3-0E7176A8B77B}"/>
              </a:ext>
            </a:extLst>
          </p:cNvPr>
          <p:cNvSpPr>
            <a:spLocks noGrp="1"/>
          </p:cNvSpPr>
          <p:nvPr>
            <p:ph type="title"/>
          </p:nvPr>
        </p:nvSpPr>
        <p:spPr>
          <a:xfrm>
            <a:off x="630936" y="640080"/>
            <a:ext cx="4818888" cy="1481328"/>
          </a:xfrm>
        </p:spPr>
        <p:txBody>
          <a:bodyPr anchor="b">
            <a:normAutofit/>
          </a:bodyPr>
          <a:lstStyle/>
          <a:p>
            <a:r>
              <a:rPr lang="en-US" sz="5000"/>
              <a:t>Potential Energy Surfaces</a:t>
            </a:r>
          </a:p>
        </p:txBody>
      </p:sp>
      <p:sp>
        <p:nvSpPr>
          <p:cNvPr id="3" name="Content Placeholder 2">
            <a:extLst>
              <a:ext uri="{FF2B5EF4-FFF2-40B4-BE49-F238E27FC236}">
                <a16:creationId xmlns:a16="http://schemas.microsoft.com/office/drawing/2014/main" id="{48F5E215-E432-AA12-9FAE-A2E60B878EC2}"/>
              </a:ext>
            </a:extLst>
          </p:cNvPr>
          <p:cNvSpPr>
            <a:spLocks noGrp="1"/>
          </p:cNvSpPr>
          <p:nvPr>
            <p:ph idx="1"/>
          </p:nvPr>
        </p:nvSpPr>
        <p:spPr>
          <a:xfrm>
            <a:off x="630936" y="2660904"/>
            <a:ext cx="4818888" cy="3547872"/>
          </a:xfrm>
        </p:spPr>
        <p:txBody>
          <a:bodyPr anchor="t">
            <a:normAutofit/>
          </a:bodyPr>
          <a:lstStyle/>
          <a:p>
            <a:r>
              <a:rPr lang="en-US" sz="2200" dirty="0"/>
              <a:t>We have learned about a physical construct called a “Potential Energy Surface” that results from the Born-Oppenheimer Approximation.</a:t>
            </a:r>
          </a:p>
          <a:p>
            <a:r>
              <a:rPr lang="en-US" sz="2200" dirty="0"/>
              <a:t>Of particular note are the minima and transition states (first-order saddle points).</a:t>
            </a:r>
          </a:p>
        </p:txBody>
      </p:sp>
      <p:pic>
        <p:nvPicPr>
          <p:cNvPr id="4" name="Picture 3">
            <a:extLst>
              <a:ext uri="{FF2B5EF4-FFF2-40B4-BE49-F238E27FC236}">
                <a16:creationId xmlns:a16="http://schemas.microsoft.com/office/drawing/2014/main" id="{61A1CDB8-8F8D-9F65-CF5C-8C4BB830D29A}"/>
              </a:ext>
            </a:extLst>
          </p:cNvPr>
          <p:cNvPicPr>
            <a:picLocks noChangeAspect="1"/>
          </p:cNvPicPr>
          <p:nvPr/>
        </p:nvPicPr>
        <p:blipFill>
          <a:blip r:embed="rId2"/>
          <a:stretch>
            <a:fillRect/>
          </a:stretch>
        </p:blipFill>
        <p:spPr>
          <a:xfrm>
            <a:off x="6099048" y="1702601"/>
            <a:ext cx="5458968" cy="3452797"/>
          </a:xfrm>
          <a:prstGeom prst="rect">
            <a:avLst/>
          </a:prstGeom>
        </p:spPr>
      </p:pic>
    </p:spTree>
    <p:extLst>
      <p:ext uri="{BB962C8B-B14F-4D97-AF65-F5344CB8AC3E}">
        <p14:creationId xmlns:p14="http://schemas.microsoft.com/office/powerpoint/2010/main" val="20819669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481666-5763-2168-208B-2AA081511E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291778-E5FE-BB9B-A8AB-9E1D38E9A17D}"/>
              </a:ext>
            </a:extLst>
          </p:cNvPr>
          <p:cNvSpPr>
            <a:spLocks noGrp="1"/>
          </p:cNvSpPr>
          <p:nvPr>
            <p:ph type="title"/>
          </p:nvPr>
        </p:nvSpPr>
        <p:spPr>
          <a:xfrm>
            <a:off x="630936" y="640080"/>
            <a:ext cx="4818888" cy="1481328"/>
          </a:xfrm>
        </p:spPr>
        <p:txBody>
          <a:bodyPr anchor="b">
            <a:normAutofit/>
          </a:bodyPr>
          <a:lstStyle/>
          <a:p>
            <a:r>
              <a:rPr lang="en-US" sz="5000"/>
              <a:t>Potential Energy Surfaces</a:t>
            </a:r>
          </a:p>
        </p:txBody>
      </p:sp>
      <p:sp>
        <p:nvSpPr>
          <p:cNvPr id="3" name="Content Placeholder 2">
            <a:extLst>
              <a:ext uri="{FF2B5EF4-FFF2-40B4-BE49-F238E27FC236}">
                <a16:creationId xmlns:a16="http://schemas.microsoft.com/office/drawing/2014/main" id="{0411AD66-2F34-7D81-ED27-3CE2C4F73C86}"/>
              </a:ext>
            </a:extLst>
          </p:cNvPr>
          <p:cNvSpPr>
            <a:spLocks noGrp="1"/>
          </p:cNvSpPr>
          <p:nvPr>
            <p:ph idx="1"/>
          </p:nvPr>
        </p:nvSpPr>
        <p:spPr>
          <a:xfrm>
            <a:off x="630936" y="2660904"/>
            <a:ext cx="4818888" cy="3547872"/>
          </a:xfrm>
        </p:spPr>
        <p:txBody>
          <a:bodyPr anchor="t">
            <a:normAutofit/>
          </a:bodyPr>
          <a:lstStyle/>
          <a:p>
            <a:r>
              <a:rPr lang="en-US" sz="2200" dirty="0"/>
              <a:t>We have learned about a physical construct called a “Potential Energy Surface” that results from the Born-Oppenheimer Approximation.</a:t>
            </a:r>
          </a:p>
          <a:p>
            <a:r>
              <a:rPr lang="en-US" sz="2200" dirty="0"/>
              <a:t>Of particular note are the minima and transition states (first-order saddle points).</a:t>
            </a:r>
          </a:p>
          <a:p>
            <a:r>
              <a:rPr lang="en-US" sz="2200" dirty="0"/>
              <a:t>For a real molecular system, the orientation of the atoms will settle in the minimum energy points.</a:t>
            </a:r>
          </a:p>
        </p:txBody>
      </p:sp>
      <p:pic>
        <p:nvPicPr>
          <p:cNvPr id="4" name="Picture 3">
            <a:extLst>
              <a:ext uri="{FF2B5EF4-FFF2-40B4-BE49-F238E27FC236}">
                <a16:creationId xmlns:a16="http://schemas.microsoft.com/office/drawing/2014/main" id="{5BAD2955-AB6A-C058-5DA6-D74A77367DC6}"/>
              </a:ext>
            </a:extLst>
          </p:cNvPr>
          <p:cNvPicPr>
            <a:picLocks noChangeAspect="1"/>
          </p:cNvPicPr>
          <p:nvPr/>
        </p:nvPicPr>
        <p:blipFill>
          <a:blip r:embed="rId2"/>
          <a:stretch>
            <a:fillRect/>
          </a:stretch>
        </p:blipFill>
        <p:spPr>
          <a:xfrm>
            <a:off x="6099048" y="1702601"/>
            <a:ext cx="5458968" cy="3452797"/>
          </a:xfrm>
          <a:prstGeom prst="rect">
            <a:avLst/>
          </a:prstGeom>
        </p:spPr>
      </p:pic>
    </p:spTree>
    <p:extLst>
      <p:ext uri="{BB962C8B-B14F-4D97-AF65-F5344CB8AC3E}">
        <p14:creationId xmlns:p14="http://schemas.microsoft.com/office/powerpoint/2010/main" val="24028093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2B4C54-6429-005E-E4DC-3790A32A24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908FA6-0F90-44CB-95A9-40B6F6C34FC4}"/>
              </a:ext>
            </a:extLst>
          </p:cNvPr>
          <p:cNvSpPr>
            <a:spLocks noGrp="1"/>
          </p:cNvSpPr>
          <p:nvPr>
            <p:ph type="title"/>
          </p:nvPr>
        </p:nvSpPr>
        <p:spPr>
          <a:xfrm>
            <a:off x="630936" y="640080"/>
            <a:ext cx="4818888" cy="1481328"/>
          </a:xfrm>
        </p:spPr>
        <p:txBody>
          <a:bodyPr anchor="b">
            <a:normAutofit/>
          </a:bodyPr>
          <a:lstStyle/>
          <a:p>
            <a:r>
              <a:rPr lang="en-US" sz="5000"/>
              <a:t>Potential Energy Surfaces</a:t>
            </a:r>
          </a:p>
        </p:txBody>
      </p:sp>
      <p:sp>
        <p:nvSpPr>
          <p:cNvPr id="3" name="Content Placeholder 2">
            <a:extLst>
              <a:ext uri="{FF2B5EF4-FFF2-40B4-BE49-F238E27FC236}">
                <a16:creationId xmlns:a16="http://schemas.microsoft.com/office/drawing/2014/main" id="{6285020C-715C-6686-38D5-D24D1F5CD9A4}"/>
              </a:ext>
            </a:extLst>
          </p:cNvPr>
          <p:cNvSpPr>
            <a:spLocks noGrp="1"/>
          </p:cNvSpPr>
          <p:nvPr>
            <p:ph idx="1"/>
          </p:nvPr>
        </p:nvSpPr>
        <p:spPr>
          <a:xfrm>
            <a:off x="630936" y="2660904"/>
            <a:ext cx="4818888" cy="3547872"/>
          </a:xfrm>
        </p:spPr>
        <p:txBody>
          <a:bodyPr anchor="t">
            <a:normAutofit/>
          </a:bodyPr>
          <a:lstStyle/>
          <a:p>
            <a:r>
              <a:rPr lang="en-US" sz="2200" dirty="0"/>
              <a:t>For a real molecular system, the orientation of the atoms will settle in the minimum energy points.</a:t>
            </a:r>
          </a:p>
        </p:txBody>
      </p:sp>
      <p:pic>
        <p:nvPicPr>
          <p:cNvPr id="4" name="Picture 3">
            <a:extLst>
              <a:ext uri="{FF2B5EF4-FFF2-40B4-BE49-F238E27FC236}">
                <a16:creationId xmlns:a16="http://schemas.microsoft.com/office/drawing/2014/main" id="{942A12A1-3A90-BA5F-E183-29949B610B5F}"/>
              </a:ext>
            </a:extLst>
          </p:cNvPr>
          <p:cNvPicPr>
            <a:picLocks noChangeAspect="1"/>
          </p:cNvPicPr>
          <p:nvPr/>
        </p:nvPicPr>
        <p:blipFill>
          <a:blip r:embed="rId2"/>
          <a:stretch>
            <a:fillRect/>
          </a:stretch>
        </p:blipFill>
        <p:spPr>
          <a:xfrm>
            <a:off x="6099048" y="1702601"/>
            <a:ext cx="5458968" cy="3452797"/>
          </a:xfrm>
          <a:prstGeom prst="rect">
            <a:avLst/>
          </a:prstGeom>
        </p:spPr>
      </p:pic>
    </p:spTree>
    <p:extLst>
      <p:ext uri="{BB962C8B-B14F-4D97-AF65-F5344CB8AC3E}">
        <p14:creationId xmlns:p14="http://schemas.microsoft.com/office/powerpoint/2010/main" val="1957618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7BB3C6-CF27-E320-7E6D-48DF8B2ECE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7A0639-1F43-F628-4AFA-3D4F14C4BF6F}"/>
              </a:ext>
            </a:extLst>
          </p:cNvPr>
          <p:cNvSpPr>
            <a:spLocks noGrp="1"/>
          </p:cNvSpPr>
          <p:nvPr>
            <p:ph type="title"/>
          </p:nvPr>
        </p:nvSpPr>
        <p:spPr>
          <a:xfrm>
            <a:off x="630936" y="640080"/>
            <a:ext cx="4818888" cy="1481328"/>
          </a:xfrm>
        </p:spPr>
        <p:txBody>
          <a:bodyPr anchor="b">
            <a:normAutofit/>
          </a:bodyPr>
          <a:lstStyle/>
          <a:p>
            <a:r>
              <a:rPr lang="en-US" sz="5000"/>
              <a:t>Potential Energy Surfaces</a:t>
            </a:r>
          </a:p>
        </p:txBody>
      </p:sp>
      <p:sp>
        <p:nvSpPr>
          <p:cNvPr id="3" name="Content Placeholder 2">
            <a:extLst>
              <a:ext uri="{FF2B5EF4-FFF2-40B4-BE49-F238E27FC236}">
                <a16:creationId xmlns:a16="http://schemas.microsoft.com/office/drawing/2014/main" id="{A1C116ED-A94C-D5AE-02AB-F705107AF12F}"/>
              </a:ext>
            </a:extLst>
          </p:cNvPr>
          <p:cNvSpPr>
            <a:spLocks noGrp="1"/>
          </p:cNvSpPr>
          <p:nvPr>
            <p:ph idx="1"/>
          </p:nvPr>
        </p:nvSpPr>
        <p:spPr>
          <a:xfrm>
            <a:off x="630936" y="2660904"/>
            <a:ext cx="4818888" cy="3547872"/>
          </a:xfrm>
        </p:spPr>
        <p:txBody>
          <a:bodyPr anchor="t">
            <a:normAutofit/>
          </a:bodyPr>
          <a:lstStyle/>
          <a:p>
            <a:r>
              <a:rPr lang="en-US" sz="2200" dirty="0"/>
              <a:t>For a real molecular system, the orientation of the atoms will settle in the minimum energy points.</a:t>
            </a:r>
          </a:p>
          <a:p>
            <a:r>
              <a:rPr lang="en-US" sz="2200" dirty="0"/>
              <a:t>If a system holds enough energy, it can move between energetic minimum.</a:t>
            </a:r>
          </a:p>
        </p:txBody>
      </p:sp>
      <p:pic>
        <p:nvPicPr>
          <p:cNvPr id="4" name="Picture 3">
            <a:extLst>
              <a:ext uri="{FF2B5EF4-FFF2-40B4-BE49-F238E27FC236}">
                <a16:creationId xmlns:a16="http://schemas.microsoft.com/office/drawing/2014/main" id="{82B8BA3F-E90B-0360-2E2C-7791596F47C7}"/>
              </a:ext>
            </a:extLst>
          </p:cNvPr>
          <p:cNvPicPr>
            <a:picLocks noChangeAspect="1"/>
          </p:cNvPicPr>
          <p:nvPr/>
        </p:nvPicPr>
        <p:blipFill>
          <a:blip r:embed="rId2"/>
          <a:stretch>
            <a:fillRect/>
          </a:stretch>
        </p:blipFill>
        <p:spPr>
          <a:xfrm>
            <a:off x="6099048" y="1702601"/>
            <a:ext cx="5458968" cy="3452797"/>
          </a:xfrm>
          <a:prstGeom prst="rect">
            <a:avLst/>
          </a:prstGeom>
        </p:spPr>
      </p:pic>
    </p:spTree>
    <p:extLst>
      <p:ext uri="{BB962C8B-B14F-4D97-AF65-F5344CB8AC3E}">
        <p14:creationId xmlns:p14="http://schemas.microsoft.com/office/powerpoint/2010/main" val="8417636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6B7E72-4898-2EE3-399B-BB59F4A640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3D0021-9452-0674-8BFB-3FF356F311EB}"/>
              </a:ext>
            </a:extLst>
          </p:cNvPr>
          <p:cNvSpPr>
            <a:spLocks noGrp="1"/>
          </p:cNvSpPr>
          <p:nvPr>
            <p:ph type="title"/>
          </p:nvPr>
        </p:nvSpPr>
        <p:spPr>
          <a:xfrm>
            <a:off x="630936" y="640080"/>
            <a:ext cx="4818888" cy="1481328"/>
          </a:xfrm>
        </p:spPr>
        <p:txBody>
          <a:bodyPr anchor="b">
            <a:normAutofit/>
          </a:bodyPr>
          <a:lstStyle/>
          <a:p>
            <a:r>
              <a:rPr lang="en-US" sz="5000"/>
              <a:t>Potential Energy Surfaces</a:t>
            </a:r>
          </a:p>
        </p:txBody>
      </p:sp>
      <p:sp>
        <p:nvSpPr>
          <p:cNvPr id="3" name="Content Placeholder 2">
            <a:extLst>
              <a:ext uri="{FF2B5EF4-FFF2-40B4-BE49-F238E27FC236}">
                <a16:creationId xmlns:a16="http://schemas.microsoft.com/office/drawing/2014/main" id="{86B3197B-6243-7A3B-CF24-13094749CBBE}"/>
              </a:ext>
            </a:extLst>
          </p:cNvPr>
          <p:cNvSpPr>
            <a:spLocks noGrp="1"/>
          </p:cNvSpPr>
          <p:nvPr>
            <p:ph idx="1"/>
          </p:nvPr>
        </p:nvSpPr>
        <p:spPr>
          <a:xfrm>
            <a:off x="630936" y="2660904"/>
            <a:ext cx="4818888" cy="3547872"/>
          </a:xfrm>
        </p:spPr>
        <p:txBody>
          <a:bodyPr anchor="t">
            <a:normAutofit/>
          </a:bodyPr>
          <a:lstStyle/>
          <a:p>
            <a:r>
              <a:rPr lang="en-US" sz="2200" dirty="0"/>
              <a:t>For a real molecular system, the orientation of the atoms will settle in the minimum energy points.</a:t>
            </a:r>
          </a:p>
          <a:p>
            <a:r>
              <a:rPr lang="en-US" sz="2200" dirty="0"/>
              <a:t>If a system holds enough energy, it can move between energetic minimum.</a:t>
            </a:r>
          </a:p>
          <a:p>
            <a:r>
              <a:rPr lang="en-US" sz="2200" dirty="0"/>
              <a:t>As noted in Jace’s lecture, we can use Transition State Theory to determine the kinetics of a system moving between minima.</a:t>
            </a:r>
          </a:p>
        </p:txBody>
      </p:sp>
      <p:pic>
        <p:nvPicPr>
          <p:cNvPr id="4" name="Picture 3">
            <a:extLst>
              <a:ext uri="{FF2B5EF4-FFF2-40B4-BE49-F238E27FC236}">
                <a16:creationId xmlns:a16="http://schemas.microsoft.com/office/drawing/2014/main" id="{80BE0423-CA07-990B-9665-33EDD1936210}"/>
              </a:ext>
            </a:extLst>
          </p:cNvPr>
          <p:cNvPicPr>
            <a:picLocks noChangeAspect="1"/>
          </p:cNvPicPr>
          <p:nvPr/>
        </p:nvPicPr>
        <p:blipFill>
          <a:blip r:embed="rId2"/>
          <a:stretch>
            <a:fillRect/>
          </a:stretch>
        </p:blipFill>
        <p:spPr>
          <a:xfrm>
            <a:off x="6099048" y="1702601"/>
            <a:ext cx="5458968" cy="3452797"/>
          </a:xfrm>
          <a:prstGeom prst="rect">
            <a:avLst/>
          </a:prstGeom>
        </p:spPr>
      </p:pic>
    </p:spTree>
    <p:extLst>
      <p:ext uri="{BB962C8B-B14F-4D97-AF65-F5344CB8AC3E}">
        <p14:creationId xmlns:p14="http://schemas.microsoft.com/office/powerpoint/2010/main" val="6848108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F06862-BB0F-DBFE-958E-7F67661ECE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2D5109-E1AE-42A6-A992-990A67F91093}"/>
              </a:ext>
            </a:extLst>
          </p:cNvPr>
          <p:cNvSpPr>
            <a:spLocks noGrp="1"/>
          </p:cNvSpPr>
          <p:nvPr>
            <p:ph type="title"/>
          </p:nvPr>
        </p:nvSpPr>
        <p:spPr>
          <a:xfrm>
            <a:off x="630936" y="640080"/>
            <a:ext cx="4818888" cy="1481328"/>
          </a:xfrm>
        </p:spPr>
        <p:txBody>
          <a:bodyPr anchor="b">
            <a:normAutofit/>
          </a:bodyPr>
          <a:lstStyle/>
          <a:p>
            <a:r>
              <a:rPr lang="en-US" sz="5000"/>
              <a:t>Potential Energy Surfaces</a:t>
            </a:r>
          </a:p>
        </p:txBody>
      </p:sp>
      <p:sp>
        <p:nvSpPr>
          <p:cNvPr id="3" name="Content Placeholder 2">
            <a:extLst>
              <a:ext uri="{FF2B5EF4-FFF2-40B4-BE49-F238E27FC236}">
                <a16:creationId xmlns:a16="http://schemas.microsoft.com/office/drawing/2014/main" id="{FC036A1F-0058-830F-D5D2-002F04487B8B}"/>
              </a:ext>
            </a:extLst>
          </p:cNvPr>
          <p:cNvSpPr>
            <a:spLocks noGrp="1"/>
          </p:cNvSpPr>
          <p:nvPr>
            <p:ph idx="1"/>
          </p:nvPr>
        </p:nvSpPr>
        <p:spPr>
          <a:xfrm>
            <a:off x="630936" y="2660904"/>
            <a:ext cx="4818888" cy="3547872"/>
          </a:xfrm>
        </p:spPr>
        <p:txBody>
          <a:bodyPr anchor="t">
            <a:normAutofit/>
          </a:bodyPr>
          <a:lstStyle/>
          <a:p>
            <a:r>
              <a:rPr lang="en-US" sz="2200" dirty="0"/>
              <a:t>As noted in Jace’s lecture, we can use Transition State Theory to determine the kinetics of a system moving between minima.</a:t>
            </a:r>
          </a:p>
          <a:p>
            <a:pPr lvl="1"/>
            <a:r>
              <a:rPr lang="en-US" sz="1800" dirty="0"/>
              <a:t>Minimum energy pathway between minima</a:t>
            </a:r>
          </a:p>
        </p:txBody>
      </p:sp>
      <p:pic>
        <p:nvPicPr>
          <p:cNvPr id="4" name="Picture 3">
            <a:extLst>
              <a:ext uri="{FF2B5EF4-FFF2-40B4-BE49-F238E27FC236}">
                <a16:creationId xmlns:a16="http://schemas.microsoft.com/office/drawing/2014/main" id="{931F4B59-0A1E-6E26-0149-D24DF357B197}"/>
              </a:ext>
            </a:extLst>
          </p:cNvPr>
          <p:cNvPicPr>
            <a:picLocks noChangeAspect="1"/>
          </p:cNvPicPr>
          <p:nvPr/>
        </p:nvPicPr>
        <p:blipFill>
          <a:blip r:embed="rId2"/>
          <a:stretch>
            <a:fillRect/>
          </a:stretch>
        </p:blipFill>
        <p:spPr>
          <a:xfrm>
            <a:off x="6099048" y="1702601"/>
            <a:ext cx="5458968" cy="3452797"/>
          </a:xfrm>
          <a:prstGeom prst="rect">
            <a:avLst/>
          </a:prstGeom>
        </p:spPr>
      </p:pic>
    </p:spTree>
    <p:extLst>
      <p:ext uri="{BB962C8B-B14F-4D97-AF65-F5344CB8AC3E}">
        <p14:creationId xmlns:p14="http://schemas.microsoft.com/office/powerpoint/2010/main" val="41928407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320E1-74EE-AA9E-9203-3D5AA2E961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66EAF5-1B78-4EF7-C14B-C2B5EC832326}"/>
              </a:ext>
            </a:extLst>
          </p:cNvPr>
          <p:cNvSpPr>
            <a:spLocks noGrp="1"/>
          </p:cNvSpPr>
          <p:nvPr>
            <p:ph type="title"/>
          </p:nvPr>
        </p:nvSpPr>
        <p:spPr>
          <a:xfrm>
            <a:off x="630936" y="640080"/>
            <a:ext cx="4818888" cy="1481328"/>
          </a:xfrm>
        </p:spPr>
        <p:txBody>
          <a:bodyPr anchor="b">
            <a:normAutofit/>
          </a:bodyPr>
          <a:lstStyle/>
          <a:p>
            <a:r>
              <a:rPr lang="en-US" sz="5000"/>
              <a:t>Potential Energy Surfaces</a:t>
            </a:r>
          </a:p>
        </p:txBody>
      </p:sp>
      <p:sp>
        <p:nvSpPr>
          <p:cNvPr id="3" name="Content Placeholder 2">
            <a:extLst>
              <a:ext uri="{FF2B5EF4-FFF2-40B4-BE49-F238E27FC236}">
                <a16:creationId xmlns:a16="http://schemas.microsoft.com/office/drawing/2014/main" id="{8D71ABE3-663A-AA5D-6986-0BABED424C0E}"/>
              </a:ext>
            </a:extLst>
          </p:cNvPr>
          <p:cNvSpPr>
            <a:spLocks noGrp="1"/>
          </p:cNvSpPr>
          <p:nvPr>
            <p:ph idx="1"/>
          </p:nvPr>
        </p:nvSpPr>
        <p:spPr>
          <a:xfrm>
            <a:off x="630936" y="2660904"/>
            <a:ext cx="4818888" cy="3547872"/>
          </a:xfrm>
        </p:spPr>
        <p:txBody>
          <a:bodyPr anchor="t">
            <a:normAutofit/>
          </a:bodyPr>
          <a:lstStyle/>
          <a:p>
            <a:r>
              <a:rPr lang="en-US" sz="2200" dirty="0"/>
              <a:t>As noted in Jace’s lecture, we can use Transition State Theory to determine the kinetics of a system moving between minima.</a:t>
            </a:r>
          </a:p>
          <a:p>
            <a:pPr lvl="1"/>
            <a:r>
              <a:rPr lang="en-US" sz="1800" dirty="0"/>
              <a:t>Minimum energy pathway between minima</a:t>
            </a:r>
          </a:p>
          <a:p>
            <a:r>
              <a:rPr lang="en-US" sz="2200" dirty="0"/>
              <a:t>In order to locate where these minima and transition states, we perform geometry optimizations, which will be discussed in Kat’s lecture.</a:t>
            </a:r>
          </a:p>
        </p:txBody>
      </p:sp>
      <p:pic>
        <p:nvPicPr>
          <p:cNvPr id="4" name="Picture 3">
            <a:extLst>
              <a:ext uri="{FF2B5EF4-FFF2-40B4-BE49-F238E27FC236}">
                <a16:creationId xmlns:a16="http://schemas.microsoft.com/office/drawing/2014/main" id="{D02229C4-E509-354E-B476-F57069CCB4C1}"/>
              </a:ext>
            </a:extLst>
          </p:cNvPr>
          <p:cNvPicPr>
            <a:picLocks noChangeAspect="1"/>
          </p:cNvPicPr>
          <p:nvPr/>
        </p:nvPicPr>
        <p:blipFill>
          <a:blip r:embed="rId2"/>
          <a:stretch>
            <a:fillRect/>
          </a:stretch>
        </p:blipFill>
        <p:spPr>
          <a:xfrm>
            <a:off x="6099048" y="1702601"/>
            <a:ext cx="5458968" cy="3452797"/>
          </a:xfrm>
          <a:prstGeom prst="rect">
            <a:avLst/>
          </a:prstGeom>
        </p:spPr>
      </p:pic>
    </p:spTree>
    <p:extLst>
      <p:ext uri="{BB962C8B-B14F-4D97-AF65-F5344CB8AC3E}">
        <p14:creationId xmlns:p14="http://schemas.microsoft.com/office/powerpoint/2010/main" val="10193499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DA015-76F5-7B2C-5124-93C6EFE8E1E5}"/>
              </a:ext>
            </a:extLst>
          </p:cNvPr>
          <p:cNvSpPr>
            <a:spLocks noGrp="1"/>
          </p:cNvSpPr>
          <p:nvPr>
            <p:ph type="title"/>
          </p:nvPr>
        </p:nvSpPr>
        <p:spPr/>
        <p:txBody>
          <a:bodyPr/>
          <a:lstStyle/>
          <a:p>
            <a:r>
              <a:rPr lang="en-US" dirty="0"/>
              <a:t>We have optimized a geometry. Now what?</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27A2D16-C03E-A8D3-F82E-F31A0F42EFFE}"/>
                  </a:ext>
                </a:extLst>
              </p:cNvPr>
              <p:cNvSpPr>
                <a:spLocks noGrp="1"/>
              </p:cNvSpPr>
              <p:nvPr>
                <p:ph idx="1"/>
              </p:nvPr>
            </p:nvSpPr>
            <p:spPr/>
            <p:txBody>
              <a:bodyPr>
                <a:normAutofit/>
              </a:bodyPr>
              <a:lstStyle/>
              <a:p>
                <a:r>
                  <a:rPr lang="en-US" dirty="0"/>
                  <a:t>Optimizing a molecular geometry identifies a stationary point on the potential energy surface, where </a:t>
                </a:r>
                <a14:m>
                  <m:oMath xmlns:m="http://schemas.openxmlformats.org/officeDocument/2006/math">
                    <m:f>
                      <m:fPr>
                        <m:ctrlPr>
                          <a:rPr lang="en-US" i="1" smtClean="0">
                            <a:latin typeface="Cambria Math" panose="02040503050406030204" pitchFamily="18" charset="0"/>
                          </a:rPr>
                        </m:ctrlPr>
                      </m:fPr>
                      <m:num>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𝐸</m:t>
                        </m:r>
                      </m:num>
                      <m:den>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𝑋</m:t>
                        </m:r>
                      </m:den>
                    </m:f>
                    <m:r>
                      <a:rPr lang="en-US" b="0" i="1" smtClean="0">
                        <a:latin typeface="Cambria Math" panose="02040503050406030204" pitchFamily="18" charset="0"/>
                      </a:rPr>
                      <m:t>=0</m:t>
                    </m:r>
                  </m:oMath>
                </a14:m>
                <a:r>
                  <a:rPr lang="en-US" dirty="0"/>
                  <a:t>.</a:t>
                </a:r>
              </a:p>
            </p:txBody>
          </p:sp>
        </mc:Choice>
        <mc:Fallback>
          <p:sp>
            <p:nvSpPr>
              <p:cNvPr id="3" name="Content Placeholder 2">
                <a:extLst>
                  <a:ext uri="{FF2B5EF4-FFF2-40B4-BE49-F238E27FC236}">
                    <a16:creationId xmlns:a16="http://schemas.microsoft.com/office/drawing/2014/main" id="{827A2D16-C03E-A8D3-F82E-F31A0F42EFFE}"/>
                  </a:ext>
                </a:extLst>
              </p:cNvPr>
              <p:cNvSpPr>
                <a:spLocks noGrp="1" noRot="1" noChangeAspect="1" noMove="1" noResize="1" noEditPoints="1" noAdjustHandles="1" noChangeArrowheads="1" noChangeShapeType="1" noTextEdit="1"/>
              </p:cNvSpPr>
              <p:nvPr>
                <p:ph idx="1"/>
              </p:nvPr>
            </p:nvSpPr>
            <p:spPr>
              <a:blipFill>
                <a:blip r:embed="rId2"/>
                <a:stretch>
                  <a:fillRect l="-1086" t="-2326"/>
                </a:stretch>
              </a:blipFill>
            </p:spPr>
            <p:txBody>
              <a:bodyPr/>
              <a:lstStyle/>
              <a:p>
                <a:r>
                  <a:rPr lang="en-US">
                    <a:noFill/>
                  </a:rPr>
                  <a:t> </a:t>
                </a:r>
              </a:p>
            </p:txBody>
          </p:sp>
        </mc:Fallback>
      </mc:AlternateContent>
    </p:spTree>
    <p:extLst>
      <p:ext uri="{BB962C8B-B14F-4D97-AF65-F5344CB8AC3E}">
        <p14:creationId xmlns:p14="http://schemas.microsoft.com/office/powerpoint/2010/main" val="17927482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A0DF19-AEFA-D9BE-B424-B75615D7B7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604B1F-EB65-7324-1523-F9B32FD9128D}"/>
              </a:ext>
            </a:extLst>
          </p:cNvPr>
          <p:cNvSpPr>
            <a:spLocks noGrp="1"/>
          </p:cNvSpPr>
          <p:nvPr>
            <p:ph type="title"/>
          </p:nvPr>
        </p:nvSpPr>
        <p:spPr/>
        <p:txBody>
          <a:bodyPr/>
          <a:lstStyle/>
          <a:p>
            <a:r>
              <a:rPr lang="en-US" dirty="0"/>
              <a:t>We have optimized a geometry. Now what?</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18A5D79-01C8-5501-BD13-997DA9C92D15}"/>
                  </a:ext>
                </a:extLst>
              </p:cNvPr>
              <p:cNvSpPr>
                <a:spLocks noGrp="1"/>
              </p:cNvSpPr>
              <p:nvPr>
                <p:ph idx="1"/>
              </p:nvPr>
            </p:nvSpPr>
            <p:spPr/>
            <p:txBody>
              <a:bodyPr>
                <a:normAutofit/>
              </a:bodyPr>
              <a:lstStyle/>
              <a:p>
                <a:r>
                  <a:rPr lang="en-US" dirty="0"/>
                  <a:t>Optimizing a molecular geometry identifies a stationary point on the potential energy surface, where </a:t>
                </a:r>
                <a14:m>
                  <m:oMath xmlns:m="http://schemas.openxmlformats.org/officeDocument/2006/math">
                    <m:f>
                      <m:fPr>
                        <m:ctrlPr>
                          <a:rPr lang="en-US" i="1" smtClean="0">
                            <a:latin typeface="Cambria Math" panose="02040503050406030204" pitchFamily="18" charset="0"/>
                          </a:rPr>
                        </m:ctrlPr>
                      </m:fPr>
                      <m:num>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𝐸</m:t>
                        </m:r>
                      </m:num>
                      <m:den>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𝑋</m:t>
                        </m:r>
                      </m:den>
                    </m:f>
                    <m:r>
                      <a:rPr lang="en-US" b="0" i="1" smtClean="0">
                        <a:latin typeface="Cambria Math" panose="02040503050406030204" pitchFamily="18" charset="0"/>
                      </a:rPr>
                      <m:t>=0</m:t>
                    </m:r>
                  </m:oMath>
                </a14:m>
                <a:r>
                  <a:rPr lang="en-US" dirty="0"/>
                  <a:t>.</a:t>
                </a:r>
              </a:p>
              <a:p>
                <a:r>
                  <a:rPr lang="en-US" dirty="0"/>
                  <a:t>It would be nice to be able to get more information about our minimum. Such as how kinetically stable it is, how rigid the molecule is, the quantum vibrational effects on energy, and perhaps even some indications of how electromagnetic radiation would interact with it.</a:t>
                </a:r>
              </a:p>
            </p:txBody>
          </p:sp>
        </mc:Choice>
        <mc:Fallback>
          <p:sp>
            <p:nvSpPr>
              <p:cNvPr id="3" name="Content Placeholder 2">
                <a:extLst>
                  <a:ext uri="{FF2B5EF4-FFF2-40B4-BE49-F238E27FC236}">
                    <a16:creationId xmlns:a16="http://schemas.microsoft.com/office/drawing/2014/main" id="{918A5D79-01C8-5501-BD13-997DA9C92D15}"/>
                  </a:ext>
                </a:extLst>
              </p:cNvPr>
              <p:cNvSpPr>
                <a:spLocks noGrp="1" noRot="1" noChangeAspect="1" noMove="1" noResize="1" noEditPoints="1" noAdjustHandles="1" noChangeArrowheads="1" noChangeShapeType="1" noTextEdit="1"/>
              </p:cNvSpPr>
              <p:nvPr>
                <p:ph idx="1"/>
              </p:nvPr>
            </p:nvSpPr>
            <p:spPr>
              <a:blipFill>
                <a:blip r:embed="rId2"/>
                <a:stretch>
                  <a:fillRect l="-1086" t="-2326"/>
                </a:stretch>
              </a:blipFill>
            </p:spPr>
            <p:txBody>
              <a:bodyPr/>
              <a:lstStyle/>
              <a:p>
                <a:r>
                  <a:rPr lang="en-US">
                    <a:noFill/>
                  </a:rPr>
                  <a:t> </a:t>
                </a:r>
              </a:p>
            </p:txBody>
          </p:sp>
        </mc:Fallback>
      </mc:AlternateContent>
    </p:spTree>
    <p:extLst>
      <p:ext uri="{BB962C8B-B14F-4D97-AF65-F5344CB8AC3E}">
        <p14:creationId xmlns:p14="http://schemas.microsoft.com/office/powerpoint/2010/main" val="18658749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B8CBE-38C8-08E9-D2FA-DAAE584E28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0EBA9D-EF19-4725-2709-E183A4349404}"/>
              </a:ext>
            </a:extLst>
          </p:cNvPr>
          <p:cNvSpPr>
            <a:spLocks noGrp="1"/>
          </p:cNvSpPr>
          <p:nvPr>
            <p:ph type="title"/>
          </p:nvPr>
        </p:nvSpPr>
        <p:spPr/>
        <p:txBody>
          <a:bodyPr/>
          <a:lstStyle/>
          <a:p>
            <a:r>
              <a:rPr lang="en-US" dirty="0"/>
              <a:t>We have optimized a geometry. Now what?</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8054B75-8A33-48EF-9AF6-D5D7DB54FC89}"/>
                  </a:ext>
                </a:extLst>
              </p:cNvPr>
              <p:cNvSpPr>
                <a:spLocks noGrp="1"/>
              </p:cNvSpPr>
              <p:nvPr>
                <p:ph idx="1"/>
              </p:nvPr>
            </p:nvSpPr>
            <p:spPr/>
            <p:txBody>
              <a:bodyPr>
                <a:normAutofit lnSpcReduction="10000"/>
              </a:bodyPr>
              <a:lstStyle/>
              <a:p>
                <a:r>
                  <a:rPr lang="en-US" dirty="0"/>
                  <a:t>Optimizing a molecular geometry identifies a stationary point on the potential energy surface, where </a:t>
                </a:r>
                <a14:m>
                  <m:oMath xmlns:m="http://schemas.openxmlformats.org/officeDocument/2006/math">
                    <m:f>
                      <m:fPr>
                        <m:ctrlPr>
                          <a:rPr lang="en-US" i="1" smtClean="0">
                            <a:latin typeface="Cambria Math" panose="02040503050406030204" pitchFamily="18" charset="0"/>
                          </a:rPr>
                        </m:ctrlPr>
                      </m:fPr>
                      <m:num>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𝐸</m:t>
                        </m:r>
                      </m:num>
                      <m:den>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𝑋</m:t>
                        </m:r>
                      </m:den>
                    </m:f>
                    <m:r>
                      <a:rPr lang="en-US" b="0" i="1" smtClean="0">
                        <a:latin typeface="Cambria Math" panose="02040503050406030204" pitchFamily="18" charset="0"/>
                      </a:rPr>
                      <m:t>=0</m:t>
                    </m:r>
                  </m:oMath>
                </a14:m>
                <a:r>
                  <a:rPr lang="en-US" dirty="0"/>
                  <a:t>.</a:t>
                </a:r>
              </a:p>
              <a:p>
                <a:r>
                  <a:rPr lang="en-US" dirty="0"/>
                  <a:t>It would be nice to be able to get more information about our minimum. Such as how kinetically stable it is, how rigid the molecule is, the quantum vibrational effects on energy, and perhaps even some indications of how electromagnetic radiation would interact with it.</a:t>
                </a:r>
              </a:p>
              <a:p>
                <a:r>
                  <a:rPr lang="en-US" dirty="0"/>
                  <a:t>One of the simplest and most powerful ways to gain more information about your stationary point is to compute its harmonic vibrational frequencies.</a:t>
                </a:r>
              </a:p>
            </p:txBody>
          </p:sp>
        </mc:Choice>
        <mc:Fallback>
          <p:sp>
            <p:nvSpPr>
              <p:cNvPr id="3" name="Content Placeholder 2">
                <a:extLst>
                  <a:ext uri="{FF2B5EF4-FFF2-40B4-BE49-F238E27FC236}">
                    <a16:creationId xmlns:a16="http://schemas.microsoft.com/office/drawing/2014/main" id="{98054B75-8A33-48EF-9AF6-D5D7DB54FC89}"/>
                  </a:ext>
                </a:extLst>
              </p:cNvPr>
              <p:cNvSpPr>
                <a:spLocks noGrp="1" noRot="1" noChangeAspect="1" noMove="1" noResize="1" noEditPoints="1" noAdjustHandles="1" noChangeArrowheads="1" noChangeShapeType="1" noTextEdit="1"/>
              </p:cNvSpPr>
              <p:nvPr>
                <p:ph idx="1"/>
              </p:nvPr>
            </p:nvSpPr>
            <p:spPr>
              <a:blipFill>
                <a:blip r:embed="rId2"/>
                <a:stretch>
                  <a:fillRect l="-1086" t="-3198"/>
                </a:stretch>
              </a:blipFill>
            </p:spPr>
            <p:txBody>
              <a:bodyPr/>
              <a:lstStyle/>
              <a:p>
                <a:r>
                  <a:rPr lang="en-US">
                    <a:noFill/>
                  </a:rPr>
                  <a:t> </a:t>
                </a:r>
              </a:p>
            </p:txBody>
          </p:sp>
        </mc:Fallback>
      </mc:AlternateContent>
    </p:spTree>
    <p:extLst>
      <p:ext uri="{BB962C8B-B14F-4D97-AF65-F5344CB8AC3E}">
        <p14:creationId xmlns:p14="http://schemas.microsoft.com/office/powerpoint/2010/main" val="6321328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303D4-B9CA-ECC1-2F27-1E492E675BFB}"/>
              </a:ext>
            </a:extLst>
          </p:cNvPr>
          <p:cNvSpPr>
            <a:spLocks noGrp="1"/>
          </p:cNvSpPr>
          <p:nvPr>
            <p:ph type="title"/>
          </p:nvPr>
        </p:nvSpPr>
        <p:spPr/>
        <p:txBody>
          <a:bodyPr/>
          <a:lstStyle/>
          <a:p>
            <a:r>
              <a:rPr lang="en-US" dirty="0"/>
              <a:t>Taylor Series expansion applied to a PES</a:t>
            </a:r>
          </a:p>
        </p:txBody>
      </p:sp>
      <p:sp>
        <p:nvSpPr>
          <p:cNvPr id="3" name="Content Placeholder 2">
            <a:extLst>
              <a:ext uri="{FF2B5EF4-FFF2-40B4-BE49-F238E27FC236}">
                <a16:creationId xmlns:a16="http://schemas.microsoft.com/office/drawing/2014/main" id="{8073E2DC-4ABA-57E2-109B-F4644F2CDEB8}"/>
              </a:ext>
            </a:extLst>
          </p:cNvPr>
          <p:cNvSpPr>
            <a:spLocks noGrp="1"/>
          </p:cNvSpPr>
          <p:nvPr>
            <p:ph idx="1"/>
          </p:nvPr>
        </p:nvSpPr>
        <p:spPr/>
        <p:txBody>
          <a:bodyPr/>
          <a:lstStyle/>
          <a:p>
            <a:r>
              <a:rPr lang="en-US" dirty="0"/>
              <a:t>A Taylor Series is a mathematical tool that allows you to express any function as a sum of polynomials multiplied by coefficients defined by increasing levels of derivatives at a particular point of the function.</a:t>
            </a:r>
          </a:p>
        </p:txBody>
      </p:sp>
      <p:pic>
        <p:nvPicPr>
          <p:cNvPr id="5" name="Picture 4" descr="Insiders Revealing the Truth About Taylor Swift's Directorial Debut">
            <a:extLst>
              <a:ext uri="{FF2B5EF4-FFF2-40B4-BE49-F238E27FC236}">
                <a16:creationId xmlns:a16="http://schemas.microsoft.com/office/drawing/2014/main" id="{03BF0C9D-FFD4-4B85-E115-D001B75BA170}"/>
              </a:ext>
            </a:extLst>
          </p:cNvPr>
          <p:cNvPicPr>
            <a:picLocks noChangeAspect="1"/>
          </p:cNvPicPr>
          <p:nvPr/>
        </p:nvPicPr>
        <p:blipFill>
          <a:blip r:embed="rId2"/>
          <a:stretch>
            <a:fillRect/>
          </a:stretch>
        </p:blipFill>
        <p:spPr>
          <a:xfrm>
            <a:off x="10907369" y="86794"/>
            <a:ext cx="1188934" cy="1540096"/>
          </a:xfrm>
          <a:prstGeom prst="rect">
            <a:avLst/>
          </a:prstGeom>
        </p:spPr>
      </p:pic>
      <p:sp>
        <p:nvSpPr>
          <p:cNvPr id="6" name="TextBox 5">
            <a:extLst>
              <a:ext uri="{FF2B5EF4-FFF2-40B4-BE49-F238E27FC236}">
                <a16:creationId xmlns:a16="http://schemas.microsoft.com/office/drawing/2014/main" id="{A5ED4F9C-C3A4-1652-9A6B-F56DB095079B}"/>
              </a:ext>
            </a:extLst>
          </p:cNvPr>
          <p:cNvSpPr txBox="1"/>
          <p:nvPr/>
        </p:nvSpPr>
        <p:spPr>
          <a:xfrm>
            <a:off x="10754644" y="1573491"/>
            <a:ext cx="1494383" cy="369332"/>
          </a:xfrm>
          <a:prstGeom prst="rect">
            <a:avLst/>
          </a:prstGeom>
          <a:noFill/>
        </p:spPr>
        <p:txBody>
          <a:bodyPr wrap="none" rtlCol="0">
            <a:spAutoFit/>
          </a:bodyPr>
          <a:lstStyle/>
          <a:p>
            <a:r>
              <a:rPr lang="en-US" dirty="0"/>
              <a:t>pic unrelated</a:t>
            </a:r>
          </a:p>
        </p:txBody>
      </p:sp>
    </p:spTree>
    <p:extLst>
      <p:ext uri="{BB962C8B-B14F-4D97-AF65-F5344CB8AC3E}">
        <p14:creationId xmlns:p14="http://schemas.microsoft.com/office/powerpoint/2010/main" val="18226130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3E5324-CB55-DB92-6E01-679DA698E3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D33AAD-193D-1420-4175-E3EBA577BBEB}"/>
              </a:ext>
            </a:extLst>
          </p:cNvPr>
          <p:cNvSpPr>
            <a:spLocks noGrp="1"/>
          </p:cNvSpPr>
          <p:nvPr>
            <p:ph type="title"/>
          </p:nvPr>
        </p:nvSpPr>
        <p:spPr/>
        <p:txBody>
          <a:bodyPr/>
          <a:lstStyle/>
          <a:p>
            <a:r>
              <a:rPr lang="en-US" dirty="0"/>
              <a:t>Taylor Series expansion applied to a PES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78EA784-A19A-8CE9-E34A-6D53FE09EDA6}"/>
                  </a:ext>
                </a:extLst>
              </p:cNvPr>
              <p:cNvSpPr>
                <a:spLocks noGrp="1"/>
              </p:cNvSpPr>
              <p:nvPr>
                <p:ph idx="1"/>
              </p:nvPr>
            </p:nvSpPr>
            <p:spPr/>
            <p:txBody>
              <a:bodyPr/>
              <a:lstStyle/>
              <a:p>
                <a:r>
                  <a:rPr lang="en-US" dirty="0"/>
                  <a:t>A Taylor Series is a mathematical tool that allows you to express any function as a sum of polynomials multiplied by coefficients defined by increasing levels of derivatives at a particular point of the function.</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𝑎</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𝑓</m:t>
                              </m:r>
                            </m:e>
                            <m:sup>
                              <m:r>
                                <a:rPr lang="en-US" b="0" i="1" smtClean="0">
                                  <a:latin typeface="Cambria Math" panose="02040503050406030204" pitchFamily="18" charset="0"/>
                                </a:rPr>
                                <m:t>′</m:t>
                              </m:r>
                            </m:sup>
                          </m:sSup>
                          <m:d>
                            <m:dPr>
                              <m:ctrlPr>
                                <a:rPr lang="en-US" b="0" i="1" smtClean="0">
                                  <a:latin typeface="Cambria Math" panose="02040503050406030204" pitchFamily="18" charset="0"/>
                                </a:rPr>
                              </m:ctrlPr>
                            </m:dPr>
                            <m:e>
                              <m:r>
                                <a:rPr lang="en-US" b="0" i="1" smtClean="0">
                                  <a:latin typeface="Cambria Math" panose="02040503050406030204" pitchFamily="18" charset="0"/>
                                </a:rPr>
                                <m:t>𝑎</m:t>
                              </m:r>
                            </m:e>
                          </m:d>
                          <m:r>
                            <m:rPr>
                              <m:nor/>
                            </m:rPr>
                            <a:rPr lang="en-US" dirty="0"/>
                            <m:t> </m:t>
                          </m:r>
                        </m:num>
                        <m:den>
                          <m:r>
                            <a:rPr lang="en-US" b="0" i="1" smtClean="0">
                              <a:latin typeface="Cambria Math" panose="02040503050406030204" pitchFamily="18" charset="0"/>
                            </a:rPr>
                            <m:t>1!</m:t>
                          </m:r>
                        </m:den>
                      </m:f>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𝑎</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𝑓</m:t>
                              </m:r>
                            </m:e>
                            <m:sup>
                              <m:r>
                                <a:rPr lang="en-US" b="0" i="1" smtClean="0">
                                  <a:latin typeface="Cambria Math" panose="02040503050406030204" pitchFamily="18" charset="0"/>
                                </a:rPr>
                                <m:t>′</m:t>
                              </m:r>
                              <m:r>
                                <a:rPr lang="en-US" b="0" i="1" smtClean="0">
                                  <a:latin typeface="Cambria Math" panose="02040503050406030204" pitchFamily="18" charset="0"/>
                                </a:rPr>
                                <m:t>′</m:t>
                              </m:r>
                            </m:sup>
                          </m:sSup>
                          <m:d>
                            <m:dPr>
                              <m:ctrlPr>
                                <a:rPr lang="en-US" b="0" i="1" smtClean="0">
                                  <a:latin typeface="Cambria Math" panose="02040503050406030204" pitchFamily="18" charset="0"/>
                                </a:rPr>
                              </m:ctrlPr>
                            </m:dPr>
                            <m:e>
                              <m:r>
                                <a:rPr lang="en-US" b="0" i="1" smtClean="0">
                                  <a:latin typeface="Cambria Math" panose="02040503050406030204" pitchFamily="18" charset="0"/>
                                </a:rPr>
                                <m:t>𝑎</m:t>
                              </m:r>
                            </m:e>
                          </m:d>
                          <m:r>
                            <m:rPr>
                              <m:nor/>
                            </m:rPr>
                            <a:rPr lang="en-US" i="0" dirty="0"/>
                            <m:t> </m:t>
                          </m:r>
                        </m:num>
                        <m:den>
                          <m:r>
                            <a:rPr lang="en-US" b="0" i="1" dirty="0" smtClean="0">
                              <a:latin typeface="Cambria Math" panose="02040503050406030204" pitchFamily="18" charset="0"/>
                            </a:rPr>
                            <m:t>2</m:t>
                          </m:r>
                          <m:r>
                            <a:rPr lang="en-US" b="0" i="1" smtClean="0">
                              <a:latin typeface="Cambria Math" panose="02040503050406030204" pitchFamily="18" charset="0"/>
                            </a:rPr>
                            <m:t>!</m:t>
                          </m:r>
                        </m:den>
                      </m:f>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𝑎</m:t>
                              </m:r>
                            </m:e>
                          </m:d>
                        </m:e>
                        <m:sup>
                          <m:r>
                            <a:rPr lang="en-US" b="0" i="1" smtClean="0">
                              <a:latin typeface="Cambria Math" panose="02040503050406030204" pitchFamily="18" charset="0"/>
                            </a:rPr>
                            <m:t>2</m:t>
                          </m:r>
                        </m:sup>
                      </m:sSup>
                      <m:r>
                        <a:rPr lang="en-US" b="0" i="1" smtClean="0">
                          <a:latin typeface="Cambria Math" panose="02040503050406030204" pitchFamily="18" charset="0"/>
                        </a:rPr>
                        <m:t>+…</m:t>
                      </m:r>
                    </m:oMath>
                    <m:oMath xmlns:m="http://schemas.openxmlformats.org/officeDocument/2006/math">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𝑛</m:t>
                          </m:r>
                          <m:r>
                            <a:rPr lang="en-US" b="0" i="1" smtClean="0">
                              <a:latin typeface="Cambria Math" panose="02040503050406030204" pitchFamily="18" charset="0"/>
                            </a:rPr>
                            <m:t>=0</m:t>
                          </m:r>
                        </m:sub>
                        <m:sup>
                          <m:r>
                            <a:rPr lang="en-US" b="0" i="1" smtClean="0">
                              <a:latin typeface="Cambria Math" panose="02040503050406030204" pitchFamily="18" charset="0"/>
                              <a:ea typeface="Cambria Math" panose="02040503050406030204" pitchFamily="18" charset="0"/>
                            </a:rPr>
                            <m:t>∞</m:t>
                          </m:r>
                        </m:sup>
                        <m:e>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𝑓</m:t>
                                  </m:r>
                                </m:e>
                                <m:sup>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sup>
                              </m:sSup>
                              <m:d>
                                <m:dPr>
                                  <m:ctrlPr>
                                    <a:rPr lang="en-US" b="0" i="1" smtClean="0">
                                      <a:latin typeface="Cambria Math" panose="02040503050406030204" pitchFamily="18" charset="0"/>
                                    </a:rPr>
                                  </m:ctrlPr>
                                </m:dPr>
                                <m:e>
                                  <m:r>
                                    <a:rPr lang="en-US" b="0" i="1" smtClean="0">
                                      <a:latin typeface="Cambria Math" panose="02040503050406030204" pitchFamily="18" charset="0"/>
                                    </a:rPr>
                                    <m:t>𝑎</m:t>
                                  </m:r>
                                </m:e>
                              </m:d>
                              <m:r>
                                <m:rPr>
                                  <m:nor/>
                                </m:rPr>
                                <a:rPr lang="en-US" i="0" dirty="0"/>
                                <m:t> </m:t>
                              </m:r>
                            </m:num>
                            <m:den>
                              <m:r>
                                <a:rPr lang="en-US" b="0" i="1" dirty="0" smtClean="0">
                                  <a:latin typeface="Cambria Math" panose="02040503050406030204" pitchFamily="18" charset="0"/>
                                </a:rPr>
                                <m:t>𝑛</m:t>
                              </m:r>
                              <m:r>
                                <a:rPr lang="en-US" b="0" i="1" smtClean="0">
                                  <a:latin typeface="Cambria Math" panose="02040503050406030204" pitchFamily="18" charset="0"/>
                                </a:rPr>
                                <m:t>!</m:t>
                              </m:r>
                            </m:den>
                          </m:f>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𝑎</m:t>
                                  </m:r>
                                </m:e>
                              </m:d>
                            </m:e>
                            <m:sup>
                              <m:r>
                                <a:rPr lang="en-US" b="0" i="1" smtClean="0">
                                  <a:latin typeface="Cambria Math" panose="02040503050406030204" pitchFamily="18" charset="0"/>
                                </a:rPr>
                                <m:t>𝑛</m:t>
                              </m:r>
                            </m:sup>
                          </m:sSup>
                        </m:e>
                      </m:nary>
                    </m:oMath>
                  </m:oMathPara>
                </a14:m>
                <a:endParaRPr lang="en-US" dirty="0"/>
              </a:p>
            </p:txBody>
          </p:sp>
        </mc:Choice>
        <mc:Fallback>
          <p:sp>
            <p:nvSpPr>
              <p:cNvPr id="3" name="Content Placeholder 2">
                <a:extLst>
                  <a:ext uri="{FF2B5EF4-FFF2-40B4-BE49-F238E27FC236}">
                    <a16:creationId xmlns:a16="http://schemas.microsoft.com/office/drawing/2014/main" id="{278EA784-A19A-8CE9-E34A-6D53FE09EDA6}"/>
                  </a:ext>
                </a:extLst>
              </p:cNvPr>
              <p:cNvSpPr>
                <a:spLocks noGrp="1" noRot="1" noChangeAspect="1" noMove="1" noResize="1" noEditPoints="1" noAdjustHandles="1" noChangeArrowheads="1" noChangeShapeType="1" noTextEdit="1"/>
              </p:cNvSpPr>
              <p:nvPr>
                <p:ph idx="1"/>
              </p:nvPr>
            </p:nvSpPr>
            <p:spPr>
              <a:blipFill>
                <a:blip r:embed="rId2"/>
                <a:stretch>
                  <a:fillRect l="-1086" t="-2326" b="-27035"/>
                </a:stretch>
              </a:blipFill>
            </p:spPr>
            <p:txBody>
              <a:bodyPr/>
              <a:lstStyle/>
              <a:p>
                <a:r>
                  <a:rPr lang="en-US">
                    <a:noFill/>
                  </a:rPr>
                  <a:t> </a:t>
                </a:r>
              </a:p>
            </p:txBody>
          </p:sp>
        </mc:Fallback>
      </mc:AlternateContent>
      <p:pic>
        <p:nvPicPr>
          <p:cNvPr id="5" name="Picture 4" descr="Insiders Revealing the Truth About Taylor Swift's Directorial Debut">
            <a:extLst>
              <a:ext uri="{FF2B5EF4-FFF2-40B4-BE49-F238E27FC236}">
                <a16:creationId xmlns:a16="http://schemas.microsoft.com/office/drawing/2014/main" id="{43BFD0CF-D739-D947-F421-48552B885065}"/>
              </a:ext>
            </a:extLst>
          </p:cNvPr>
          <p:cNvPicPr>
            <a:picLocks noChangeAspect="1"/>
          </p:cNvPicPr>
          <p:nvPr/>
        </p:nvPicPr>
        <p:blipFill>
          <a:blip r:embed="rId3"/>
          <a:stretch>
            <a:fillRect/>
          </a:stretch>
        </p:blipFill>
        <p:spPr>
          <a:xfrm>
            <a:off x="10907369" y="86794"/>
            <a:ext cx="1188934" cy="1540096"/>
          </a:xfrm>
          <a:prstGeom prst="rect">
            <a:avLst/>
          </a:prstGeom>
        </p:spPr>
      </p:pic>
      <p:sp>
        <p:nvSpPr>
          <p:cNvPr id="6" name="TextBox 5">
            <a:extLst>
              <a:ext uri="{FF2B5EF4-FFF2-40B4-BE49-F238E27FC236}">
                <a16:creationId xmlns:a16="http://schemas.microsoft.com/office/drawing/2014/main" id="{9E25B63B-BEB1-0902-4211-091359CB4012}"/>
              </a:ext>
            </a:extLst>
          </p:cNvPr>
          <p:cNvSpPr txBox="1"/>
          <p:nvPr/>
        </p:nvSpPr>
        <p:spPr>
          <a:xfrm>
            <a:off x="10754644" y="1573491"/>
            <a:ext cx="1494383" cy="369332"/>
          </a:xfrm>
          <a:prstGeom prst="rect">
            <a:avLst/>
          </a:prstGeom>
          <a:noFill/>
        </p:spPr>
        <p:txBody>
          <a:bodyPr wrap="none" rtlCol="0">
            <a:spAutoFit/>
          </a:bodyPr>
          <a:lstStyle/>
          <a:p>
            <a:r>
              <a:rPr lang="en-US" dirty="0"/>
              <a:t>pic unrelated</a:t>
            </a:r>
          </a:p>
        </p:txBody>
      </p:sp>
    </p:spTree>
    <p:extLst>
      <p:ext uri="{BB962C8B-B14F-4D97-AF65-F5344CB8AC3E}">
        <p14:creationId xmlns:p14="http://schemas.microsoft.com/office/powerpoint/2010/main" val="14737627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49190-E5F6-B7EC-D992-C428C5B673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1C3CCC-E020-7A7C-00B9-5C18919F6C7B}"/>
              </a:ext>
            </a:extLst>
          </p:cNvPr>
          <p:cNvSpPr>
            <a:spLocks noGrp="1"/>
          </p:cNvSpPr>
          <p:nvPr>
            <p:ph type="title"/>
          </p:nvPr>
        </p:nvSpPr>
        <p:spPr/>
        <p:txBody>
          <a:bodyPr/>
          <a:lstStyle/>
          <a:p>
            <a:r>
              <a:rPr lang="en-US" dirty="0"/>
              <a:t>Taylor Series expansion applied to a PES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BEC3CBB-58F1-8A43-2F17-4FD92316B001}"/>
                  </a:ext>
                </a:extLst>
              </p:cNvPr>
              <p:cNvSpPr>
                <a:spLocks noGrp="1"/>
              </p:cNvSpPr>
              <p:nvPr>
                <p:ph idx="1"/>
              </p:nvPr>
            </p:nvSpPr>
            <p:spPr/>
            <p:txBody>
              <a:bodyPr/>
              <a:lstStyle/>
              <a:p>
                <a:r>
                  <a:rPr lang="en-US" dirty="0"/>
                  <a:t>A Maclaurin series, where </a:t>
                </a:r>
                <a14:m>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=0</m:t>
                    </m:r>
                  </m:oMath>
                </a14:m>
                <a:r>
                  <a:rPr lang="en-US" dirty="0"/>
                  <a:t>, yields a more succinct expression.</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0</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𝑓</m:t>
                              </m:r>
                            </m:e>
                            <m:sup>
                              <m:r>
                                <a:rPr lang="en-US" b="0" i="1" smtClean="0">
                                  <a:latin typeface="Cambria Math" panose="02040503050406030204" pitchFamily="18" charset="0"/>
                                </a:rPr>
                                <m:t>′</m:t>
                              </m:r>
                            </m:sup>
                          </m:sSup>
                          <m:d>
                            <m:dPr>
                              <m:ctrlPr>
                                <a:rPr lang="en-US" b="0" i="1" smtClean="0">
                                  <a:latin typeface="Cambria Math" panose="02040503050406030204" pitchFamily="18" charset="0"/>
                                </a:rPr>
                              </m:ctrlPr>
                            </m:dPr>
                            <m:e>
                              <m:r>
                                <a:rPr lang="en-US" b="0" i="1" smtClean="0">
                                  <a:latin typeface="Cambria Math" panose="02040503050406030204" pitchFamily="18" charset="0"/>
                                </a:rPr>
                                <m:t>0</m:t>
                              </m:r>
                            </m:e>
                          </m:d>
                          <m:r>
                            <m:rPr>
                              <m:nor/>
                            </m:rPr>
                            <a:rPr lang="en-US" dirty="0"/>
                            <m:t> </m:t>
                          </m:r>
                        </m:num>
                        <m:den>
                          <m:r>
                            <a:rPr lang="en-US" b="0" i="1" smtClean="0">
                              <a:latin typeface="Cambria Math" panose="02040503050406030204" pitchFamily="18" charset="0"/>
                            </a:rPr>
                            <m:t>1!</m:t>
                          </m:r>
                        </m:den>
                      </m:f>
                      <m:r>
                        <a:rPr lang="en-US" b="0" i="1" smtClean="0">
                          <a:latin typeface="Cambria Math" panose="02040503050406030204" pitchFamily="18" charset="0"/>
                        </a:rPr>
                        <m:t>𝑥</m:t>
                      </m:r>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𝑓</m:t>
                              </m:r>
                            </m:e>
                            <m:sup>
                              <m:r>
                                <a:rPr lang="en-US" b="0" i="1" smtClean="0">
                                  <a:latin typeface="Cambria Math" panose="02040503050406030204" pitchFamily="18" charset="0"/>
                                </a:rPr>
                                <m:t>′</m:t>
                              </m:r>
                              <m:r>
                                <a:rPr lang="en-US" b="0" i="1" smtClean="0">
                                  <a:latin typeface="Cambria Math" panose="02040503050406030204" pitchFamily="18" charset="0"/>
                                </a:rPr>
                                <m:t>′</m:t>
                              </m:r>
                            </m:sup>
                          </m:sSup>
                          <m:d>
                            <m:dPr>
                              <m:ctrlPr>
                                <a:rPr lang="en-US" b="0" i="1" smtClean="0">
                                  <a:latin typeface="Cambria Math" panose="02040503050406030204" pitchFamily="18" charset="0"/>
                                </a:rPr>
                              </m:ctrlPr>
                            </m:dPr>
                            <m:e>
                              <m:r>
                                <a:rPr lang="en-US" b="0" i="1" smtClean="0">
                                  <a:latin typeface="Cambria Math" panose="02040503050406030204" pitchFamily="18" charset="0"/>
                                </a:rPr>
                                <m:t>0</m:t>
                              </m:r>
                            </m:e>
                          </m:d>
                          <m:r>
                            <m:rPr>
                              <m:nor/>
                            </m:rPr>
                            <a:rPr lang="en-US" i="0" dirty="0"/>
                            <m:t> </m:t>
                          </m:r>
                        </m:num>
                        <m:den>
                          <m:r>
                            <a:rPr lang="en-US" b="0" i="1" dirty="0" smtClean="0">
                              <a:latin typeface="Cambria Math" panose="02040503050406030204" pitchFamily="18" charset="0"/>
                            </a:rPr>
                            <m:t>2</m:t>
                          </m:r>
                          <m:r>
                            <a:rPr lang="en-US" b="0" i="1" smtClean="0">
                              <a:latin typeface="Cambria Math" panose="02040503050406030204" pitchFamily="18" charset="0"/>
                            </a:rPr>
                            <m:t>!</m:t>
                          </m:r>
                        </m:den>
                      </m:f>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2</m:t>
                          </m:r>
                        </m:sup>
                      </m:sSup>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𝑛</m:t>
                          </m:r>
                          <m:r>
                            <a:rPr lang="en-US" b="0" i="1" smtClean="0">
                              <a:latin typeface="Cambria Math" panose="02040503050406030204" pitchFamily="18" charset="0"/>
                            </a:rPr>
                            <m:t>=0</m:t>
                          </m:r>
                        </m:sub>
                        <m:sup>
                          <m:r>
                            <a:rPr lang="en-US" b="0" i="1" smtClean="0">
                              <a:latin typeface="Cambria Math" panose="02040503050406030204" pitchFamily="18" charset="0"/>
                              <a:ea typeface="Cambria Math" panose="02040503050406030204" pitchFamily="18" charset="0"/>
                            </a:rPr>
                            <m:t>∞</m:t>
                          </m:r>
                        </m:sup>
                        <m:e>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𝑓</m:t>
                                  </m:r>
                                </m:e>
                                <m:sup>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sup>
                              </m:sSup>
                              <m:d>
                                <m:dPr>
                                  <m:ctrlPr>
                                    <a:rPr lang="en-US" b="0" i="1" smtClean="0">
                                      <a:latin typeface="Cambria Math" panose="02040503050406030204" pitchFamily="18" charset="0"/>
                                    </a:rPr>
                                  </m:ctrlPr>
                                </m:dPr>
                                <m:e>
                                  <m:r>
                                    <a:rPr lang="en-US" b="0" i="1" smtClean="0">
                                      <a:latin typeface="Cambria Math" panose="02040503050406030204" pitchFamily="18" charset="0"/>
                                    </a:rPr>
                                    <m:t>0</m:t>
                                  </m:r>
                                </m:e>
                              </m:d>
                              <m:r>
                                <m:rPr>
                                  <m:nor/>
                                </m:rPr>
                                <a:rPr lang="en-US" i="0" dirty="0"/>
                                <m:t> </m:t>
                              </m:r>
                            </m:num>
                            <m:den>
                              <m:r>
                                <a:rPr lang="en-US" b="0" i="1" dirty="0" smtClean="0">
                                  <a:latin typeface="Cambria Math" panose="02040503050406030204" pitchFamily="18" charset="0"/>
                                </a:rPr>
                                <m:t>𝑛</m:t>
                              </m:r>
                              <m:r>
                                <a:rPr lang="en-US" b="0" i="1" smtClean="0">
                                  <a:latin typeface="Cambria Math" panose="02040503050406030204" pitchFamily="18" charset="0"/>
                                </a:rPr>
                                <m:t>!</m:t>
                              </m:r>
                            </m:den>
                          </m:f>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𝑛</m:t>
                              </m:r>
                            </m:sup>
                          </m:sSup>
                        </m:e>
                      </m:nary>
                    </m:oMath>
                  </m:oMathPara>
                </a14:m>
                <a:endParaRPr lang="en-US" dirty="0"/>
              </a:p>
            </p:txBody>
          </p:sp>
        </mc:Choice>
        <mc:Fallback>
          <p:sp>
            <p:nvSpPr>
              <p:cNvPr id="3" name="Content Placeholder 2">
                <a:extLst>
                  <a:ext uri="{FF2B5EF4-FFF2-40B4-BE49-F238E27FC236}">
                    <a16:creationId xmlns:a16="http://schemas.microsoft.com/office/drawing/2014/main" id="{6BEC3CBB-58F1-8A43-2F17-4FD92316B001}"/>
                  </a:ext>
                </a:extLst>
              </p:cNvPr>
              <p:cNvSpPr>
                <a:spLocks noGrp="1" noRot="1" noChangeAspect="1" noMove="1" noResize="1" noEditPoints="1" noAdjustHandles="1" noChangeArrowheads="1" noChangeShapeType="1" noTextEdit="1"/>
              </p:cNvSpPr>
              <p:nvPr>
                <p:ph idx="1"/>
              </p:nvPr>
            </p:nvSpPr>
            <p:spPr>
              <a:blipFill>
                <a:blip r:embed="rId2"/>
                <a:stretch>
                  <a:fillRect l="-1086" t="-15698"/>
                </a:stretch>
              </a:blipFill>
            </p:spPr>
            <p:txBody>
              <a:bodyPr/>
              <a:lstStyle/>
              <a:p>
                <a:r>
                  <a:rPr lang="en-US">
                    <a:noFill/>
                  </a:rPr>
                  <a:t> </a:t>
                </a:r>
              </a:p>
            </p:txBody>
          </p:sp>
        </mc:Fallback>
      </mc:AlternateContent>
      <p:pic>
        <p:nvPicPr>
          <p:cNvPr id="4" name="Picture 3" descr="Insiders Revealing the Truth About Taylor Swift's Directorial Debut">
            <a:extLst>
              <a:ext uri="{FF2B5EF4-FFF2-40B4-BE49-F238E27FC236}">
                <a16:creationId xmlns:a16="http://schemas.microsoft.com/office/drawing/2014/main" id="{04418A37-56D1-B6DA-C324-BDC1970FDA6E}"/>
              </a:ext>
            </a:extLst>
          </p:cNvPr>
          <p:cNvPicPr>
            <a:picLocks noChangeAspect="1"/>
          </p:cNvPicPr>
          <p:nvPr/>
        </p:nvPicPr>
        <p:blipFill>
          <a:blip r:embed="rId3"/>
          <a:stretch>
            <a:fillRect/>
          </a:stretch>
        </p:blipFill>
        <p:spPr>
          <a:xfrm>
            <a:off x="10907369" y="86794"/>
            <a:ext cx="1188934" cy="1540096"/>
          </a:xfrm>
          <a:prstGeom prst="rect">
            <a:avLst/>
          </a:prstGeom>
        </p:spPr>
      </p:pic>
      <p:sp>
        <p:nvSpPr>
          <p:cNvPr id="5" name="TextBox 4">
            <a:extLst>
              <a:ext uri="{FF2B5EF4-FFF2-40B4-BE49-F238E27FC236}">
                <a16:creationId xmlns:a16="http://schemas.microsoft.com/office/drawing/2014/main" id="{5D02C2C4-AC01-9C90-7A5F-B10949D79B1B}"/>
              </a:ext>
            </a:extLst>
          </p:cNvPr>
          <p:cNvSpPr txBox="1"/>
          <p:nvPr/>
        </p:nvSpPr>
        <p:spPr>
          <a:xfrm>
            <a:off x="10754644" y="1573491"/>
            <a:ext cx="1494383" cy="369332"/>
          </a:xfrm>
          <a:prstGeom prst="rect">
            <a:avLst/>
          </a:prstGeom>
          <a:noFill/>
        </p:spPr>
        <p:txBody>
          <a:bodyPr wrap="none" rtlCol="0">
            <a:spAutoFit/>
          </a:bodyPr>
          <a:lstStyle/>
          <a:p>
            <a:r>
              <a:rPr lang="en-US" dirty="0"/>
              <a:t>pic unrelated</a:t>
            </a:r>
          </a:p>
        </p:txBody>
      </p:sp>
    </p:spTree>
    <p:extLst>
      <p:ext uri="{BB962C8B-B14F-4D97-AF65-F5344CB8AC3E}">
        <p14:creationId xmlns:p14="http://schemas.microsoft.com/office/powerpoint/2010/main" val="29926498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31C38-6D6E-109A-31B5-D42A1AEF0C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E14699-9123-C479-89A7-CAB8B1771CE6}"/>
              </a:ext>
            </a:extLst>
          </p:cNvPr>
          <p:cNvSpPr>
            <a:spLocks noGrp="1"/>
          </p:cNvSpPr>
          <p:nvPr>
            <p:ph type="title"/>
          </p:nvPr>
        </p:nvSpPr>
        <p:spPr/>
        <p:txBody>
          <a:bodyPr/>
          <a:lstStyle/>
          <a:p>
            <a:r>
              <a:rPr lang="en-US" dirty="0"/>
              <a:t>Taylor Series expansion applied to a PES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F45BB1B-062D-0011-0D0A-7D3B0EBB90F0}"/>
                  </a:ext>
                </a:extLst>
              </p:cNvPr>
              <p:cNvSpPr>
                <a:spLocks noGrp="1"/>
              </p:cNvSpPr>
              <p:nvPr>
                <p:ph idx="1"/>
              </p:nvPr>
            </p:nvSpPr>
            <p:spPr/>
            <p:txBody>
              <a:bodyPr/>
              <a:lstStyle/>
              <a:p>
                <a:r>
                  <a:rPr lang="en-US" dirty="0"/>
                  <a:t>A Maclaurin series, where </a:t>
                </a:r>
                <a14:m>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=0</m:t>
                    </m:r>
                  </m:oMath>
                </a14:m>
                <a:r>
                  <a:rPr lang="en-US" dirty="0"/>
                  <a:t>, yields a more succinct expression.</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0</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𝑓</m:t>
                              </m:r>
                            </m:e>
                            <m:sup>
                              <m:r>
                                <a:rPr lang="en-US" b="0" i="1" smtClean="0">
                                  <a:latin typeface="Cambria Math" panose="02040503050406030204" pitchFamily="18" charset="0"/>
                                </a:rPr>
                                <m:t>′</m:t>
                              </m:r>
                            </m:sup>
                          </m:sSup>
                          <m:d>
                            <m:dPr>
                              <m:ctrlPr>
                                <a:rPr lang="en-US" b="0" i="1" smtClean="0">
                                  <a:latin typeface="Cambria Math" panose="02040503050406030204" pitchFamily="18" charset="0"/>
                                </a:rPr>
                              </m:ctrlPr>
                            </m:dPr>
                            <m:e>
                              <m:r>
                                <a:rPr lang="en-US" b="0" i="1" smtClean="0">
                                  <a:latin typeface="Cambria Math" panose="02040503050406030204" pitchFamily="18" charset="0"/>
                                </a:rPr>
                                <m:t>0</m:t>
                              </m:r>
                            </m:e>
                          </m:d>
                          <m:r>
                            <m:rPr>
                              <m:nor/>
                            </m:rPr>
                            <a:rPr lang="en-US" dirty="0"/>
                            <m:t> </m:t>
                          </m:r>
                        </m:num>
                        <m:den>
                          <m:r>
                            <a:rPr lang="en-US" b="0" i="1" smtClean="0">
                              <a:latin typeface="Cambria Math" panose="02040503050406030204" pitchFamily="18" charset="0"/>
                            </a:rPr>
                            <m:t>1!</m:t>
                          </m:r>
                        </m:den>
                      </m:f>
                      <m:r>
                        <a:rPr lang="en-US" b="0" i="1" smtClean="0">
                          <a:latin typeface="Cambria Math" panose="02040503050406030204" pitchFamily="18" charset="0"/>
                        </a:rPr>
                        <m:t>𝑥</m:t>
                      </m:r>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𝑓</m:t>
                              </m:r>
                            </m:e>
                            <m:sup>
                              <m:r>
                                <a:rPr lang="en-US" b="0" i="1" smtClean="0">
                                  <a:latin typeface="Cambria Math" panose="02040503050406030204" pitchFamily="18" charset="0"/>
                                </a:rPr>
                                <m:t>′</m:t>
                              </m:r>
                              <m:r>
                                <a:rPr lang="en-US" b="0" i="1" smtClean="0">
                                  <a:latin typeface="Cambria Math" panose="02040503050406030204" pitchFamily="18" charset="0"/>
                                </a:rPr>
                                <m:t>′</m:t>
                              </m:r>
                            </m:sup>
                          </m:sSup>
                          <m:d>
                            <m:dPr>
                              <m:ctrlPr>
                                <a:rPr lang="en-US" b="0" i="1" smtClean="0">
                                  <a:latin typeface="Cambria Math" panose="02040503050406030204" pitchFamily="18" charset="0"/>
                                </a:rPr>
                              </m:ctrlPr>
                            </m:dPr>
                            <m:e>
                              <m:r>
                                <a:rPr lang="en-US" b="0" i="1" smtClean="0">
                                  <a:latin typeface="Cambria Math" panose="02040503050406030204" pitchFamily="18" charset="0"/>
                                </a:rPr>
                                <m:t>0</m:t>
                              </m:r>
                            </m:e>
                          </m:d>
                          <m:r>
                            <m:rPr>
                              <m:nor/>
                            </m:rPr>
                            <a:rPr lang="en-US" i="0" dirty="0"/>
                            <m:t> </m:t>
                          </m:r>
                        </m:num>
                        <m:den>
                          <m:r>
                            <a:rPr lang="en-US" b="0" i="1" dirty="0" smtClean="0">
                              <a:latin typeface="Cambria Math" panose="02040503050406030204" pitchFamily="18" charset="0"/>
                            </a:rPr>
                            <m:t>2</m:t>
                          </m:r>
                          <m:r>
                            <a:rPr lang="en-US" b="0" i="1" smtClean="0">
                              <a:latin typeface="Cambria Math" panose="02040503050406030204" pitchFamily="18" charset="0"/>
                            </a:rPr>
                            <m:t>!</m:t>
                          </m:r>
                        </m:den>
                      </m:f>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2</m:t>
                          </m:r>
                        </m:sup>
                      </m:sSup>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𝑛</m:t>
                          </m:r>
                          <m:r>
                            <a:rPr lang="en-US" b="0" i="1" smtClean="0">
                              <a:latin typeface="Cambria Math" panose="02040503050406030204" pitchFamily="18" charset="0"/>
                            </a:rPr>
                            <m:t>=0</m:t>
                          </m:r>
                        </m:sub>
                        <m:sup>
                          <m:r>
                            <a:rPr lang="en-US" b="0" i="1" smtClean="0">
                              <a:latin typeface="Cambria Math" panose="02040503050406030204" pitchFamily="18" charset="0"/>
                              <a:ea typeface="Cambria Math" panose="02040503050406030204" pitchFamily="18" charset="0"/>
                            </a:rPr>
                            <m:t>∞</m:t>
                          </m:r>
                        </m:sup>
                        <m:e>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𝑓</m:t>
                                  </m:r>
                                </m:e>
                                <m:sup>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sup>
                              </m:sSup>
                              <m:d>
                                <m:dPr>
                                  <m:ctrlPr>
                                    <a:rPr lang="en-US" b="0" i="1" smtClean="0">
                                      <a:latin typeface="Cambria Math" panose="02040503050406030204" pitchFamily="18" charset="0"/>
                                    </a:rPr>
                                  </m:ctrlPr>
                                </m:dPr>
                                <m:e>
                                  <m:r>
                                    <a:rPr lang="en-US" b="0" i="1" smtClean="0">
                                      <a:latin typeface="Cambria Math" panose="02040503050406030204" pitchFamily="18" charset="0"/>
                                    </a:rPr>
                                    <m:t>0</m:t>
                                  </m:r>
                                </m:e>
                              </m:d>
                              <m:r>
                                <m:rPr>
                                  <m:nor/>
                                </m:rPr>
                                <a:rPr lang="en-US" i="0" dirty="0"/>
                                <m:t> </m:t>
                              </m:r>
                            </m:num>
                            <m:den>
                              <m:r>
                                <a:rPr lang="en-US" b="0" i="1" dirty="0" smtClean="0">
                                  <a:latin typeface="Cambria Math" panose="02040503050406030204" pitchFamily="18" charset="0"/>
                                </a:rPr>
                                <m:t>𝑛</m:t>
                              </m:r>
                              <m:r>
                                <a:rPr lang="en-US" b="0" i="1" smtClean="0">
                                  <a:latin typeface="Cambria Math" panose="02040503050406030204" pitchFamily="18" charset="0"/>
                                </a:rPr>
                                <m:t>!</m:t>
                              </m:r>
                            </m:den>
                          </m:f>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𝑛</m:t>
                              </m:r>
                            </m:sup>
                          </m:sSup>
                        </m:e>
                      </m:nary>
                    </m:oMath>
                  </m:oMathPara>
                </a14:m>
                <a:endParaRPr lang="en-US" dirty="0"/>
              </a:p>
              <a:p>
                <a:r>
                  <a:rPr lang="en-US" dirty="0"/>
                  <a:t>The math is a bit esoteric, so let’s check out a visualization of what it means.</a:t>
                </a:r>
              </a:p>
            </p:txBody>
          </p:sp>
        </mc:Choice>
        <mc:Fallback>
          <p:sp>
            <p:nvSpPr>
              <p:cNvPr id="3" name="Content Placeholder 2">
                <a:extLst>
                  <a:ext uri="{FF2B5EF4-FFF2-40B4-BE49-F238E27FC236}">
                    <a16:creationId xmlns:a16="http://schemas.microsoft.com/office/drawing/2014/main" id="{8F45BB1B-062D-0011-0D0A-7D3B0EBB90F0}"/>
                  </a:ext>
                </a:extLst>
              </p:cNvPr>
              <p:cNvSpPr>
                <a:spLocks noGrp="1" noRot="1" noChangeAspect="1" noMove="1" noResize="1" noEditPoints="1" noAdjustHandles="1" noChangeArrowheads="1" noChangeShapeType="1" noTextEdit="1"/>
              </p:cNvSpPr>
              <p:nvPr>
                <p:ph idx="1"/>
              </p:nvPr>
            </p:nvSpPr>
            <p:spPr>
              <a:blipFill>
                <a:blip r:embed="rId2"/>
                <a:stretch>
                  <a:fillRect l="-1086" t="-15698" r="-1689"/>
                </a:stretch>
              </a:blipFill>
            </p:spPr>
            <p:txBody>
              <a:bodyPr/>
              <a:lstStyle/>
              <a:p>
                <a:r>
                  <a:rPr lang="en-US">
                    <a:noFill/>
                  </a:rPr>
                  <a:t> </a:t>
                </a:r>
              </a:p>
            </p:txBody>
          </p:sp>
        </mc:Fallback>
      </mc:AlternateContent>
      <p:pic>
        <p:nvPicPr>
          <p:cNvPr id="4" name="Picture 3" descr="Insiders Revealing the Truth About Taylor Swift's Directorial Debut">
            <a:extLst>
              <a:ext uri="{FF2B5EF4-FFF2-40B4-BE49-F238E27FC236}">
                <a16:creationId xmlns:a16="http://schemas.microsoft.com/office/drawing/2014/main" id="{87472FC6-02F7-E376-86BC-B234B1836C1E}"/>
              </a:ext>
            </a:extLst>
          </p:cNvPr>
          <p:cNvPicPr>
            <a:picLocks noChangeAspect="1"/>
          </p:cNvPicPr>
          <p:nvPr/>
        </p:nvPicPr>
        <p:blipFill>
          <a:blip r:embed="rId3"/>
          <a:stretch>
            <a:fillRect/>
          </a:stretch>
        </p:blipFill>
        <p:spPr>
          <a:xfrm>
            <a:off x="10907369" y="86794"/>
            <a:ext cx="1188934" cy="1540096"/>
          </a:xfrm>
          <a:prstGeom prst="rect">
            <a:avLst/>
          </a:prstGeom>
        </p:spPr>
      </p:pic>
      <p:sp>
        <p:nvSpPr>
          <p:cNvPr id="5" name="TextBox 4">
            <a:extLst>
              <a:ext uri="{FF2B5EF4-FFF2-40B4-BE49-F238E27FC236}">
                <a16:creationId xmlns:a16="http://schemas.microsoft.com/office/drawing/2014/main" id="{3979E65E-3A44-DDB0-C043-E6CA4981B291}"/>
              </a:ext>
            </a:extLst>
          </p:cNvPr>
          <p:cNvSpPr txBox="1"/>
          <p:nvPr/>
        </p:nvSpPr>
        <p:spPr>
          <a:xfrm>
            <a:off x="10754644" y="1573491"/>
            <a:ext cx="1494383" cy="369332"/>
          </a:xfrm>
          <a:prstGeom prst="rect">
            <a:avLst/>
          </a:prstGeom>
          <a:noFill/>
        </p:spPr>
        <p:txBody>
          <a:bodyPr wrap="none" rtlCol="0">
            <a:spAutoFit/>
          </a:bodyPr>
          <a:lstStyle/>
          <a:p>
            <a:r>
              <a:rPr lang="en-US" dirty="0"/>
              <a:t>pic unrelated</a:t>
            </a:r>
          </a:p>
        </p:txBody>
      </p:sp>
    </p:spTree>
    <p:extLst>
      <p:ext uri="{BB962C8B-B14F-4D97-AF65-F5344CB8AC3E}">
        <p14:creationId xmlns:p14="http://schemas.microsoft.com/office/powerpoint/2010/main" val="40609682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B1F331-C969-DC40-08C9-3642E90471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C0BD96-B0FF-8878-8B02-A313E95DD17F}"/>
              </a:ext>
            </a:extLst>
          </p:cNvPr>
          <p:cNvSpPr>
            <a:spLocks noGrp="1"/>
          </p:cNvSpPr>
          <p:nvPr>
            <p:ph type="title"/>
          </p:nvPr>
        </p:nvSpPr>
        <p:spPr/>
        <p:txBody>
          <a:bodyPr/>
          <a:lstStyle/>
          <a:p>
            <a:r>
              <a:rPr lang="en-US" dirty="0"/>
              <a:t>Taylor Series on a Morse Oscillator</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453B904-A7A1-2295-9554-E365E90CE3F5}"/>
                  </a:ext>
                </a:extLst>
              </p:cNvPr>
              <p:cNvSpPr>
                <a:spLocks noGrp="1"/>
              </p:cNvSpPr>
              <p:nvPr>
                <p:ph idx="1"/>
              </p:nvPr>
            </p:nvSpPr>
            <p:spPr/>
            <p:txBody>
              <a:bodyPr/>
              <a:lstStyle/>
              <a:p>
                <a:r>
                  <a:rPr lang="en-US" dirty="0"/>
                  <a:t>A diatomic molecular potential can be well approximated by a Morse potential.</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𝑉</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𝑒</m:t>
                          </m:r>
                        </m:sub>
                      </m:sSub>
                      <m:sSup>
                        <m:sSupPr>
                          <m:ctrlPr>
                            <a:rPr lang="en-US" b="0" i="1" smtClean="0">
                              <a:latin typeface="Cambria Math" panose="02040503050406030204" pitchFamily="18" charset="0"/>
                            </a:rPr>
                          </m:ctrlPr>
                        </m:sSupPr>
                        <m:e>
                          <m:r>
                            <a:rPr lang="en-US" b="0" i="1" smtClean="0">
                              <a:latin typeface="Cambria Math" panose="02040503050406030204" pitchFamily="18" charset="0"/>
                            </a:rPr>
                            <m:t>[1−</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𝑥</m:t>
                              </m:r>
                            </m:sup>
                          </m:sSup>
                          <m:r>
                            <a:rPr lang="en-US" b="0" i="1" smtClean="0">
                              <a:latin typeface="Cambria Math" panose="02040503050406030204" pitchFamily="18" charset="0"/>
                            </a:rPr>
                            <m:t>]</m:t>
                          </m:r>
                        </m:e>
                        <m:sup>
                          <m:r>
                            <a:rPr lang="en-US" b="0" i="1" smtClean="0">
                              <a:latin typeface="Cambria Math" panose="02040503050406030204" pitchFamily="18" charset="0"/>
                            </a:rPr>
                            <m:t>2</m:t>
                          </m:r>
                        </m:sup>
                      </m:sSup>
                    </m:oMath>
                  </m:oMathPara>
                </a14:m>
                <a:endParaRPr lang="en-US" dirty="0"/>
              </a:p>
            </p:txBody>
          </p:sp>
        </mc:Choice>
        <mc:Fallback>
          <p:sp>
            <p:nvSpPr>
              <p:cNvPr id="3" name="Content Placeholder 2">
                <a:extLst>
                  <a:ext uri="{FF2B5EF4-FFF2-40B4-BE49-F238E27FC236}">
                    <a16:creationId xmlns:a16="http://schemas.microsoft.com/office/drawing/2014/main" id="{1453B904-A7A1-2295-9554-E365E90CE3F5}"/>
                  </a:ext>
                </a:extLst>
              </p:cNvPr>
              <p:cNvSpPr>
                <a:spLocks noGrp="1" noRot="1" noChangeAspect="1" noMove="1" noResize="1" noEditPoints="1" noAdjustHandles="1" noChangeArrowheads="1" noChangeShapeType="1" noTextEdit="1"/>
              </p:cNvSpPr>
              <p:nvPr>
                <p:ph idx="1"/>
              </p:nvPr>
            </p:nvSpPr>
            <p:spPr>
              <a:blipFill>
                <a:blip r:embed="rId2"/>
                <a:stretch>
                  <a:fillRect l="-1086" t="-2326"/>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BBA59DBC-6648-B6E7-F819-E8584EF060D8}"/>
              </a:ext>
            </a:extLst>
          </p:cNvPr>
          <p:cNvPicPr>
            <a:picLocks noChangeAspect="1"/>
          </p:cNvPicPr>
          <p:nvPr/>
        </p:nvPicPr>
        <p:blipFill>
          <a:blip r:embed="rId3"/>
          <a:stretch>
            <a:fillRect/>
          </a:stretch>
        </p:blipFill>
        <p:spPr>
          <a:xfrm>
            <a:off x="3547730" y="3587720"/>
            <a:ext cx="5096540" cy="3270280"/>
          </a:xfrm>
          <a:prstGeom prst="rect">
            <a:avLst/>
          </a:prstGeom>
        </p:spPr>
      </p:pic>
      <p:pic>
        <p:nvPicPr>
          <p:cNvPr id="5" name="Picture 4" descr="Insiders Revealing the Truth About Taylor Swift's Directorial Debut">
            <a:extLst>
              <a:ext uri="{FF2B5EF4-FFF2-40B4-BE49-F238E27FC236}">
                <a16:creationId xmlns:a16="http://schemas.microsoft.com/office/drawing/2014/main" id="{8C2959CF-25BD-A6C0-C44E-533008D59AD9}"/>
              </a:ext>
            </a:extLst>
          </p:cNvPr>
          <p:cNvPicPr>
            <a:picLocks noChangeAspect="1"/>
          </p:cNvPicPr>
          <p:nvPr/>
        </p:nvPicPr>
        <p:blipFill>
          <a:blip r:embed="rId4"/>
          <a:stretch>
            <a:fillRect/>
          </a:stretch>
        </p:blipFill>
        <p:spPr>
          <a:xfrm>
            <a:off x="10907369" y="86794"/>
            <a:ext cx="1188934" cy="1540096"/>
          </a:xfrm>
          <a:prstGeom prst="rect">
            <a:avLst/>
          </a:prstGeom>
        </p:spPr>
      </p:pic>
      <p:sp>
        <p:nvSpPr>
          <p:cNvPr id="6" name="TextBox 5">
            <a:extLst>
              <a:ext uri="{FF2B5EF4-FFF2-40B4-BE49-F238E27FC236}">
                <a16:creationId xmlns:a16="http://schemas.microsoft.com/office/drawing/2014/main" id="{5DD8E7C2-B5F2-87CC-16A4-6C5D3EB8EF3C}"/>
              </a:ext>
            </a:extLst>
          </p:cNvPr>
          <p:cNvSpPr txBox="1"/>
          <p:nvPr/>
        </p:nvSpPr>
        <p:spPr>
          <a:xfrm>
            <a:off x="10754644" y="1573491"/>
            <a:ext cx="1494383" cy="369332"/>
          </a:xfrm>
          <a:prstGeom prst="rect">
            <a:avLst/>
          </a:prstGeom>
          <a:noFill/>
        </p:spPr>
        <p:txBody>
          <a:bodyPr wrap="none" rtlCol="0">
            <a:spAutoFit/>
          </a:bodyPr>
          <a:lstStyle/>
          <a:p>
            <a:r>
              <a:rPr lang="en-US" dirty="0"/>
              <a:t>pic unrelated</a:t>
            </a:r>
          </a:p>
        </p:txBody>
      </p:sp>
    </p:spTree>
    <p:extLst>
      <p:ext uri="{BB962C8B-B14F-4D97-AF65-F5344CB8AC3E}">
        <p14:creationId xmlns:p14="http://schemas.microsoft.com/office/powerpoint/2010/main" val="12809479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7064DF-32B9-B14C-9C59-DCD364F4FC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DBA3AE-B4F9-FF0D-9919-475AFCC45EA6}"/>
              </a:ext>
            </a:extLst>
          </p:cNvPr>
          <p:cNvSpPr>
            <a:spLocks noGrp="1"/>
          </p:cNvSpPr>
          <p:nvPr>
            <p:ph type="title"/>
          </p:nvPr>
        </p:nvSpPr>
        <p:spPr/>
        <p:txBody>
          <a:bodyPr/>
          <a:lstStyle/>
          <a:p>
            <a:r>
              <a:rPr lang="en-US" dirty="0"/>
              <a:t>Taylor Series on a Morse Oscillator</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0817049-FF61-D5A5-7812-357D66576848}"/>
                  </a:ext>
                </a:extLst>
              </p:cNvPr>
              <p:cNvSpPr>
                <a:spLocks noGrp="1"/>
              </p:cNvSpPr>
              <p:nvPr>
                <p:ph idx="1"/>
              </p:nvPr>
            </p:nvSpPr>
            <p:spPr/>
            <p:txBody>
              <a:bodyPr/>
              <a:lstStyle/>
              <a:p>
                <a:r>
                  <a:rPr lang="en-US" dirty="0"/>
                  <a:t>A diatomic molecular potential can be well approximated by a Morse potential.</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𝑉</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𝑒</m:t>
                          </m:r>
                        </m:sub>
                      </m:sSub>
                      <m:sSup>
                        <m:sSupPr>
                          <m:ctrlPr>
                            <a:rPr lang="en-US" b="0" i="1" smtClean="0">
                              <a:latin typeface="Cambria Math" panose="02040503050406030204" pitchFamily="18" charset="0"/>
                            </a:rPr>
                          </m:ctrlPr>
                        </m:sSupPr>
                        <m:e>
                          <m:r>
                            <a:rPr lang="en-US" b="0" i="1" smtClean="0">
                              <a:latin typeface="Cambria Math" panose="02040503050406030204" pitchFamily="18" charset="0"/>
                            </a:rPr>
                            <m:t>[1−</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𝑥</m:t>
                              </m:r>
                            </m:sup>
                          </m:sSup>
                          <m:r>
                            <a:rPr lang="en-US" b="0" i="1" smtClean="0">
                              <a:latin typeface="Cambria Math" panose="02040503050406030204" pitchFamily="18" charset="0"/>
                            </a:rPr>
                            <m:t>]</m:t>
                          </m:r>
                        </m:e>
                        <m:sup>
                          <m:r>
                            <a:rPr lang="en-US" b="0" i="1" smtClean="0">
                              <a:latin typeface="Cambria Math" panose="02040503050406030204" pitchFamily="18" charset="0"/>
                            </a:rPr>
                            <m:t>2</m:t>
                          </m:r>
                        </m:sup>
                      </m:sSup>
                    </m:oMath>
                  </m:oMathPara>
                </a14:m>
                <a:endParaRPr lang="en-US" dirty="0"/>
              </a:p>
              <a:p>
                <a:r>
                  <a:rPr lang="en-US" dirty="0"/>
                  <a:t>What happens if we expand our Taylor Series about 0?</a:t>
                </a:r>
              </a:p>
            </p:txBody>
          </p:sp>
        </mc:Choice>
        <mc:Fallback>
          <p:sp>
            <p:nvSpPr>
              <p:cNvPr id="3" name="Content Placeholder 2">
                <a:extLst>
                  <a:ext uri="{FF2B5EF4-FFF2-40B4-BE49-F238E27FC236}">
                    <a16:creationId xmlns:a16="http://schemas.microsoft.com/office/drawing/2014/main" id="{40817049-FF61-D5A5-7812-357D66576848}"/>
                  </a:ext>
                </a:extLst>
              </p:cNvPr>
              <p:cNvSpPr>
                <a:spLocks noGrp="1" noRot="1" noChangeAspect="1" noMove="1" noResize="1" noEditPoints="1" noAdjustHandles="1" noChangeArrowheads="1" noChangeShapeType="1" noTextEdit="1"/>
              </p:cNvSpPr>
              <p:nvPr>
                <p:ph idx="1"/>
              </p:nvPr>
            </p:nvSpPr>
            <p:spPr>
              <a:blipFill>
                <a:blip r:embed="rId2"/>
                <a:stretch>
                  <a:fillRect l="-1086" t="-2326"/>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1ED4C47D-C0EA-4E10-EDC4-B1E05D335E17}"/>
              </a:ext>
            </a:extLst>
          </p:cNvPr>
          <p:cNvPicPr>
            <a:picLocks noChangeAspect="1"/>
          </p:cNvPicPr>
          <p:nvPr/>
        </p:nvPicPr>
        <p:blipFill>
          <a:blip r:embed="rId3"/>
          <a:stretch>
            <a:fillRect/>
          </a:stretch>
        </p:blipFill>
        <p:spPr>
          <a:xfrm>
            <a:off x="3547730" y="3587720"/>
            <a:ext cx="5096540" cy="3270280"/>
          </a:xfrm>
          <a:prstGeom prst="rect">
            <a:avLst/>
          </a:prstGeom>
        </p:spPr>
      </p:pic>
      <p:pic>
        <p:nvPicPr>
          <p:cNvPr id="5" name="Picture 4" descr="Insiders Revealing the Truth About Taylor Swift's Directorial Debut">
            <a:extLst>
              <a:ext uri="{FF2B5EF4-FFF2-40B4-BE49-F238E27FC236}">
                <a16:creationId xmlns:a16="http://schemas.microsoft.com/office/drawing/2014/main" id="{5B3300D0-93D2-98E2-ADF2-387DF56D89FE}"/>
              </a:ext>
            </a:extLst>
          </p:cNvPr>
          <p:cNvPicPr>
            <a:picLocks noChangeAspect="1"/>
          </p:cNvPicPr>
          <p:nvPr/>
        </p:nvPicPr>
        <p:blipFill>
          <a:blip r:embed="rId4"/>
          <a:stretch>
            <a:fillRect/>
          </a:stretch>
        </p:blipFill>
        <p:spPr>
          <a:xfrm>
            <a:off x="10907369" y="86794"/>
            <a:ext cx="1188934" cy="1540096"/>
          </a:xfrm>
          <a:prstGeom prst="rect">
            <a:avLst/>
          </a:prstGeom>
        </p:spPr>
      </p:pic>
      <p:sp>
        <p:nvSpPr>
          <p:cNvPr id="6" name="TextBox 5">
            <a:extLst>
              <a:ext uri="{FF2B5EF4-FFF2-40B4-BE49-F238E27FC236}">
                <a16:creationId xmlns:a16="http://schemas.microsoft.com/office/drawing/2014/main" id="{1089E638-C839-D1A5-3148-B6089A9FBDF9}"/>
              </a:ext>
            </a:extLst>
          </p:cNvPr>
          <p:cNvSpPr txBox="1"/>
          <p:nvPr/>
        </p:nvSpPr>
        <p:spPr>
          <a:xfrm>
            <a:off x="10754644" y="1573491"/>
            <a:ext cx="1494383" cy="369332"/>
          </a:xfrm>
          <a:prstGeom prst="rect">
            <a:avLst/>
          </a:prstGeom>
          <a:noFill/>
        </p:spPr>
        <p:txBody>
          <a:bodyPr wrap="none" rtlCol="0">
            <a:spAutoFit/>
          </a:bodyPr>
          <a:lstStyle/>
          <a:p>
            <a:r>
              <a:rPr lang="en-US" dirty="0"/>
              <a:t>pic unrelated</a:t>
            </a:r>
          </a:p>
        </p:txBody>
      </p:sp>
    </p:spTree>
    <p:extLst>
      <p:ext uri="{BB962C8B-B14F-4D97-AF65-F5344CB8AC3E}">
        <p14:creationId xmlns:p14="http://schemas.microsoft.com/office/powerpoint/2010/main" val="41178766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DA04DF-538B-50E4-6D42-C3E534F534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A37CCB-D832-7ABA-B41F-6A0D1EFA7FFE}"/>
              </a:ext>
            </a:extLst>
          </p:cNvPr>
          <p:cNvSpPr>
            <a:spLocks noGrp="1"/>
          </p:cNvSpPr>
          <p:nvPr>
            <p:ph type="title"/>
          </p:nvPr>
        </p:nvSpPr>
        <p:spPr/>
        <p:txBody>
          <a:bodyPr/>
          <a:lstStyle/>
          <a:p>
            <a:r>
              <a:rPr lang="en-US" dirty="0"/>
              <a:t>Taylor Series on a Morse Oscillator</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A6A64D9-AB05-BBB5-3B7E-3F7C3D30A180}"/>
                  </a:ext>
                </a:extLst>
              </p:cNvPr>
              <p:cNvSpPr>
                <a:spLocks noGrp="1"/>
              </p:cNvSpPr>
              <p:nvPr>
                <p:ph idx="1"/>
              </p:nvPr>
            </p:nvSpPr>
            <p:spPr/>
            <p:txBody>
              <a:bodyPr>
                <a:normAutofit/>
              </a:bodyPr>
              <a:lstStyle/>
              <a:p>
                <a14:m>
                  <m:oMath xmlns:m="http://schemas.openxmlformats.org/officeDocument/2006/math">
                    <m:r>
                      <a:rPr lang="en-US" sz="2400" b="0" i="1" smtClean="0">
                        <a:latin typeface="Cambria Math" panose="02040503050406030204" pitchFamily="18" charset="0"/>
                      </a:rPr>
                      <m:t>𝑓</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𝑥</m:t>
                        </m:r>
                      </m:e>
                    </m:d>
                    <m:r>
                      <a:rPr lang="en-US" sz="2400" b="0" i="0" smtClean="0">
                        <a:latin typeface="Cambria Math" panose="02040503050406030204" pitchFamily="18" charset="0"/>
                      </a:rPr>
                      <m:t>=</m:t>
                    </m:r>
                    <m:r>
                      <a:rPr lang="en-US" sz="2400" b="0" i="1" smtClean="0">
                        <a:latin typeface="Cambria Math" panose="02040503050406030204" pitchFamily="18" charset="0"/>
                      </a:rPr>
                      <m:t> </m:t>
                    </m:r>
                    <m:r>
                      <a:rPr lang="en-US" sz="2400" b="0" i="1" smtClean="0">
                        <a:solidFill>
                          <a:srgbClr val="FFC000"/>
                        </a:solidFill>
                        <a:latin typeface="Cambria Math" panose="02040503050406030204" pitchFamily="18" charset="0"/>
                      </a:rPr>
                      <m:t>𝑓</m:t>
                    </m:r>
                    <m:d>
                      <m:dPr>
                        <m:ctrlPr>
                          <a:rPr lang="en-US" sz="2400" b="0" i="1" smtClean="0">
                            <a:solidFill>
                              <a:srgbClr val="FFC000"/>
                            </a:solidFill>
                            <a:latin typeface="Cambria Math" panose="02040503050406030204" pitchFamily="18" charset="0"/>
                          </a:rPr>
                        </m:ctrlPr>
                      </m:dPr>
                      <m:e>
                        <m:r>
                          <a:rPr lang="en-US" sz="2400" b="0" i="1" smtClean="0">
                            <a:solidFill>
                              <a:srgbClr val="FFC000"/>
                            </a:solidFill>
                            <a:latin typeface="Cambria Math" panose="02040503050406030204" pitchFamily="18" charset="0"/>
                          </a:rPr>
                          <m:t>0</m:t>
                        </m:r>
                      </m:e>
                    </m:d>
                  </m:oMath>
                </a14:m>
                <a:endParaRPr lang="en-US" sz="2400" dirty="0"/>
              </a:p>
            </p:txBody>
          </p:sp>
        </mc:Choice>
        <mc:Fallback>
          <p:sp>
            <p:nvSpPr>
              <p:cNvPr id="3" name="Content Placeholder 2">
                <a:extLst>
                  <a:ext uri="{FF2B5EF4-FFF2-40B4-BE49-F238E27FC236}">
                    <a16:creationId xmlns:a16="http://schemas.microsoft.com/office/drawing/2014/main" id="{4A6A64D9-AB05-BBB5-3B7E-3F7C3D30A180}"/>
                  </a:ext>
                </a:extLst>
              </p:cNvPr>
              <p:cNvSpPr>
                <a:spLocks noGrp="1" noRot="1" noChangeAspect="1" noMove="1" noResize="1" noEditPoints="1" noAdjustHandles="1" noChangeArrowheads="1" noChangeShapeType="1" noTextEdit="1"/>
              </p:cNvSpPr>
              <p:nvPr>
                <p:ph idx="1"/>
              </p:nvPr>
            </p:nvSpPr>
            <p:spPr>
              <a:blipFill>
                <a:blip r:embed="rId2"/>
                <a:stretch>
                  <a:fillRect l="-844" t="-1744"/>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5902CD02-D11B-B74A-238F-FDBF16A70FD8}"/>
              </a:ext>
            </a:extLst>
          </p:cNvPr>
          <p:cNvPicPr>
            <a:picLocks noChangeAspect="1"/>
          </p:cNvPicPr>
          <p:nvPr/>
        </p:nvPicPr>
        <p:blipFill>
          <a:blip r:embed="rId3"/>
          <a:stretch>
            <a:fillRect/>
          </a:stretch>
        </p:blipFill>
        <p:spPr>
          <a:xfrm>
            <a:off x="2895600" y="2750820"/>
            <a:ext cx="6400800" cy="4107180"/>
          </a:xfrm>
          <a:prstGeom prst="rect">
            <a:avLst/>
          </a:prstGeom>
        </p:spPr>
      </p:pic>
      <p:pic>
        <p:nvPicPr>
          <p:cNvPr id="5" name="Picture 4" descr="Insiders Revealing the Truth About Taylor Swift's Directorial Debut">
            <a:extLst>
              <a:ext uri="{FF2B5EF4-FFF2-40B4-BE49-F238E27FC236}">
                <a16:creationId xmlns:a16="http://schemas.microsoft.com/office/drawing/2014/main" id="{929C473D-FB42-5B22-A65C-BEAE9C9ACFF7}"/>
              </a:ext>
            </a:extLst>
          </p:cNvPr>
          <p:cNvPicPr>
            <a:picLocks noChangeAspect="1"/>
          </p:cNvPicPr>
          <p:nvPr/>
        </p:nvPicPr>
        <p:blipFill>
          <a:blip r:embed="rId4"/>
          <a:stretch>
            <a:fillRect/>
          </a:stretch>
        </p:blipFill>
        <p:spPr>
          <a:xfrm>
            <a:off x="10907369" y="86794"/>
            <a:ext cx="1188934" cy="1540096"/>
          </a:xfrm>
          <a:prstGeom prst="rect">
            <a:avLst/>
          </a:prstGeom>
        </p:spPr>
      </p:pic>
      <p:sp>
        <p:nvSpPr>
          <p:cNvPr id="6" name="TextBox 5">
            <a:extLst>
              <a:ext uri="{FF2B5EF4-FFF2-40B4-BE49-F238E27FC236}">
                <a16:creationId xmlns:a16="http://schemas.microsoft.com/office/drawing/2014/main" id="{6F8CCD54-FD48-72BF-2709-930EB1F6E730}"/>
              </a:ext>
            </a:extLst>
          </p:cNvPr>
          <p:cNvSpPr txBox="1"/>
          <p:nvPr/>
        </p:nvSpPr>
        <p:spPr>
          <a:xfrm>
            <a:off x="10754644" y="1573491"/>
            <a:ext cx="1494383" cy="369332"/>
          </a:xfrm>
          <a:prstGeom prst="rect">
            <a:avLst/>
          </a:prstGeom>
          <a:noFill/>
        </p:spPr>
        <p:txBody>
          <a:bodyPr wrap="none" rtlCol="0">
            <a:spAutoFit/>
          </a:bodyPr>
          <a:lstStyle/>
          <a:p>
            <a:r>
              <a:rPr lang="en-US" dirty="0"/>
              <a:t>pic unrelated</a:t>
            </a:r>
          </a:p>
        </p:txBody>
      </p:sp>
    </p:spTree>
    <p:extLst>
      <p:ext uri="{BB962C8B-B14F-4D97-AF65-F5344CB8AC3E}">
        <p14:creationId xmlns:p14="http://schemas.microsoft.com/office/powerpoint/2010/main" val="5643104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E1B9A7-3987-477A-BFC3-EA6703EB9F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74F229-0E91-730E-C15A-0286E5CD6E65}"/>
              </a:ext>
            </a:extLst>
          </p:cNvPr>
          <p:cNvSpPr>
            <a:spLocks noGrp="1"/>
          </p:cNvSpPr>
          <p:nvPr>
            <p:ph type="title"/>
          </p:nvPr>
        </p:nvSpPr>
        <p:spPr/>
        <p:txBody>
          <a:bodyPr/>
          <a:lstStyle/>
          <a:p>
            <a:r>
              <a:rPr lang="en-US" dirty="0"/>
              <a:t>Taylor Series on a Morse Oscillator</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26A118A-5348-4D56-32D6-9F7BB7240AB9}"/>
                  </a:ext>
                </a:extLst>
              </p:cNvPr>
              <p:cNvSpPr>
                <a:spLocks noGrp="1"/>
              </p:cNvSpPr>
              <p:nvPr>
                <p:ph idx="1"/>
              </p:nvPr>
            </p:nvSpPr>
            <p:spPr/>
            <p:txBody>
              <a:bodyPr>
                <a:normAutofit/>
              </a:bodyPr>
              <a:lstStyle/>
              <a:p>
                <a14:m>
                  <m:oMath xmlns:m="http://schemas.openxmlformats.org/officeDocument/2006/math">
                    <m:r>
                      <a:rPr lang="en-US" sz="2400" b="0" i="1" smtClean="0">
                        <a:latin typeface="Cambria Math" panose="02040503050406030204" pitchFamily="18" charset="0"/>
                      </a:rPr>
                      <m:t>𝑓</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𝑥</m:t>
                        </m:r>
                      </m:e>
                    </m:d>
                    <m:r>
                      <a:rPr lang="en-US" sz="2400" b="0" i="0" smtClean="0">
                        <a:latin typeface="Cambria Math" panose="02040503050406030204" pitchFamily="18" charset="0"/>
                      </a:rPr>
                      <m:t>=</m:t>
                    </m:r>
                    <m:r>
                      <a:rPr lang="en-US" sz="2400" b="0" i="1" smtClean="0">
                        <a:solidFill>
                          <a:srgbClr val="FFC000"/>
                        </a:solidFill>
                        <a:latin typeface="Cambria Math" panose="02040503050406030204" pitchFamily="18" charset="0"/>
                      </a:rPr>
                      <m:t>𝑓</m:t>
                    </m:r>
                    <m:d>
                      <m:dPr>
                        <m:ctrlPr>
                          <a:rPr lang="en-US" sz="2400" b="0" i="1" smtClean="0">
                            <a:solidFill>
                              <a:srgbClr val="FFC000"/>
                            </a:solidFill>
                            <a:latin typeface="Cambria Math" panose="02040503050406030204" pitchFamily="18" charset="0"/>
                          </a:rPr>
                        </m:ctrlPr>
                      </m:dPr>
                      <m:e>
                        <m:r>
                          <a:rPr lang="en-US" sz="2400" b="0" i="1" smtClean="0">
                            <a:solidFill>
                              <a:srgbClr val="FFC000"/>
                            </a:solidFill>
                            <a:latin typeface="Cambria Math" panose="02040503050406030204" pitchFamily="18" charset="0"/>
                          </a:rPr>
                          <m:t>0</m:t>
                        </m:r>
                      </m:e>
                    </m:d>
                    <m:r>
                      <a:rPr lang="en-US" sz="2400" b="0" i="1" smtClean="0">
                        <a:latin typeface="Cambria Math" panose="02040503050406030204" pitchFamily="18" charset="0"/>
                      </a:rPr>
                      <m:t>+</m:t>
                    </m:r>
                    <m:f>
                      <m:fPr>
                        <m:ctrlPr>
                          <a:rPr lang="en-US" sz="2400" b="0" i="1" smtClean="0">
                            <a:solidFill>
                              <a:srgbClr val="92D050"/>
                            </a:solidFill>
                            <a:latin typeface="Cambria Math" panose="02040503050406030204" pitchFamily="18" charset="0"/>
                          </a:rPr>
                        </m:ctrlPr>
                      </m:fPr>
                      <m:num>
                        <m:sSup>
                          <m:sSupPr>
                            <m:ctrlPr>
                              <a:rPr lang="en-US" sz="2400" b="0" i="1" smtClean="0">
                                <a:solidFill>
                                  <a:srgbClr val="92D050"/>
                                </a:solidFill>
                                <a:latin typeface="Cambria Math" panose="02040503050406030204" pitchFamily="18" charset="0"/>
                              </a:rPr>
                            </m:ctrlPr>
                          </m:sSupPr>
                          <m:e>
                            <m:r>
                              <a:rPr lang="en-US" sz="2400" b="0" i="1" smtClean="0">
                                <a:solidFill>
                                  <a:srgbClr val="92D050"/>
                                </a:solidFill>
                                <a:latin typeface="Cambria Math" panose="02040503050406030204" pitchFamily="18" charset="0"/>
                              </a:rPr>
                              <m:t>𝑓</m:t>
                            </m:r>
                          </m:e>
                          <m:sup>
                            <m:r>
                              <a:rPr lang="en-US" sz="2400" b="0" i="1" smtClean="0">
                                <a:solidFill>
                                  <a:srgbClr val="92D050"/>
                                </a:solidFill>
                                <a:latin typeface="Cambria Math" panose="02040503050406030204" pitchFamily="18" charset="0"/>
                              </a:rPr>
                              <m:t>′</m:t>
                            </m:r>
                          </m:sup>
                        </m:sSup>
                        <m:d>
                          <m:dPr>
                            <m:ctrlPr>
                              <a:rPr lang="en-US" sz="2400" b="0" i="1" smtClean="0">
                                <a:solidFill>
                                  <a:srgbClr val="92D050"/>
                                </a:solidFill>
                                <a:latin typeface="Cambria Math" panose="02040503050406030204" pitchFamily="18" charset="0"/>
                              </a:rPr>
                            </m:ctrlPr>
                          </m:dPr>
                          <m:e>
                            <m:r>
                              <a:rPr lang="en-US" sz="2400" b="0" i="1" smtClean="0">
                                <a:solidFill>
                                  <a:srgbClr val="92D050"/>
                                </a:solidFill>
                                <a:latin typeface="Cambria Math" panose="02040503050406030204" pitchFamily="18" charset="0"/>
                              </a:rPr>
                              <m:t>0</m:t>
                            </m:r>
                          </m:e>
                        </m:d>
                        <m:r>
                          <m:rPr>
                            <m:nor/>
                          </m:rPr>
                          <a:rPr lang="en-US" sz="2400" i="0" dirty="0">
                            <a:solidFill>
                              <a:srgbClr val="92D050"/>
                            </a:solidFill>
                          </a:rPr>
                          <m:t> </m:t>
                        </m:r>
                      </m:num>
                      <m:den>
                        <m:r>
                          <a:rPr lang="en-US" sz="2400" b="0" i="1" smtClean="0">
                            <a:solidFill>
                              <a:srgbClr val="92D050"/>
                            </a:solidFill>
                            <a:latin typeface="Cambria Math" panose="02040503050406030204" pitchFamily="18" charset="0"/>
                          </a:rPr>
                          <m:t>1!</m:t>
                        </m:r>
                      </m:den>
                    </m:f>
                    <m:r>
                      <a:rPr lang="en-US" sz="2400" b="0" i="1" smtClean="0">
                        <a:solidFill>
                          <a:srgbClr val="92D050"/>
                        </a:solidFill>
                        <a:latin typeface="Cambria Math" panose="02040503050406030204" pitchFamily="18" charset="0"/>
                      </a:rPr>
                      <m:t>𝑥</m:t>
                    </m:r>
                  </m:oMath>
                </a14:m>
                <a:endParaRPr lang="en-US" sz="2400" dirty="0"/>
              </a:p>
            </p:txBody>
          </p:sp>
        </mc:Choice>
        <mc:Fallback>
          <p:sp>
            <p:nvSpPr>
              <p:cNvPr id="3" name="Content Placeholder 2">
                <a:extLst>
                  <a:ext uri="{FF2B5EF4-FFF2-40B4-BE49-F238E27FC236}">
                    <a16:creationId xmlns:a16="http://schemas.microsoft.com/office/drawing/2014/main" id="{F26A118A-5348-4D56-32D6-9F7BB7240AB9}"/>
                  </a:ext>
                </a:extLst>
              </p:cNvPr>
              <p:cNvSpPr>
                <a:spLocks noGrp="1" noRot="1" noChangeAspect="1" noMove="1" noResize="1" noEditPoints="1" noAdjustHandles="1" noChangeArrowheads="1" noChangeShapeType="1" noTextEdit="1"/>
              </p:cNvSpPr>
              <p:nvPr>
                <p:ph idx="1"/>
              </p:nvPr>
            </p:nvSpPr>
            <p:spPr>
              <a:blipFill>
                <a:blip r:embed="rId2"/>
                <a:stretch>
                  <a:fillRect l="-844" t="-2907"/>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797D70C8-E3B4-D4B1-FA4E-CF1BA171760B}"/>
              </a:ext>
            </a:extLst>
          </p:cNvPr>
          <p:cNvPicPr>
            <a:picLocks noChangeAspect="1"/>
          </p:cNvPicPr>
          <p:nvPr/>
        </p:nvPicPr>
        <p:blipFill>
          <a:blip r:embed="rId3"/>
          <a:stretch>
            <a:fillRect/>
          </a:stretch>
        </p:blipFill>
        <p:spPr>
          <a:xfrm>
            <a:off x="2895600" y="2750820"/>
            <a:ext cx="6400800" cy="4107180"/>
          </a:xfrm>
          <a:prstGeom prst="rect">
            <a:avLst/>
          </a:prstGeom>
        </p:spPr>
      </p:pic>
      <p:pic>
        <p:nvPicPr>
          <p:cNvPr id="5" name="Picture 4" descr="Insiders Revealing the Truth About Taylor Swift's Directorial Debut">
            <a:extLst>
              <a:ext uri="{FF2B5EF4-FFF2-40B4-BE49-F238E27FC236}">
                <a16:creationId xmlns:a16="http://schemas.microsoft.com/office/drawing/2014/main" id="{F58A3F09-D3D4-B326-863C-746DB0CDA313}"/>
              </a:ext>
            </a:extLst>
          </p:cNvPr>
          <p:cNvPicPr>
            <a:picLocks noChangeAspect="1"/>
          </p:cNvPicPr>
          <p:nvPr/>
        </p:nvPicPr>
        <p:blipFill>
          <a:blip r:embed="rId4"/>
          <a:stretch>
            <a:fillRect/>
          </a:stretch>
        </p:blipFill>
        <p:spPr>
          <a:xfrm>
            <a:off x="10907369" y="86794"/>
            <a:ext cx="1188934" cy="1540096"/>
          </a:xfrm>
          <a:prstGeom prst="rect">
            <a:avLst/>
          </a:prstGeom>
        </p:spPr>
      </p:pic>
      <p:sp>
        <p:nvSpPr>
          <p:cNvPr id="6" name="TextBox 5">
            <a:extLst>
              <a:ext uri="{FF2B5EF4-FFF2-40B4-BE49-F238E27FC236}">
                <a16:creationId xmlns:a16="http://schemas.microsoft.com/office/drawing/2014/main" id="{B8C49C29-5C7E-64C8-CC63-37097EE434E2}"/>
              </a:ext>
            </a:extLst>
          </p:cNvPr>
          <p:cNvSpPr txBox="1"/>
          <p:nvPr/>
        </p:nvSpPr>
        <p:spPr>
          <a:xfrm>
            <a:off x="10754644" y="1573491"/>
            <a:ext cx="1494383" cy="369332"/>
          </a:xfrm>
          <a:prstGeom prst="rect">
            <a:avLst/>
          </a:prstGeom>
          <a:noFill/>
        </p:spPr>
        <p:txBody>
          <a:bodyPr wrap="none" rtlCol="0">
            <a:spAutoFit/>
          </a:bodyPr>
          <a:lstStyle/>
          <a:p>
            <a:r>
              <a:rPr lang="en-US" dirty="0"/>
              <a:t>pic unrelated</a:t>
            </a:r>
          </a:p>
        </p:txBody>
      </p:sp>
    </p:spTree>
    <p:extLst>
      <p:ext uri="{BB962C8B-B14F-4D97-AF65-F5344CB8AC3E}">
        <p14:creationId xmlns:p14="http://schemas.microsoft.com/office/powerpoint/2010/main" val="19983667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8AA61-10DF-52FF-8585-B9097A3BCF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62730A-0374-1FE8-B5A9-4B83FF93515C}"/>
              </a:ext>
            </a:extLst>
          </p:cNvPr>
          <p:cNvSpPr>
            <a:spLocks noGrp="1"/>
          </p:cNvSpPr>
          <p:nvPr>
            <p:ph type="title"/>
          </p:nvPr>
        </p:nvSpPr>
        <p:spPr/>
        <p:txBody>
          <a:bodyPr/>
          <a:lstStyle/>
          <a:p>
            <a:r>
              <a:rPr lang="en-US" dirty="0"/>
              <a:t>Taylor Series on a Morse Oscillator</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767FE8B-6EE0-B02C-D57C-7037AF406E3F}"/>
                  </a:ext>
                </a:extLst>
              </p:cNvPr>
              <p:cNvSpPr>
                <a:spLocks noGrp="1"/>
              </p:cNvSpPr>
              <p:nvPr>
                <p:ph idx="1"/>
              </p:nvPr>
            </p:nvSpPr>
            <p:spPr/>
            <p:txBody>
              <a:bodyPr>
                <a:normAutofit/>
              </a:bodyPr>
              <a:lstStyle/>
              <a:p>
                <a14:m>
                  <m:oMath xmlns:m="http://schemas.openxmlformats.org/officeDocument/2006/math">
                    <m:r>
                      <a:rPr lang="en-US" sz="2400" b="0" i="1" smtClean="0">
                        <a:latin typeface="Cambria Math" panose="02040503050406030204" pitchFamily="18" charset="0"/>
                      </a:rPr>
                      <m:t>𝑓</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𝑥</m:t>
                        </m:r>
                      </m:e>
                    </m:d>
                    <m:r>
                      <a:rPr lang="en-US" sz="2400" b="0" i="0" smtClean="0">
                        <a:latin typeface="Cambria Math" panose="02040503050406030204" pitchFamily="18" charset="0"/>
                      </a:rPr>
                      <m:t>=</m:t>
                    </m:r>
                    <m:r>
                      <a:rPr lang="en-US" sz="2400" b="0" i="1" smtClean="0">
                        <a:solidFill>
                          <a:srgbClr val="FFC000"/>
                        </a:solidFill>
                        <a:latin typeface="Cambria Math" panose="02040503050406030204" pitchFamily="18" charset="0"/>
                      </a:rPr>
                      <m:t>𝑓</m:t>
                    </m:r>
                    <m:d>
                      <m:dPr>
                        <m:ctrlPr>
                          <a:rPr lang="en-US" sz="2400" b="0" i="1" smtClean="0">
                            <a:solidFill>
                              <a:srgbClr val="FFC000"/>
                            </a:solidFill>
                            <a:latin typeface="Cambria Math" panose="02040503050406030204" pitchFamily="18" charset="0"/>
                          </a:rPr>
                        </m:ctrlPr>
                      </m:dPr>
                      <m:e>
                        <m:r>
                          <a:rPr lang="en-US" sz="2400" b="0" i="1" smtClean="0">
                            <a:solidFill>
                              <a:srgbClr val="FFC000"/>
                            </a:solidFill>
                            <a:latin typeface="Cambria Math" panose="02040503050406030204" pitchFamily="18" charset="0"/>
                          </a:rPr>
                          <m:t>0</m:t>
                        </m:r>
                      </m:e>
                    </m:d>
                    <m:r>
                      <a:rPr lang="en-US" sz="2400" b="0" i="1" smtClean="0">
                        <a:latin typeface="Cambria Math" panose="02040503050406030204" pitchFamily="18" charset="0"/>
                      </a:rPr>
                      <m:t>+</m:t>
                    </m:r>
                    <m:f>
                      <m:fPr>
                        <m:ctrlPr>
                          <a:rPr lang="en-US" sz="2400" b="0" i="1" smtClean="0">
                            <a:solidFill>
                              <a:srgbClr val="92D050"/>
                            </a:solidFill>
                            <a:latin typeface="Cambria Math" panose="02040503050406030204" pitchFamily="18" charset="0"/>
                          </a:rPr>
                        </m:ctrlPr>
                      </m:fPr>
                      <m:num>
                        <m:sSup>
                          <m:sSupPr>
                            <m:ctrlPr>
                              <a:rPr lang="en-US" sz="2400" b="0" i="1" smtClean="0">
                                <a:solidFill>
                                  <a:srgbClr val="92D050"/>
                                </a:solidFill>
                                <a:latin typeface="Cambria Math" panose="02040503050406030204" pitchFamily="18" charset="0"/>
                              </a:rPr>
                            </m:ctrlPr>
                          </m:sSupPr>
                          <m:e>
                            <m:r>
                              <a:rPr lang="en-US" sz="2400" b="0" i="1" smtClean="0">
                                <a:solidFill>
                                  <a:srgbClr val="92D050"/>
                                </a:solidFill>
                                <a:latin typeface="Cambria Math" panose="02040503050406030204" pitchFamily="18" charset="0"/>
                              </a:rPr>
                              <m:t>𝑓</m:t>
                            </m:r>
                          </m:e>
                          <m:sup>
                            <m:r>
                              <a:rPr lang="en-US" sz="2400" b="0" i="1" smtClean="0">
                                <a:solidFill>
                                  <a:srgbClr val="92D050"/>
                                </a:solidFill>
                                <a:latin typeface="Cambria Math" panose="02040503050406030204" pitchFamily="18" charset="0"/>
                              </a:rPr>
                              <m:t>′</m:t>
                            </m:r>
                          </m:sup>
                        </m:sSup>
                        <m:d>
                          <m:dPr>
                            <m:ctrlPr>
                              <a:rPr lang="en-US" sz="2400" b="0" i="1" smtClean="0">
                                <a:solidFill>
                                  <a:srgbClr val="92D050"/>
                                </a:solidFill>
                                <a:latin typeface="Cambria Math" panose="02040503050406030204" pitchFamily="18" charset="0"/>
                              </a:rPr>
                            </m:ctrlPr>
                          </m:dPr>
                          <m:e>
                            <m:r>
                              <a:rPr lang="en-US" sz="2400" b="0" i="1" smtClean="0">
                                <a:solidFill>
                                  <a:srgbClr val="92D050"/>
                                </a:solidFill>
                                <a:latin typeface="Cambria Math" panose="02040503050406030204" pitchFamily="18" charset="0"/>
                              </a:rPr>
                              <m:t>0</m:t>
                            </m:r>
                          </m:e>
                        </m:d>
                        <m:r>
                          <m:rPr>
                            <m:nor/>
                          </m:rPr>
                          <a:rPr lang="en-US" sz="2400" i="0" dirty="0">
                            <a:solidFill>
                              <a:srgbClr val="92D050"/>
                            </a:solidFill>
                          </a:rPr>
                          <m:t> </m:t>
                        </m:r>
                      </m:num>
                      <m:den>
                        <m:r>
                          <a:rPr lang="en-US" sz="2400" b="0" i="1" smtClean="0">
                            <a:solidFill>
                              <a:srgbClr val="92D050"/>
                            </a:solidFill>
                            <a:latin typeface="Cambria Math" panose="02040503050406030204" pitchFamily="18" charset="0"/>
                          </a:rPr>
                          <m:t>1!</m:t>
                        </m:r>
                      </m:den>
                    </m:f>
                    <m:r>
                      <a:rPr lang="en-US" sz="2400" b="0" i="1" smtClean="0">
                        <a:solidFill>
                          <a:srgbClr val="92D050"/>
                        </a:solidFill>
                        <a:latin typeface="Cambria Math" panose="02040503050406030204" pitchFamily="18" charset="0"/>
                      </a:rPr>
                      <m:t>𝑥</m:t>
                    </m:r>
                    <m:r>
                      <a:rPr lang="en-US" sz="2400" b="0" i="1" smtClean="0">
                        <a:latin typeface="Cambria Math" panose="02040503050406030204" pitchFamily="18" charset="0"/>
                      </a:rPr>
                      <m:t>+</m:t>
                    </m:r>
                    <m:f>
                      <m:fPr>
                        <m:ctrlPr>
                          <a:rPr lang="en-US" sz="2400" b="0" i="1" smtClean="0">
                            <a:solidFill>
                              <a:srgbClr val="FF0000"/>
                            </a:solidFill>
                            <a:latin typeface="Cambria Math" panose="02040503050406030204" pitchFamily="18" charset="0"/>
                          </a:rPr>
                        </m:ctrlPr>
                      </m:fPr>
                      <m:num>
                        <m:sSup>
                          <m:sSupPr>
                            <m:ctrlPr>
                              <a:rPr lang="en-US" sz="2400" b="0" i="1" smtClean="0">
                                <a:solidFill>
                                  <a:srgbClr val="FF0000"/>
                                </a:solidFill>
                                <a:latin typeface="Cambria Math" panose="02040503050406030204" pitchFamily="18" charset="0"/>
                              </a:rPr>
                            </m:ctrlPr>
                          </m:sSupPr>
                          <m:e>
                            <m:r>
                              <a:rPr lang="en-US" sz="2400" b="0" i="1" smtClean="0">
                                <a:solidFill>
                                  <a:srgbClr val="FF0000"/>
                                </a:solidFill>
                                <a:latin typeface="Cambria Math" panose="02040503050406030204" pitchFamily="18" charset="0"/>
                              </a:rPr>
                              <m:t>𝑓</m:t>
                            </m:r>
                          </m:e>
                          <m:sup>
                            <m:r>
                              <a:rPr lang="en-US" sz="2400" b="0" i="1" smtClean="0">
                                <a:solidFill>
                                  <a:srgbClr val="FF0000"/>
                                </a:solidFill>
                                <a:latin typeface="Cambria Math" panose="02040503050406030204" pitchFamily="18" charset="0"/>
                              </a:rPr>
                              <m:t>′′</m:t>
                            </m:r>
                          </m:sup>
                        </m:sSup>
                        <m:d>
                          <m:dPr>
                            <m:ctrlPr>
                              <a:rPr lang="en-US" sz="2400" b="0" i="1" smtClean="0">
                                <a:solidFill>
                                  <a:srgbClr val="FF0000"/>
                                </a:solidFill>
                                <a:latin typeface="Cambria Math" panose="02040503050406030204" pitchFamily="18" charset="0"/>
                              </a:rPr>
                            </m:ctrlPr>
                          </m:dPr>
                          <m:e>
                            <m:r>
                              <a:rPr lang="en-US" sz="2400" b="0" i="1" smtClean="0">
                                <a:solidFill>
                                  <a:srgbClr val="FF0000"/>
                                </a:solidFill>
                                <a:latin typeface="Cambria Math" panose="02040503050406030204" pitchFamily="18" charset="0"/>
                              </a:rPr>
                              <m:t>0</m:t>
                            </m:r>
                          </m:e>
                        </m:d>
                        <m:r>
                          <m:rPr>
                            <m:nor/>
                          </m:rPr>
                          <a:rPr lang="en-US" sz="2400" i="0" dirty="0">
                            <a:solidFill>
                              <a:srgbClr val="FF0000"/>
                            </a:solidFill>
                          </a:rPr>
                          <m:t> </m:t>
                        </m:r>
                      </m:num>
                      <m:den>
                        <m:r>
                          <a:rPr lang="en-US" sz="2400" b="0" i="1" dirty="0" smtClean="0">
                            <a:solidFill>
                              <a:srgbClr val="FF0000"/>
                            </a:solidFill>
                            <a:latin typeface="Cambria Math" panose="02040503050406030204" pitchFamily="18" charset="0"/>
                          </a:rPr>
                          <m:t>2</m:t>
                        </m:r>
                        <m:r>
                          <a:rPr lang="en-US" sz="2400" b="0" i="1" smtClean="0">
                            <a:solidFill>
                              <a:srgbClr val="FF0000"/>
                            </a:solidFill>
                            <a:latin typeface="Cambria Math" panose="02040503050406030204" pitchFamily="18" charset="0"/>
                          </a:rPr>
                          <m:t>!</m:t>
                        </m:r>
                      </m:den>
                    </m:f>
                    <m:sSup>
                      <m:sSupPr>
                        <m:ctrlPr>
                          <a:rPr lang="en-US" sz="2400" b="0" i="1" smtClean="0">
                            <a:solidFill>
                              <a:srgbClr val="FF0000"/>
                            </a:solidFill>
                            <a:latin typeface="Cambria Math" panose="02040503050406030204" pitchFamily="18" charset="0"/>
                          </a:rPr>
                        </m:ctrlPr>
                      </m:sSupPr>
                      <m:e>
                        <m:r>
                          <a:rPr lang="en-US" sz="2400" b="0" i="1" smtClean="0">
                            <a:solidFill>
                              <a:srgbClr val="FF0000"/>
                            </a:solidFill>
                            <a:latin typeface="Cambria Math" panose="02040503050406030204" pitchFamily="18" charset="0"/>
                          </a:rPr>
                          <m:t>𝑥</m:t>
                        </m:r>
                      </m:e>
                      <m:sup>
                        <m:r>
                          <a:rPr lang="en-US" sz="2400" b="0" i="1" smtClean="0">
                            <a:solidFill>
                              <a:srgbClr val="FF0000"/>
                            </a:solidFill>
                            <a:latin typeface="Cambria Math" panose="02040503050406030204" pitchFamily="18" charset="0"/>
                          </a:rPr>
                          <m:t>2</m:t>
                        </m:r>
                      </m:sup>
                    </m:sSup>
                  </m:oMath>
                </a14:m>
                <a:endParaRPr lang="en-US" sz="2400" dirty="0"/>
              </a:p>
            </p:txBody>
          </p:sp>
        </mc:Choice>
        <mc:Fallback>
          <p:sp>
            <p:nvSpPr>
              <p:cNvPr id="3" name="Content Placeholder 2">
                <a:extLst>
                  <a:ext uri="{FF2B5EF4-FFF2-40B4-BE49-F238E27FC236}">
                    <a16:creationId xmlns:a16="http://schemas.microsoft.com/office/drawing/2014/main" id="{4767FE8B-6EE0-B02C-D57C-7037AF406E3F}"/>
                  </a:ext>
                </a:extLst>
              </p:cNvPr>
              <p:cNvSpPr>
                <a:spLocks noGrp="1" noRot="1" noChangeAspect="1" noMove="1" noResize="1" noEditPoints="1" noAdjustHandles="1" noChangeArrowheads="1" noChangeShapeType="1" noTextEdit="1"/>
              </p:cNvSpPr>
              <p:nvPr>
                <p:ph idx="1"/>
              </p:nvPr>
            </p:nvSpPr>
            <p:spPr>
              <a:blipFill>
                <a:blip r:embed="rId2"/>
                <a:stretch>
                  <a:fillRect l="-844" t="-2907"/>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30BFB469-C58D-5D20-B0A5-CF8E5F8962CF}"/>
              </a:ext>
            </a:extLst>
          </p:cNvPr>
          <p:cNvPicPr>
            <a:picLocks noChangeAspect="1"/>
          </p:cNvPicPr>
          <p:nvPr/>
        </p:nvPicPr>
        <p:blipFill>
          <a:blip r:embed="rId3"/>
          <a:stretch>
            <a:fillRect/>
          </a:stretch>
        </p:blipFill>
        <p:spPr>
          <a:xfrm>
            <a:off x="2895600" y="2750820"/>
            <a:ext cx="6400800" cy="4107180"/>
          </a:xfrm>
          <a:prstGeom prst="rect">
            <a:avLst/>
          </a:prstGeom>
        </p:spPr>
      </p:pic>
      <p:pic>
        <p:nvPicPr>
          <p:cNvPr id="5" name="Picture 4" descr="Insiders Revealing the Truth About Taylor Swift's Directorial Debut">
            <a:extLst>
              <a:ext uri="{FF2B5EF4-FFF2-40B4-BE49-F238E27FC236}">
                <a16:creationId xmlns:a16="http://schemas.microsoft.com/office/drawing/2014/main" id="{1D052FA4-B765-C6BE-4D58-D2F4A001E92C}"/>
              </a:ext>
            </a:extLst>
          </p:cNvPr>
          <p:cNvPicPr>
            <a:picLocks noChangeAspect="1"/>
          </p:cNvPicPr>
          <p:nvPr/>
        </p:nvPicPr>
        <p:blipFill>
          <a:blip r:embed="rId4"/>
          <a:stretch>
            <a:fillRect/>
          </a:stretch>
        </p:blipFill>
        <p:spPr>
          <a:xfrm>
            <a:off x="10907369" y="86794"/>
            <a:ext cx="1188934" cy="1540096"/>
          </a:xfrm>
          <a:prstGeom prst="rect">
            <a:avLst/>
          </a:prstGeom>
        </p:spPr>
      </p:pic>
      <p:sp>
        <p:nvSpPr>
          <p:cNvPr id="6" name="TextBox 5">
            <a:extLst>
              <a:ext uri="{FF2B5EF4-FFF2-40B4-BE49-F238E27FC236}">
                <a16:creationId xmlns:a16="http://schemas.microsoft.com/office/drawing/2014/main" id="{2BF0D429-5B1D-ED4D-7DB5-BC6588A4F226}"/>
              </a:ext>
            </a:extLst>
          </p:cNvPr>
          <p:cNvSpPr txBox="1"/>
          <p:nvPr/>
        </p:nvSpPr>
        <p:spPr>
          <a:xfrm>
            <a:off x="10754644" y="1573491"/>
            <a:ext cx="1494383" cy="369332"/>
          </a:xfrm>
          <a:prstGeom prst="rect">
            <a:avLst/>
          </a:prstGeom>
          <a:noFill/>
        </p:spPr>
        <p:txBody>
          <a:bodyPr wrap="none" rtlCol="0">
            <a:spAutoFit/>
          </a:bodyPr>
          <a:lstStyle/>
          <a:p>
            <a:r>
              <a:rPr lang="en-US" dirty="0"/>
              <a:t>pic unrelated</a:t>
            </a:r>
          </a:p>
        </p:txBody>
      </p:sp>
    </p:spTree>
    <p:extLst>
      <p:ext uri="{BB962C8B-B14F-4D97-AF65-F5344CB8AC3E}">
        <p14:creationId xmlns:p14="http://schemas.microsoft.com/office/powerpoint/2010/main" val="22244776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05177-4512-4A6D-B57B-A108143659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F9EDD9-0436-598B-4948-8F5967DD0167}"/>
              </a:ext>
            </a:extLst>
          </p:cNvPr>
          <p:cNvSpPr>
            <a:spLocks noGrp="1"/>
          </p:cNvSpPr>
          <p:nvPr>
            <p:ph type="title"/>
          </p:nvPr>
        </p:nvSpPr>
        <p:spPr/>
        <p:txBody>
          <a:bodyPr/>
          <a:lstStyle/>
          <a:p>
            <a:r>
              <a:rPr lang="en-US" dirty="0"/>
              <a:t>Taylor Series on a Morse Oscillator</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DF6C57B3-3959-E157-3E76-62585777C412}"/>
                  </a:ext>
                </a:extLst>
              </p:cNvPr>
              <p:cNvSpPr>
                <a:spLocks noGrp="1"/>
              </p:cNvSpPr>
              <p:nvPr>
                <p:ph idx="1"/>
              </p:nvPr>
            </p:nvSpPr>
            <p:spPr/>
            <p:txBody>
              <a:bodyPr>
                <a:normAutofit/>
              </a:bodyPr>
              <a:lstStyle/>
              <a:p>
                <a14:m>
                  <m:oMath xmlns:m="http://schemas.openxmlformats.org/officeDocument/2006/math">
                    <m:r>
                      <a:rPr lang="en-US" sz="2400" b="0" i="1" smtClean="0">
                        <a:latin typeface="Cambria Math" panose="02040503050406030204" pitchFamily="18" charset="0"/>
                      </a:rPr>
                      <m:t>𝑓</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𝑥</m:t>
                        </m:r>
                      </m:e>
                    </m:d>
                    <m:r>
                      <a:rPr lang="en-US" sz="2400" b="0" i="0" smtClean="0">
                        <a:latin typeface="Cambria Math" panose="02040503050406030204" pitchFamily="18" charset="0"/>
                      </a:rPr>
                      <m:t>=</m:t>
                    </m:r>
                    <m:r>
                      <a:rPr lang="en-US" sz="2400" b="0" i="1" smtClean="0">
                        <a:solidFill>
                          <a:srgbClr val="FFC000"/>
                        </a:solidFill>
                        <a:latin typeface="Cambria Math" panose="02040503050406030204" pitchFamily="18" charset="0"/>
                      </a:rPr>
                      <m:t>𝑓</m:t>
                    </m:r>
                    <m:d>
                      <m:dPr>
                        <m:ctrlPr>
                          <a:rPr lang="en-US" sz="2400" b="0" i="1" smtClean="0">
                            <a:solidFill>
                              <a:srgbClr val="FFC000"/>
                            </a:solidFill>
                            <a:latin typeface="Cambria Math" panose="02040503050406030204" pitchFamily="18" charset="0"/>
                          </a:rPr>
                        </m:ctrlPr>
                      </m:dPr>
                      <m:e>
                        <m:r>
                          <a:rPr lang="en-US" sz="2400" b="0" i="1" smtClean="0">
                            <a:solidFill>
                              <a:srgbClr val="FFC000"/>
                            </a:solidFill>
                            <a:latin typeface="Cambria Math" panose="02040503050406030204" pitchFamily="18" charset="0"/>
                          </a:rPr>
                          <m:t>0</m:t>
                        </m:r>
                      </m:e>
                    </m:d>
                    <m:r>
                      <a:rPr lang="en-US" sz="2400" b="0" i="1" smtClean="0">
                        <a:latin typeface="Cambria Math" panose="02040503050406030204" pitchFamily="18" charset="0"/>
                      </a:rPr>
                      <m:t>+</m:t>
                    </m:r>
                    <m:f>
                      <m:fPr>
                        <m:ctrlPr>
                          <a:rPr lang="en-US" sz="2400" b="0" i="1" smtClean="0">
                            <a:solidFill>
                              <a:srgbClr val="92D050"/>
                            </a:solidFill>
                            <a:latin typeface="Cambria Math" panose="02040503050406030204" pitchFamily="18" charset="0"/>
                          </a:rPr>
                        </m:ctrlPr>
                      </m:fPr>
                      <m:num>
                        <m:sSup>
                          <m:sSupPr>
                            <m:ctrlPr>
                              <a:rPr lang="en-US" sz="2400" b="0" i="1" smtClean="0">
                                <a:solidFill>
                                  <a:srgbClr val="92D050"/>
                                </a:solidFill>
                                <a:latin typeface="Cambria Math" panose="02040503050406030204" pitchFamily="18" charset="0"/>
                              </a:rPr>
                            </m:ctrlPr>
                          </m:sSupPr>
                          <m:e>
                            <m:r>
                              <a:rPr lang="en-US" sz="2400" b="0" i="1" smtClean="0">
                                <a:solidFill>
                                  <a:srgbClr val="92D050"/>
                                </a:solidFill>
                                <a:latin typeface="Cambria Math" panose="02040503050406030204" pitchFamily="18" charset="0"/>
                              </a:rPr>
                              <m:t>𝑓</m:t>
                            </m:r>
                          </m:e>
                          <m:sup>
                            <m:r>
                              <a:rPr lang="en-US" sz="2400" b="0" i="1" smtClean="0">
                                <a:solidFill>
                                  <a:srgbClr val="92D050"/>
                                </a:solidFill>
                                <a:latin typeface="Cambria Math" panose="02040503050406030204" pitchFamily="18" charset="0"/>
                              </a:rPr>
                              <m:t>′</m:t>
                            </m:r>
                          </m:sup>
                        </m:sSup>
                        <m:d>
                          <m:dPr>
                            <m:ctrlPr>
                              <a:rPr lang="en-US" sz="2400" b="0" i="1" smtClean="0">
                                <a:solidFill>
                                  <a:srgbClr val="92D050"/>
                                </a:solidFill>
                                <a:latin typeface="Cambria Math" panose="02040503050406030204" pitchFamily="18" charset="0"/>
                              </a:rPr>
                            </m:ctrlPr>
                          </m:dPr>
                          <m:e>
                            <m:r>
                              <a:rPr lang="en-US" sz="2400" b="0" i="1" smtClean="0">
                                <a:solidFill>
                                  <a:srgbClr val="92D050"/>
                                </a:solidFill>
                                <a:latin typeface="Cambria Math" panose="02040503050406030204" pitchFamily="18" charset="0"/>
                              </a:rPr>
                              <m:t>0</m:t>
                            </m:r>
                          </m:e>
                        </m:d>
                        <m:r>
                          <m:rPr>
                            <m:nor/>
                          </m:rPr>
                          <a:rPr lang="en-US" sz="2400" i="0" dirty="0">
                            <a:solidFill>
                              <a:srgbClr val="92D050"/>
                            </a:solidFill>
                          </a:rPr>
                          <m:t> </m:t>
                        </m:r>
                      </m:num>
                      <m:den>
                        <m:r>
                          <a:rPr lang="en-US" sz="2400" b="0" i="1" smtClean="0">
                            <a:solidFill>
                              <a:srgbClr val="92D050"/>
                            </a:solidFill>
                            <a:latin typeface="Cambria Math" panose="02040503050406030204" pitchFamily="18" charset="0"/>
                          </a:rPr>
                          <m:t>1!</m:t>
                        </m:r>
                      </m:den>
                    </m:f>
                    <m:r>
                      <a:rPr lang="en-US" sz="2400" b="0" i="1" smtClean="0">
                        <a:solidFill>
                          <a:srgbClr val="92D050"/>
                        </a:solidFill>
                        <a:latin typeface="Cambria Math" panose="02040503050406030204" pitchFamily="18" charset="0"/>
                      </a:rPr>
                      <m:t>𝑥</m:t>
                    </m:r>
                    <m:r>
                      <a:rPr lang="en-US" sz="2400" b="0" i="1" smtClean="0">
                        <a:latin typeface="Cambria Math" panose="02040503050406030204" pitchFamily="18" charset="0"/>
                      </a:rPr>
                      <m:t>+</m:t>
                    </m:r>
                    <m:f>
                      <m:fPr>
                        <m:ctrlPr>
                          <a:rPr lang="en-US" sz="2400" b="0" i="1" smtClean="0">
                            <a:solidFill>
                              <a:srgbClr val="FF0000"/>
                            </a:solidFill>
                            <a:latin typeface="Cambria Math" panose="02040503050406030204" pitchFamily="18" charset="0"/>
                          </a:rPr>
                        </m:ctrlPr>
                      </m:fPr>
                      <m:num>
                        <m:sSup>
                          <m:sSupPr>
                            <m:ctrlPr>
                              <a:rPr lang="en-US" sz="2400" b="0" i="1" smtClean="0">
                                <a:solidFill>
                                  <a:srgbClr val="FF0000"/>
                                </a:solidFill>
                                <a:latin typeface="Cambria Math" panose="02040503050406030204" pitchFamily="18" charset="0"/>
                              </a:rPr>
                            </m:ctrlPr>
                          </m:sSupPr>
                          <m:e>
                            <m:r>
                              <a:rPr lang="en-US" sz="2400" b="0" i="1" smtClean="0">
                                <a:solidFill>
                                  <a:srgbClr val="FF0000"/>
                                </a:solidFill>
                                <a:latin typeface="Cambria Math" panose="02040503050406030204" pitchFamily="18" charset="0"/>
                              </a:rPr>
                              <m:t>𝑓</m:t>
                            </m:r>
                          </m:e>
                          <m:sup>
                            <m:r>
                              <a:rPr lang="en-US" sz="2400" b="0" i="1" smtClean="0">
                                <a:solidFill>
                                  <a:srgbClr val="FF0000"/>
                                </a:solidFill>
                                <a:latin typeface="Cambria Math" panose="02040503050406030204" pitchFamily="18" charset="0"/>
                              </a:rPr>
                              <m:t>′′</m:t>
                            </m:r>
                          </m:sup>
                        </m:sSup>
                        <m:d>
                          <m:dPr>
                            <m:ctrlPr>
                              <a:rPr lang="en-US" sz="2400" b="0" i="1" smtClean="0">
                                <a:solidFill>
                                  <a:srgbClr val="FF0000"/>
                                </a:solidFill>
                                <a:latin typeface="Cambria Math" panose="02040503050406030204" pitchFamily="18" charset="0"/>
                              </a:rPr>
                            </m:ctrlPr>
                          </m:dPr>
                          <m:e>
                            <m:r>
                              <a:rPr lang="en-US" sz="2400" b="0" i="1" smtClean="0">
                                <a:solidFill>
                                  <a:srgbClr val="FF0000"/>
                                </a:solidFill>
                                <a:latin typeface="Cambria Math" panose="02040503050406030204" pitchFamily="18" charset="0"/>
                              </a:rPr>
                              <m:t>0</m:t>
                            </m:r>
                          </m:e>
                        </m:d>
                        <m:r>
                          <m:rPr>
                            <m:nor/>
                          </m:rPr>
                          <a:rPr lang="en-US" sz="2400" i="0" dirty="0">
                            <a:solidFill>
                              <a:srgbClr val="FF0000"/>
                            </a:solidFill>
                          </a:rPr>
                          <m:t> </m:t>
                        </m:r>
                      </m:num>
                      <m:den>
                        <m:r>
                          <a:rPr lang="en-US" sz="2400" b="0" i="1" dirty="0" smtClean="0">
                            <a:solidFill>
                              <a:srgbClr val="FF0000"/>
                            </a:solidFill>
                            <a:latin typeface="Cambria Math" panose="02040503050406030204" pitchFamily="18" charset="0"/>
                          </a:rPr>
                          <m:t>2</m:t>
                        </m:r>
                        <m:r>
                          <a:rPr lang="en-US" sz="2400" b="0" i="1" smtClean="0">
                            <a:solidFill>
                              <a:srgbClr val="FF0000"/>
                            </a:solidFill>
                            <a:latin typeface="Cambria Math" panose="02040503050406030204" pitchFamily="18" charset="0"/>
                          </a:rPr>
                          <m:t>!</m:t>
                        </m:r>
                      </m:den>
                    </m:f>
                    <m:sSup>
                      <m:sSupPr>
                        <m:ctrlPr>
                          <a:rPr lang="en-US" sz="2400" b="0" i="1" smtClean="0">
                            <a:solidFill>
                              <a:srgbClr val="FF0000"/>
                            </a:solidFill>
                            <a:latin typeface="Cambria Math" panose="02040503050406030204" pitchFamily="18" charset="0"/>
                          </a:rPr>
                        </m:ctrlPr>
                      </m:sSupPr>
                      <m:e>
                        <m:r>
                          <a:rPr lang="en-US" sz="2400" b="0" i="1" smtClean="0">
                            <a:solidFill>
                              <a:srgbClr val="FF0000"/>
                            </a:solidFill>
                            <a:latin typeface="Cambria Math" panose="02040503050406030204" pitchFamily="18" charset="0"/>
                          </a:rPr>
                          <m:t>𝑥</m:t>
                        </m:r>
                      </m:e>
                      <m:sup>
                        <m:r>
                          <a:rPr lang="en-US" sz="2400" b="0" i="1" smtClean="0">
                            <a:solidFill>
                              <a:srgbClr val="FF0000"/>
                            </a:solidFill>
                            <a:latin typeface="Cambria Math" panose="02040503050406030204" pitchFamily="18" charset="0"/>
                          </a:rPr>
                          <m:t>2</m:t>
                        </m:r>
                      </m:sup>
                    </m:sSup>
                    <m:r>
                      <a:rPr lang="en-US" sz="2400" b="0" i="1" smtClean="0">
                        <a:latin typeface="Cambria Math" panose="02040503050406030204" pitchFamily="18" charset="0"/>
                      </a:rPr>
                      <m:t>+</m:t>
                    </m:r>
                    <m:f>
                      <m:fPr>
                        <m:ctrlPr>
                          <a:rPr lang="en-US" sz="2400" b="0" i="1" smtClean="0">
                            <a:solidFill>
                              <a:srgbClr val="7030A0"/>
                            </a:solidFill>
                            <a:latin typeface="Cambria Math" panose="02040503050406030204" pitchFamily="18" charset="0"/>
                          </a:rPr>
                        </m:ctrlPr>
                      </m:fPr>
                      <m:num>
                        <m:sSup>
                          <m:sSupPr>
                            <m:ctrlPr>
                              <a:rPr lang="en-US" sz="2400" b="0" i="1" smtClean="0">
                                <a:solidFill>
                                  <a:srgbClr val="7030A0"/>
                                </a:solidFill>
                                <a:latin typeface="Cambria Math" panose="02040503050406030204" pitchFamily="18" charset="0"/>
                              </a:rPr>
                            </m:ctrlPr>
                          </m:sSupPr>
                          <m:e>
                            <m:r>
                              <a:rPr lang="en-US" sz="2400" b="0" i="1" smtClean="0">
                                <a:solidFill>
                                  <a:srgbClr val="7030A0"/>
                                </a:solidFill>
                                <a:latin typeface="Cambria Math" panose="02040503050406030204" pitchFamily="18" charset="0"/>
                              </a:rPr>
                              <m:t>𝑓</m:t>
                            </m:r>
                          </m:e>
                          <m:sup>
                            <m:r>
                              <a:rPr lang="en-US" sz="2400" b="0" i="1" smtClean="0">
                                <a:solidFill>
                                  <a:srgbClr val="7030A0"/>
                                </a:solidFill>
                                <a:latin typeface="Cambria Math" panose="02040503050406030204" pitchFamily="18" charset="0"/>
                              </a:rPr>
                              <m:t>′</m:t>
                            </m:r>
                            <m:r>
                              <a:rPr lang="en-US" sz="2400" b="0" i="1" smtClean="0">
                                <a:solidFill>
                                  <a:srgbClr val="7030A0"/>
                                </a:solidFill>
                                <a:latin typeface="Cambria Math" panose="02040503050406030204" pitchFamily="18" charset="0"/>
                              </a:rPr>
                              <m:t>′</m:t>
                            </m:r>
                            <m:r>
                              <a:rPr lang="en-US" sz="2400" b="0" i="1" smtClean="0">
                                <a:solidFill>
                                  <a:srgbClr val="7030A0"/>
                                </a:solidFill>
                                <a:latin typeface="Cambria Math" panose="02040503050406030204" pitchFamily="18" charset="0"/>
                              </a:rPr>
                              <m:t>′</m:t>
                            </m:r>
                          </m:sup>
                        </m:sSup>
                        <m:d>
                          <m:dPr>
                            <m:ctrlPr>
                              <a:rPr lang="en-US" sz="2400" b="0" i="1" smtClean="0">
                                <a:solidFill>
                                  <a:srgbClr val="7030A0"/>
                                </a:solidFill>
                                <a:latin typeface="Cambria Math" panose="02040503050406030204" pitchFamily="18" charset="0"/>
                              </a:rPr>
                            </m:ctrlPr>
                          </m:dPr>
                          <m:e>
                            <m:r>
                              <a:rPr lang="en-US" sz="2400" b="0" i="1" smtClean="0">
                                <a:solidFill>
                                  <a:srgbClr val="7030A0"/>
                                </a:solidFill>
                                <a:latin typeface="Cambria Math" panose="02040503050406030204" pitchFamily="18" charset="0"/>
                              </a:rPr>
                              <m:t>0</m:t>
                            </m:r>
                          </m:e>
                        </m:d>
                        <m:r>
                          <m:rPr>
                            <m:nor/>
                          </m:rPr>
                          <a:rPr lang="en-US" sz="2400" i="0" dirty="0">
                            <a:solidFill>
                              <a:srgbClr val="7030A0"/>
                            </a:solidFill>
                          </a:rPr>
                          <m:t> </m:t>
                        </m:r>
                      </m:num>
                      <m:den>
                        <m:r>
                          <a:rPr lang="en-US" sz="2400" b="0" i="1" dirty="0" smtClean="0">
                            <a:solidFill>
                              <a:srgbClr val="7030A0"/>
                            </a:solidFill>
                            <a:latin typeface="Cambria Math" panose="02040503050406030204" pitchFamily="18" charset="0"/>
                          </a:rPr>
                          <m:t>3</m:t>
                        </m:r>
                        <m:r>
                          <a:rPr lang="en-US" sz="2400" b="0" i="1" smtClean="0">
                            <a:solidFill>
                              <a:srgbClr val="7030A0"/>
                            </a:solidFill>
                            <a:latin typeface="Cambria Math" panose="02040503050406030204" pitchFamily="18" charset="0"/>
                          </a:rPr>
                          <m:t>!</m:t>
                        </m:r>
                      </m:den>
                    </m:f>
                    <m:sSup>
                      <m:sSupPr>
                        <m:ctrlPr>
                          <a:rPr lang="en-US" sz="2400" b="0" i="1" smtClean="0">
                            <a:solidFill>
                              <a:srgbClr val="7030A0"/>
                            </a:solidFill>
                            <a:latin typeface="Cambria Math" panose="02040503050406030204" pitchFamily="18" charset="0"/>
                          </a:rPr>
                        </m:ctrlPr>
                      </m:sSupPr>
                      <m:e>
                        <m:r>
                          <a:rPr lang="en-US" sz="2400" b="0" i="1" smtClean="0">
                            <a:solidFill>
                              <a:srgbClr val="7030A0"/>
                            </a:solidFill>
                            <a:latin typeface="Cambria Math" panose="02040503050406030204" pitchFamily="18" charset="0"/>
                          </a:rPr>
                          <m:t>𝑥</m:t>
                        </m:r>
                      </m:e>
                      <m:sup>
                        <m:r>
                          <a:rPr lang="en-US" sz="2400" b="0" i="1" smtClean="0">
                            <a:solidFill>
                              <a:srgbClr val="7030A0"/>
                            </a:solidFill>
                            <a:latin typeface="Cambria Math" panose="02040503050406030204" pitchFamily="18" charset="0"/>
                          </a:rPr>
                          <m:t>3</m:t>
                        </m:r>
                      </m:sup>
                    </m:sSup>
                  </m:oMath>
                </a14:m>
                <a:endParaRPr lang="en-US" sz="2400" dirty="0"/>
              </a:p>
            </p:txBody>
          </p:sp>
        </mc:Choice>
        <mc:Fallback>
          <p:sp>
            <p:nvSpPr>
              <p:cNvPr id="3" name="Content Placeholder 2">
                <a:extLst>
                  <a:ext uri="{FF2B5EF4-FFF2-40B4-BE49-F238E27FC236}">
                    <a16:creationId xmlns:a16="http://schemas.microsoft.com/office/drawing/2014/main" id="{DF6C57B3-3959-E157-3E76-62585777C412}"/>
                  </a:ext>
                </a:extLst>
              </p:cNvPr>
              <p:cNvSpPr>
                <a:spLocks noGrp="1" noRot="1" noChangeAspect="1" noMove="1" noResize="1" noEditPoints="1" noAdjustHandles="1" noChangeArrowheads="1" noChangeShapeType="1" noTextEdit="1"/>
              </p:cNvSpPr>
              <p:nvPr>
                <p:ph idx="1"/>
              </p:nvPr>
            </p:nvSpPr>
            <p:spPr>
              <a:blipFill>
                <a:blip r:embed="rId2"/>
                <a:stretch>
                  <a:fillRect l="-844" t="-2907"/>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B071B8DB-20EE-90B1-33C4-0713A52B1A50}"/>
              </a:ext>
            </a:extLst>
          </p:cNvPr>
          <p:cNvPicPr>
            <a:picLocks noChangeAspect="1"/>
          </p:cNvPicPr>
          <p:nvPr/>
        </p:nvPicPr>
        <p:blipFill>
          <a:blip r:embed="rId3"/>
          <a:stretch>
            <a:fillRect/>
          </a:stretch>
        </p:blipFill>
        <p:spPr>
          <a:xfrm>
            <a:off x="2895600" y="2750820"/>
            <a:ext cx="6400800" cy="4107180"/>
          </a:xfrm>
          <a:prstGeom prst="rect">
            <a:avLst/>
          </a:prstGeom>
        </p:spPr>
      </p:pic>
      <p:pic>
        <p:nvPicPr>
          <p:cNvPr id="5" name="Picture 4" descr="Insiders Revealing the Truth About Taylor Swift's Directorial Debut">
            <a:extLst>
              <a:ext uri="{FF2B5EF4-FFF2-40B4-BE49-F238E27FC236}">
                <a16:creationId xmlns:a16="http://schemas.microsoft.com/office/drawing/2014/main" id="{2CEE484E-B817-5046-8501-9D7C60214FE5}"/>
              </a:ext>
            </a:extLst>
          </p:cNvPr>
          <p:cNvPicPr>
            <a:picLocks noChangeAspect="1"/>
          </p:cNvPicPr>
          <p:nvPr/>
        </p:nvPicPr>
        <p:blipFill>
          <a:blip r:embed="rId4"/>
          <a:stretch>
            <a:fillRect/>
          </a:stretch>
        </p:blipFill>
        <p:spPr>
          <a:xfrm>
            <a:off x="10907369" y="86794"/>
            <a:ext cx="1188934" cy="1540096"/>
          </a:xfrm>
          <a:prstGeom prst="rect">
            <a:avLst/>
          </a:prstGeom>
        </p:spPr>
      </p:pic>
      <p:sp>
        <p:nvSpPr>
          <p:cNvPr id="6" name="TextBox 5">
            <a:extLst>
              <a:ext uri="{FF2B5EF4-FFF2-40B4-BE49-F238E27FC236}">
                <a16:creationId xmlns:a16="http://schemas.microsoft.com/office/drawing/2014/main" id="{819B3876-7618-0482-B127-0A83EE407DFD}"/>
              </a:ext>
            </a:extLst>
          </p:cNvPr>
          <p:cNvSpPr txBox="1"/>
          <p:nvPr/>
        </p:nvSpPr>
        <p:spPr>
          <a:xfrm>
            <a:off x="10754644" y="1573491"/>
            <a:ext cx="1494383" cy="369332"/>
          </a:xfrm>
          <a:prstGeom prst="rect">
            <a:avLst/>
          </a:prstGeom>
          <a:noFill/>
        </p:spPr>
        <p:txBody>
          <a:bodyPr wrap="none" rtlCol="0">
            <a:spAutoFit/>
          </a:bodyPr>
          <a:lstStyle/>
          <a:p>
            <a:r>
              <a:rPr lang="en-US" dirty="0"/>
              <a:t>pic unrelated</a:t>
            </a:r>
          </a:p>
        </p:txBody>
      </p:sp>
    </p:spTree>
    <p:extLst>
      <p:ext uri="{BB962C8B-B14F-4D97-AF65-F5344CB8AC3E}">
        <p14:creationId xmlns:p14="http://schemas.microsoft.com/office/powerpoint/2010/main" val="31994593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65D77B-7502-6A87-1153-1600D70CFA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65FA4F-BF64-7AE7-CA8B-447EF367261C}"/>
              </a:ext>
            </a:extLst>
          </p:cNvPr>
          <p:cNvSpPr>
            <a:spLocks noGrp="1"/>
          </p:cNvSpPr>
          <p:nvPr>
            <p:ph type="title"/>
          </p:nvPr>
        </p:nvSpPr>
        <p:spPr/>
        <p:txBody>
          <a:bodyPr/>
          <a:lstStyle/>
          <a:p>
            <a:r>
              <a:rPr lang="en-US" dirty="0"/>
              <a:t>Taylor Series on a Morse Oscillator</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DBC3233-0258-0D7C-0499-668A994C9E08}"/>
                  </a:ext>
                </a:extLst>
              </p:cNvPr>
              <p:cNvSpPr>
                <a:spLocks noGrp="1"/>
              </p:cNvSpPr>
              <p:nvPr>
                <p:ph idx="1"/>
              </p:nvPr>
            </p:nvSpPr>
            <p:spPr/>
            <p:txBody>
              <a:bodyPr>
                <a:normAutofit/>
              </a:bodyPr>
              <a:lstStyle/>
              <a:p>
                <a14:m>
                  <m:oMath xmlns:m="http://schemas.openxmlformats.org/officeDocument/2006/math">
                    <m:r>
                      <a:rPr lang="en-US" sz="2400" b="0" i="1" smtClean="0">
                        <a:latin typeface="Cambria Math" panose="02040503050406030204" pitchFamily="18" charset="0"/>
                      </a:rPr>
                      <m:t>𝑓</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𝑥</m:t>
                        </m:r>
                      </m:e>
                    </m:d>
                    <m:r>
                      <a:rPr lang="en-US" sz="2400" b="0" i="0" smtClean="0">
                        <a:latin typeface="Cambria Math" panose="02040503050406030204" pitchFamily="18" charset="0"/>
                      </a:rPr>
                      <m:t>=</m:t>
                    </m:r>
                    <m:r>
                      <a:rPr lang="en-US" sz="2400" b="0" i="1" smtClean="0">
                        <a:solidFill>
                          <a:srgbClr val="FFC000"/>
                        </a:solidFill>
                        <a:latin typeface="Cambria Math" panose="02040503050406030204" pitchFamily="18" charset="0"/>
                      </a:rPr>
                      <m:t>𝑓</m:t>
                    </m:r>
                    <m:d>
                      <m:dPr>
                        <m:ctrlPr>
                          <a:rPr lang="en-US" sz="2400" b="0" i="1" smtClean="0">
                            <a:solidFill>
                              <a:srgbClr val="FFC000"/>
                            </a:solidFill>
                            <a:latin typeface="Cambria Math" panose="02040503050406030204" pitchFamily="18" charset="0"/>
                          </a:rPr>
                        </m:ctrlPr>
                      </m:dPr>
                      <m:e>
                        <m:r>
                          <a:rPr lang="en-US" sz="2400" b="0" i="1" smtClean="0">
                            <a:solidFill>
                              <a:srgbClr val="FFC000"/>
                            </a:solidFill>
                            <a:latin typeface="Cambria Math" panose="02040503050406030204" pitchFamily="18" charset="0"/>
                          </a:rPr>
                          <m:t>0</m:t>
                        </m:r>
                      </m:e>
                    </m:d>
                    <m:r>
                      <a:rPr lang="en-US" sz="2400" b="0" i="1" smtClean="0">
                        <a:latin typeface="Cambria Math" panose="02040503050406030204" pitchFamily="18" charset="0"/>
                      </a:rPr>
                      <m:t>+</m:t>
                    </m:r>
                    <m:f>
                      <m:fPr>
                        <m:ctrlPr>
                          <a:rPr lang="en-US" sz="2400" b="0" i="1" smtClean="0">
                            <a:solidFill>
                              <a:srgbClr val="92D050"/>
                            </a:solidFill>
                            <a:latin typeface="Cambria Math" panose="02040503050406030204" pitchFamily="18" charset="0"/>
                          </a:rPr>
                        </m:ctrlPr>
                      </m:fPr>
                      <m:num>
                        <m:sSup>
                          <m:sSupPr>
                            <m:ctrlPr>
                              <a:rPr lang="en-US" sz="2400" b="0" i="1" smtClean="0">
                                <a:solidFill>
                                  <a:srgbClr val="92D050"/>
                                </a:solidFill>
                                <a:latin typeface="Cambria Math" panose="02040503050406030204" pitchFamily="18" charset="0"/>
                              </a:rPr>
                            </m:ctrlPr>
                          </m:sSupPr>
                          <m:e>
                            <m:r>
                              <a:rPr lang="en-US" sz="2400" b="0" i="1" smtClean="0">
                                <a:solidFill>
                                  <a:srgbClr val="92D050"/>
                                </a:solidFill>
                                <a:latin typeface="Cambria Math" panose="02040503050406030204" pitchFamily="18" charset="0"/>
                              </a:rPr>
                              <m:t>𝑓</m:t>
                            </m:r>
                          </m:e>
                          <m:sup>
                            <m:r>
                              <a:rPr lang="en-US" sz="2400" b="0" i="1" smtClean="0">
                                <a:solidFill>
                                  <a:srgbClr val="92D050"/>
                                </a:solidFill>
                                <a:latin typeface="Cambria Math" panose="02040503050406030204" pitchFamily="18" charset="0"/>
                              </a:rPr>
                              <m:t>′</m:t>
                            </m:r>
                          </m:sup>
                        </m:sSup>
                        <m:d>
                          <m:dPr>
                            <m:ctrlPr>
                              <a:rPr lang="en-US" sz="2400" b="0" i="1" smtClean="0">
                                <a:solidFill>
                                  <a:srgbClr val="92D050"/>
                                </a:solidFill>
                                <a:latin typeface="Cambria Math" panose="02040503050406030204" pitchFamily="18" charset="0"/>
                              </a:rPr>
                            </m:ctrlPr>
                          </m:dPr>
                          <m:e>
                            <m:r>
                              <a:rPr lang="en-US" sz="2400" b="0" i="1" smtClean="0">
                                <a:solidFill>
                                  <a:srgbClr val="92D050"/>
                                </a:solidFill>
                                <a:latin typeface="Cambria Math" panose="02040503050406030204" pitchFamily="18" charset="0"/>
                              </a:rPr>
                              <m:t>0</m:t>
                            </m:r>
                          </m:e>
                        </m:d>
                        <m:r>
                          <m:rPr>
                            <m:nor/>
                          </m:rPr>
                          <a:rPr lang="en-US" sz="2400" i="0" dirty="0">
                            <a:solidFill>
                              <a:srgbClr val="92D050"/>
                            </a:solidFill>
                          </a:rPr>
                          <m:t> </m:t>
                        </m:r>
                      </m:num>
                      <m:den>
                        <m:r>
                          <a:rPr lang="en-US" sz="2400" b="0" i="1" smtClean="0">
                            <a:solidFill>
                              <a:srgbClr val="92D050"/>
                            </a:solidFill>
                            <a:latin typeface="Cambria Math" panose="02040503050406030204" pitchFamily="18" charset="0"/>
                          </a:rPr>
                          <m:t>1!</m:t>
                        </m:r>
                      </m:den>
                    </m:f>
                    <m:r>
                      <a:rPr lang="en-US" sz="2400" b="0" i="1" smtClean="0">
                        <a:solidFill>
                          <a:srgbClr val="92D050"/>
                        </a:solidFill>
                        <a:latin typeface="Cambria Math" panose="02040503050406030204" pitchFamily="18" charset="0"/>
                      </a:rPr>
                      <m:t>𝑥</m:t>
                    </m:r>
                    <m:r>
                      <a:rPr lang="en-US" sz="2400" b="0" i="1" smtClean="0">
                        <a:latin typeface="Cambria Math" panose="02040503050406030204" pitchFamily="18" charset="0"/>
                      </a:rPr>
                      <m:t>+</m:t>
                    </m:r>
                    <m:f>
                      <m:fPr>
                        <m:ctrlPr>
                          <a:rPr lang="en-US" sz="2400" b="0" i="1" smtClean="0">
                            <a:solidFill>
                              <a:srgbClr val="FF0000"/>
                            </a:solidFill>
                            <a:latin typeface="Cambria Math" panose="02040503050406030204" pitchFamily="18" charset="0"/>
                          </a:rPr>
                        </m:ctrlPr>
                      </m:fPr>
                      <m:num>
                        <m:sSup>
                          <m:sSupPr>
                            <m:ctrlPr>
                              <a:rPr lang="en-US" sz="2400" b="0" i="1" smtClean="0">
                                <a:solidFill>
                                  <a:srgbClr val="FF0000"/>
                                </a:solidFill>
                                <a:latin typeface="Cambria Math" panose="02040503050406030204" pitchFamily="18" charset="0"/>
                              </a:rPr>
                            </m:ctrlPr>
                          </m:sSupPr>
                          <m:e>
                            <m:r>
                              <a:rPr lang="en-US" sz="2400" b="0" i="1" smtClean="0">
                                <a:solidFill>
                                  <a:srgbClr val="FF0000"/>
                                </a:solidFill>
                                <a:latin typeface="Cambria Math" panose="02040503050406030204" pitchFamily="18" charset="0"/>
                              </a:rPr>
                              <m:t>𝑓</m:t>
                            </m:r>
                          </m:e>
                          <m:sup>
                            <m:r>
                              <a:rPr lang="en-US" sz="2400" b="0" i="1" smtClean="0">
                                <a:solidFill>
                                  <a:srgbClr val="FF0000"/>
                                </a:solidFill>
                                <a:latin typeface="Cambria Math" panose="02040503050406030204" pitchFamily="18" charset="0"/>
                              </a:rPr>
                              <m:t>′′</m:t>
                            </m:r>
                          </m:sup>
                        </m:sSup>
                        <m:d>
                          <m:dPr>
                            <m:ctrlPr>
                              <a:rPr lang="en-US" sz="2400" b="0" i="1" smtClean="0">
                                <a:solidFill>
                                  <a:srgbClr val="FF0000"/>
                                </a:solidFill>
                                <a:latin typeface="Cambria Math" panose="02040503050406030204" pitchFamily="18" charset="0"/>
                              </a:rPr>
                            </m:ctrlPr>
                          </m:dPr>
                          <m:e>
                            <m:r>
                              <a:rPr lang="en-US" sz="2400" b="0" i="1" smtClean="0">
                                <a:solidFill>
                                  <a:srgbClr val="FF0000"/>
                                </a:solidFill>
                                <a:latin typeface="Cambria Math" panose="02040503050406030204" pitchFamily="18" charset="0"/>
                              </a:rPr>
                              <m:t>0</m:t>
                            </m:r>
                          </m:e>
                        </m:d>
                        <m:r>
                          <m:rPr>
                            <m:nor/>
                          </m:rPr>
                          <a:rPr lang="en-US" sz="2400" i="0" dirty="0">
                            <a:solidFill>
                              <a:srgbClr val="FF0000"/>
                            </a:solidFill>
                          </a:rPr>
                          <m:t> </m:t>
                        </m:r>
                      </m:num>
                      <m:den>
                        <m:r>
                          <a:rPr lang="en-US" sz="2400" b="0" i="1" dirty="0" smtClean="0">
                            <a:solidFill>
                              <a:srgbClr val="FF0000"/>
                            </a:solidFill>
                            <a:latin typeface="Cambria Math" panose="02040503050406030204" pitchFamily="18" charset="0"/>
                          </a:rPr>
                          <m:t>2</m:t>
                        </m:r>
                        <m:r>
                          <a:rPr lang="en-US" sz="2400" b="0" i="1" smtClean="0">
                            <a:solidFill>
                              <a:srgbClr val="FF0000"/>
                            </a:solidFill>
                            <a:latin typeface="Cambria Math" panose="02040503050406030204" pitchFamily="18" charset="0"/>
                          </a:rPr>
                          <m:t>!</m:t>
                        </m:r>
                      </m:den>
                    </m:f>
                    <m:sSup>
                      <m:sSupPr>
                        <m:ctrlPr>
                          <a:rPr lang="en-US" sz="2400" b="0" i="1" smtClean="0">
                            <a:solidFill>
                              <a:srgbClr val="FF0000"/>
                            </a:solidFill>
                            <a:latin typeface="Cambria Math" panose="02040503050406030204" pitchFamily="18" charset="0"/>
                          </a:rPr>
                        </m:ctrlPr>
                      </m:sSupPr>
                      <m:e>
                        <m:r>
                          <a:rPr lang="en-US" sz="2400" b="0" i="1" smtClean="0">
                            <a:solidFill>
                              <a:srgbClr val="FF0000"/>
                            </a:solidFill>
                            <a:latin typeface="Cambria Math" panose="02040503050406030204" pitchFamily="18" charset="0"/>
                          </a:rPr>
                          <m:t>𝑥</m:t>
                        </m:r>
                      </m:e>
                      <m:sup>
                        <m:r>
                          <a:rPr lang="en-US" sz="2400" b="0" i="1" smtClean="0">
                            <a:solidFill>
                              <a:srgbClr val="FF0000"/>
                            </a:solidFill>
                            <a:latin typeface="Cambria Math" panose="02040503050406030204" pitchFamily="18" charset="0"/>
                          </a:rPr>
                          <m:t>2</m:t>
                        </m:r>
                      </m:sup>
                    </m:sSup>
                    <m:r>
                      <a:rPr lang="en-US" sz="2400" b="0" i="1" smtClean="0">
                        <a:latin typeface="Cambria Math" panose="02040503050406030204" pitchFamily="18" charset="0"/>
                      </a:rPr>
                      <m:t>+</m:t>
                    </m:r>
                    <m:f>
                      <m:fPr>
                        <m:ctrlPr>
                          <a:rPr lang="en-US" sz="2400" b="0" i="1" smtClean="0">
                            <a:solidFill>
                              <a:srgbClr val="7030A0"/>
                            </a:solidFill>
                            <a:latin typeface="Cambria Math" panose="02040503050406030204" pitchFamily="18" charset="0"/>
                          </a:rPr>
                        </m:ctrlPr>
                      </m:fPr>
                      <m:num>
                        <m:sSup>
                          <m:sSupPr>
                            <m:ctrlPr>
                              <a:rPr lang="en-US" sz="2400" b="0" i="1" smtClean="0">
                                <a:solidFill>
                                  <a:srgbClr val="7030A0"/>
                                </a:solidFill>
                                <a:latin typeface="Cambria Math" panose="02040503050406030204" pitchFamily="18" charset="0"/>
                              </a:rPr>
                            </m:ctrlPr>
                          </m:sSupPr>
                          <m:e>
                            <m:r>
                              <a:rPr lang="en-US" sz="2400" b="0" i="1" smtClean="0">
                                <a:solidFill>
                                  <a:srgbClr val="7030A0"/>
                                </a:solidFill>
                                <a:latin typeface="Cambria Math" panose="02040503050406030204" pitchFamily="18" charset="0"/>
                              </a:rPr>
                              <m:t>𝑓</m:t>
                            </m:r>
                          </m:e>
                          <m:sup>
                            <m:r>
                              <a:rPr lang="en-US" sz="2400" b="0" i="1" smtClean="0">
                                <a:solidFill>
                                  <a:srgbClr val="7030A0"/>
                                </a:solidFill>
                                <a:latin typeface="Cambria Math" panose="02040503050406030204" pitchFamily="18" charset="0"/>
                              </a:rPr>
                              <m:t>′′′</m:t>
                            </m:r>
                          </m:sup>
                        </m:sSup>
                        <m:d>
                          <m:dPr>
                            <m:ctrlPr>
                              <a:rPr lang="en-US" sz="2400" b="0" i="1" smtClean="0">
                                <a:solidFill>
                                  <a:srgbClr val="7030A0"/>
                                </a:solidFill>
                                <a:latin typeface="Cambria Math" panose="02040503050406030204" pitchFamily="18" charset="0"/>
                              </a:rPr>
                            </m:ctrlPr>
                          </m:dPr>
                          <m:e>
                            <m:r>
                              <a:rPr lang="en-US" sz="2400" b="0" i="1" smtClean="0">
                                <a:solidFill>
                                  <a:srgbClr val="7030A0"/>
                                </a:solidFill>
                                <a:latin typeface="Cambria Math" panose="02040503050406030204" pitchFamily="18" charset="0"/>
                              </a:rPr>
                              <m:t>0</m:t>
                            </m:r>
                          </m:e>
                        </m:d>
                        <m:r>
                          <m:rPr>
                            <m:nor/>
                          </m:rPr>
                          <a:rPr lang="en-US" sz="2400" i="0" dirty="0">
                            <a:solidFill>
                              <a:srgbClr val="7030A0"/>
                            </a:solidFill>
                          </a:rPr>
                          <m:t> </m:t>
                        </m:r>
                      </m:num>
                      <m:den>
                        <m:r>
                          <a:rPr lang="en-US" sz="2400" b="0" i="1" dirty="0" smtClean="0">
                            <a:solidFill>
                              <a:srgbClr val="7030A0"/>
                            </a:solidFill>
                            <a:latin typeface="Cambria Math" panose="02040503050406030204" pitchFamily="18" charset="0"/>
                          </a:rPr>
                          <m:t>3</m:t>
                        </m:r>
                        <m:r>
                          <a:rPr lang="en-US" sz="2400" b="0" i="1" smtClean="0">
                            <a:solidFill>
                              <a:srgbClr val="7030A0"/>
                            </a:solidFill>
                            <a:latin typeface="Cambria Math" panose="02040503050406030204" pitchFamily="18" charset="0"/>
                          </a:rPr>
                          <m:t>!</m:t>
                        </m:r>
                      </m:den>
                    </m:f>
                    <m:sSup>
                      <m:sSupPr>
                        <m:ctrlPr>
                          <a:rPr lang="en-US" sz="2400" b="0" i="1" smtClean="0">
                            <a:solidFill>
                              <a:srgbClr val="7030A0"/>
                            </a:solidFill>
                            <a:latin typeface="Cambria Math" panose="02040503050406030204" pitchFamily="18" charset="0"/>
                          </a:rPr>
                        </m:ctrlPr>
                      </m:sSupPr>
                      <m:e>
                        <m:r>
                          <a:rPr lang="en-US" sz="2400" b="0" i="1" smtClean="0">
                            <a:solidFill>
                              <a:srgbClr val="7030A0"/>
                            </a:solidFill>
                            <a:latin typeface="Cambria Math" panose="02040503050406030204" pitchFamily="18" charset="0"/>
                          </a:rPr>
                          <m:t>𝑥</m:t>
                        </m:r>
                      </m:e>
                      <m:sup>
                        <m:r>
                          <a:rPr lang="en-US" sz="2400" b="0" i="1" smtClean="0">
                            <a:solidFill>
                              <a:srgbClr val="7030A0"/>
                            </a:solidFill>
                            <a:latin typeface="Cambria Math" panose="02040503050406030204" pitchFamily="18" charset="0"/>
                          </a:rPr>
                          <m:t>3</m:t>
                        </m:r>
                      </m:sup>
                    </m:sSup>
                    <m:r>
                      <a:rPr lang="en-US" sz="2400" b="0" i="1" smtClean="0">
                        <a:latin typeface="Cambria Math" panose="02040503050406030204" pitchFamily="18" charset="0"/>
                      </a:rPr>
                      <m:t>+</m:t>
                    </m:r>
                    <m:f>
                      <m:fPr>
                        <m:ctrlPr>
                          <a:rPr lang="en-US" sz="2400" b="0" i="1" smtClean="0">
                            <a:solidFill>
                              <a:schemeClr val="accent2">
                                <a:lumMod val="50000"/>
                              </a:schemeClr>
                            </a:solidFill>
                            <a:latin typeface="Cambria Math" panose="02040503050406030204" pitchFamily="18" charset="0"/>
                          </a:rPr>
                        </m:ctrlPr>
                      </m:fPr>
                      <m:num>
                        <m:sSup>
                          <m:sSupPr>
                            <m:ctrlPr>
                              <a:rPr lang="en-US" sz="2400" b="0" i="1" smtClean="0">
                                <a:solidFill>
                                  <a:schemeClr val="accent2">
                                    <a:lumMod val="50000"/>
                                  </a:schemeClr>
                                </a:solidFill>
                                <a:latin typeface="Cambria Math" panose="02040503050406030204" pitchFamily="18" charset="0"/>
                              </a:rPr>
                            </m:ctrlPr>
                          </m:sSupPr>
                          <m:e>
                            <m:r>
                              <a:rPr lang="en-US" sz="2400" b="0" i="1" smtClean="0">
                                <a:solidFill>
                                  <a:schemeClr val="accent2">
                                    <a:lumMod val="50000"/>
                                  </a:schemeClr>
                                </a:solidFill>
                                <a:latin typeface="Cambria Math" panose="02040503050406030204" pitchFamily="18" charset="0"/>
                              </a:rPr>
                              <m:t>𝑓</m:t>
                            </m:r>
                          </m:e>
                          <m:sup>
                            <m:r>
                              <a:rPr lang="en-US" sz="2400" b="0" i="1" smtClean="0">
                                <a:solidFill>
                                  <a:schemeClr val="accent2">
                                    <a:lumMod val="50000"/>
                                  </a:schemeClr>
                                </a:solidFill>
                                <a:latin typeface="Cambria Math" panose="02040503050406030204" pitchFamily="18" charset="0"/>
                              </a:rPr>
                              <m:t>′</m:t>
                            </m:r>
                            <m:r>
                              <a:rPr lang="en-US" sz="2400" b="0" i="1" smtClean="0">
                                <a:solidFill>
                                  <a:schemeClr val="accent2">
                                    <a:lumMod val="50000"/>
                                  </a:schemeClr>
                                </a:solidFill>
                                <a:latin typeface="Cambria Math" panose="02040503050406030204" pitchFamily="18" charset="0"/>
                              </a:rPr>
                              <m:t>′</m:t>
                            </m:r>
                            <m:r>
                              <a:rPr lang="en-US" sz="2400" b="0" i="1" smtClean="0">
                                <a:solidFill>
                                  <a:schemeClr val="accent2">
                                    <a:lumMod val="50000"/>
                                  </a:schemeClr>
                                </a:solidFill>
                                <a:latin typeface="Cambria Math" panose="02040503050406030204" pitchFamily="18" charset="0"/>
                              </a:rPr>
                              <m:t>′′</m:t>
                            </m:r>
                          </m:sup>
                        </m:sSup>
                        <m:d>
                          <m:dPr>
                            <m:ctrlPr>
                              <a:rPr lang="en-US" sz="2400" b="0" i="1" smtClean="0">
                                <a:solidFill>
                                  <a:schemeClr val="accent2">
                                    <a:lumMod val="50000"/>
                                  </a:schemeClr>
                                </a:solidFill>
                                <a:latin typeface="Cambria Math" panose="02040503050406030204" pitchFamily="18" charset="0"/>
                              </a:rPr>
                            </m:ctrlPr>
                          </m:dPr>
                          <m:e>
                            <m:r>
                              <a:rPr lang="en-US" sz="2400" b="0" i="1" smtClean="0">
                                <a:solidFill>
                                  <a:schemeClr val="accent2">
                                    <a:lumMod val="50000"/>
                                  </a:schemeClr>
                                </a:solidFill>
                                <a:latin typeface="Cambria Math" panose="02040503050406030204" pitchFamily="18" charset="0"/>
                              </a:rPr>
                              <m:t>0</m:t>
                            </m:r>
                          </m:e>
                        </m:d>
                        <m:r>
                          <m:rPr>
                            <m:nor/>
                          </m:rPr>
                          <a:rPr lang="en-US" sz="2400" i="0" dirty="0">
                            <a:solidFill>
                              <a:schemeClr val="accent2">
                                <a:lumMod val="50000"/>
                              </a:schemeClr>
                            </a:solidFill>
                          </a:rPr>
                          <m:t> </m:t>
                        </m:r>
                      </m:num>
                      <m:den>
                        <m:r>
                          <a:rPr lang="en-US" sz="2400" b="0" i="1" dirty="0" smtClean="0">
                            <a:solidFill>
                              <a:schemeClr val="accent2">
                                <a:lumMod val="50000"/>
                              </a:schemeClr>
                            </a:solidFill>
                            <a:latin typeface="Cambria Math" panose="02040503050406030204" pitchFamily="18" charset="0"/>
                          </a:rPr>
                          <m:t>4</m:t>
                        </m:r>
                        <m:r>
                          <a:rPr lang="en-US" sz="2400" b="0" i="1" smtClean="0">
                            <a:solidFill>
                              <a:schemeClr val="accent2">
                                <a:lumMod val="50000"/>
                              </a:schemeClr>
                            </a:solidFill>
                            <a:latin typeface="Cambria Math" panose="02040503050406030204" pitchFamily="18" charset="0"/>
                          </a:rPr>
                          <m:t>!</m:t>
                        </m:r>
                      </m:den>
                    </m:f>
                    <m:sSup>
                      <m:sSupPr>
                        <m:ctrlPr>
                          <a:rPr lang="en-US" sz="2400" b="0" i="1" smtClean="0">
                            <a:solidFill>
                              <a:schemeClr val="accent2">
                                <a:lumMod val="50000"/>
                              </a:schemeClr>
                            </a:solidFill>
                            <a:latin typeface="Cambria Math" panose="02040503050406030204" pitchFamily="18" charset="0"/>
                          </a:rPr>
                        </m:ctrlPr>
                      </m:sSupPr>
                      <m:e>
                        <m:r>
                          <a:rPr lang="en-US" sz="2400" b="0" i="1" smtClean="0">
                            <a:solidFill>
                              <a:schemeClr val="accent2">
                                <a:lumMod val="50000"/>
                              </a:schemeClr>
                            </a:solidFill>
                            <a:latin typeface="Cambria Math" panose="02040503050406030204" pitchFamily="18" charset="0"/>
                          </a:rPr>
                          <m:t>𝑥</m:t>
                        </m:r>
                      </m:e>
                      <m:sup>
                        <m:r>
                          <a:rPr lang="en-US" sz="2400" b="0" i="1" smtClean="0">
                            <a:solidFill>
                              <a:schemeClr val="accent2">
                                <a:lumMod val="50000"/>
                              </a:schemeClr>
                            </a:solidFill>
                            <a:latin typeface="Cambria Math" panose="02040503050406030204" pitchFamily="18" charset="0"/>
                          </a:rPr>
                          <m:t>4</m:t>
                        </m:r>
                      </m:sup>
                    </m:sSup>
                  </m:oMath>
                </a14:m>
                <a:endParaRPr lang="en-US" sz="2400" dirty="0"/>
              </a:p>
            </p:txBody>
          </p:sp>
        </mc:Choice>
        <mc:Fallback>
          <p:sp>
            <p:nvSpPr>
              <p:cNvPr id="3" name="Content Placeholder 2">
                <a:extLst>
                  <a:ext uri="{FF2B5EF4-FFF2-40B4-BE49-F238E27FC236}">
                    <a16:creationId xmlns:a16="http://schemas.microsoft.com/office/drawing/2014/main" id="{FDBC3233-0258-0D7C-0499-668A994C9E08}"/>
                  </a:ext>
                </a:extLst>
              </p:cNvPr>
              <p:cNvSpPr>
                <a:spLocks noGrp="1" noRot="1" noChangeAspect="1" noMove="1" noResize="1" noEditPoints="1" noAdjustHandles="1" noChangeArrowheads="1" noChangeShapeType="1" noTextEdit="1"/>
              </p:cNvSpPr>
              <p:nvPr>
                <p:ph idx="1"/>
              </p:nvPr>
            </p:nvSpPr>
            <p:spPr>
              <a:blipFill>
                <a:blip r:embed="rId2"/>
                <a:stretch>
                  <a:fillRect l="-844" t="-2907"/>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1D499A0D-9FEF-EADC-1CFA-A2068543F08C}"/>
              </a:ext>
            </a:extLst>
          </p:cNvPr>
          <p:cNvPicPr>
            <a:picLocks noChangeAspect="1"/>
          </p:cNvPicPr>
          <p:nvPr/>
        </p:nvPicPr>
        <p:blipFill>
          <a:blip r:embed="rId3"/>
          <a:stretch>
            <a:fillRect/>
          </a:stretch>
        </p:blipFill>
        <p:spPr>
          <a:xfrm>
            <a:off x="2895600" y="2750820"/>
            <a:ext cx="6400800" cy="4107180"/>
          </a:xfrm>
          <a:prstGeom prst="rect">
            <a:avLst/>
          </a:prstGeom>
        </p:spPr>
      </p:pic>
      <p:pic>
        <p:nvPicPr>
          <p:cNvPr id="5" name="Picture 4" descr="Insiders Revealing the Truth About Taylor Swift's Directorial Debut">
            <a:extLst>
              <a:ext uri="{FF2B5EF4-FFF2-40B4-BE49-F238E27FC236}">
                <a16:creationId xmlns:a16="http://schemas.microsoft.com/office/drawing/2014/main" id="{824A06A8-7670-BE13-93FB-0AC1893F4387}"/>
              </a:ext>
            </a:extLst>
          </p:cNvPr>
          <p:cNvPicPr>
            <a:picLocks noChangeAspect="1"/>
          </p:cNvPicPr>
          <p:nvPr/>
        </p:nvPicPr>
        <p:blipFill>
          <a:blip r:embed="rId4"/>
          <a:stretch>
            <a:fillRect/>
          </a:stretch>
        </p:blipFill>
        <p:spPr>
          <a:xfrm>
            <a:off x="10907369" y="86794"/>
            <a:ext cx="1188934" cy="1540096"/>
          </a:xfrm>
          <a:prstGeom prst="rect">
            <a:avLst/>
          </a:prstGeom>
        </p:spPr>
      </p:pic>
      <p:sp>
        <p:nvSpPr>
          <p:cNvPr id="6" name="TextBox 5">
            <a:extLst>
              <a:ext uri="{FF2B5EF4-FFF2-40B4-BE49-F238E27FC236}">
                <a16:creationId xmlns:a16="http://schemas.microsoft.com/office/drawing/2014/main" id="{D4C9A467-59BB-FCB7-5299-563EC5D4F054}"/>
              </a:ext>
            </a:extLst>
          </p:cNvPr>
          <p:cNvSpPr txBox="1"/>
          <p:nvPr/>
        </p:nvSpPr>
        <p:spPr>
          <a:xfrm>
            <a:off x="10754644" y="1573491"/>
            <a:ext cx="1494383" cy="369332"/>
          </a:xfrm>
          <a:prstGeom prst="rect">
            <a:avLst/>
          </a:prstGeom>
          <a:noFill/>
        </p:spPr>
        <p:txBody>
          <a:bodyPr wrap="none" rtlCol="0">
            <a:spAutoFit/>
          </a:bodyPr>
          <a:lstStyle/>
          <a:p>
            <a:r>
              <a:rPr lang="en-US" dirty="0"/>
              <a:t>pic unrelated</a:t>
            </a:r>
          </a:p>
        </p:txBody>
      </p:sp>
    </p:spTree>
    <p:extLst>
      <p:ext uri="{BB962C8B-B14F-4D97-AF65-F5344CB8AC3E}">
        <p14:creationId xmlns:p14="http://schemas.microsoft.com/office/powerpoint/2010/main" val="4454030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BA61B-C5DA-C7F0-3D07-5759A9988C40}"/>
              </a:ext>
            </a:extLst>
          </p:cNvPr>
          <p:cNvSpPr>
            <a:spLocks noGrp="1"/>
          </p:cNvSpPr>
          <p:nvPr>
            <p:ph type="title"/>
          </p:nvPr>
        </p:nvSpPr>
        <p:spPr/>
        <p:txBody>
          <a:bodyPr/>
          <a:lstStyle/>
          <a:p>
            <a:r>
              <a:rPr lang="en-US" dirty="0"/>
              <a:t>Taylor Series on a Morse Oscillator</a:t>
            </a:r>
          </a:p>
        </p:txBody>
      </p:sp>
      <p:sp>
        <p:nvSpPr>
          <p:cNvPr id="3" name="Content Placeholder 2">
            <a:extLst>
              <a:ext uri="{FF2B5EF4-FFF2-40B4-BE49-F238E27FC236}">
                <a16:creationId xmlns:a16="http://schemas.microsoft.com/office/drawing/2014/main" id="{F3A18223-D901-35A2-EE8C-73BDA00F9507}"/>
              </a:ext>
            </a:extLst>
          </p:cNvPr>
          <p:cNvSpPr>
            <a:spLocks noGrp="1"/>
          </p:cNvSpPr>
          <p:nvPr>
            <p:ph idx="1"/>
          </p:nvPr>
        </p:nvSpPr>
        <p:spPr/>
        <p:txBody>
          <a:bodyPr/>
          <a:lstStyle/>
          <a:p>
            <a:r>
              <a:rPr lang="en-US" dirty="0"/>
              <a:t>As we can see, our zeroth- and first-order terms don’t tell us much beyond verifying that we are at a stationary point.</a:t>
            </a:r>
          </a:p>
        </p:txBody>
      </p:sp>
    </p:spTree>
    <p:extLst>
      <p:ext uri="{BB962C8B-B14F-4D97-AF65-F5344CB8AC3E}">
        <p14:creationId xmlns:p14="http://schemas.microsoft.com/office/powerpoint/2010/main" val="11257775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ACF1F4-98A3-7FC0-0DF3-AA4A639706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99C80D-9193-FD27-E2F9-5CCBC953E54A}"/>
              </a:ext>
            </a:extLst>
          </p:cNvPr>
          <p:cNvSpPr>
            <a:spLocks noGrp="1"/>
          </p:cNvSpPr>
          <p:nvPr>
            <p:ph type="title"/>
          </p:nvPr>
        </p:nvSpPr>
        <p:spPr/>
        <p:txBody>
          <a:bodyPr/>
          <a:lstStyle/>
          <a:p>
            <a:r>
              <a:rPr lang="en-US" dirty="0"/>
              <a:t>Taylor Series on a Morse Oscillator</a:t>
            </a:r>
          </a:p>
        </p:txBody>
      </p:sp>
      <p:sp>
        <p:nvSpPr>
          <p:cNvPr id="3" name="Content Placeholder 2">
            <a:extLst>
              <a:ext uri="{FF2B5EF4-FFF2-40B4-BE49-F238E27FC236}">
                <a16:creationId xmlns:a16="http://schemas.microsoft.com/office/drawing/2014/main" id="{AB54F3B1-D3D7-A478-68B9-2E3A09605830}"/>
              </a:ext>
            </a:extLst>
          </p:cNvPr>
          <p:cNvSpPr>
            <a:spLocks noGrp="1"/>
          </p:cNvSpPr>
          <p:nvPr>
            <p:ph idx="1"/>
          </p:nvPr>
        </p:nvSpPr>
        <p:spPr/>
        <p:txBody>
          <a:bodyPr/>
          <a:lstStyle/>
          <a:p>
            <a:r>
              <a:rPr lang="en-US" dirty="0"/>
              <a:t>As we can see, our zeroth- and first-order terms don’t tell us much beyond verifying that we are at a stationary point.</a:t>
            </a:r>
          </a:p>
          <a:p>
            <a:r>
              <a:rPr lang="en-US" dirty="0"/>
              <a:t>Additionally, while the third- and fourth-order terms do improve on the second-order description, the second-order term has the most drastic improvement from prior terms.</a:t>
            </a:r>
          </a:p>
        </p:txBody>
      </p:sp>
    </p:spTree>
    <p:extLst>
      <p:ext uri="{BB962C8B-B14F-4D97-AF65-F5344CB8AC3E}">
        <p14:creationId xmlns:p14="http://schemas.microsoft.com/office/powerpoint/2010/main" val="36144446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5C0FAC-F85A-9BAC-2881-F617AD4814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E82E9B-CC41-EF26-2C97-ADD75AC8E08A}"/>
              </a:ext>
            </a:extLst>
          </p:cNvPr>
          <p:cNvSpPr>
            <a:spLocks noGrp="1"/>
          </p:cNvSpPr>
          <p:nvPr>
            <p:ph type="title"/>
          </p:nvPr>
        </p:nvSpPr>
        <p:spPr/>
        <p:txBody>
          <a:bodyPr/>
          <a:lstStyle/>
          <a:p>
            <a:r>
              <a:rPr lang="en-US" dirty="0"/>
              <a:t>Taylor Series on a Morse Oscillator</a:t>
            </a:r>
          </a:p>
        </p:txBody>
      </p:sp>
      <p:sp>
        <p:nvSpPr>
          <p:cNvPr id="3" name="Content Placeholder 2">
            <a:extLst>
              <a:ext uri="{FF2B5EF4-FFF2-40B4-BE49-F238E27FC236}">
                <a16:creationId xmlns:a16="http://schemas.microsoft.com/office/drawing/2014/main" id="{11A41D81-FA3C-F81D-9234-641EDB9E9794}"/>
              </a:ext>
            </a:extLst>
          </p:cNvPr>
          <p:cNvSpPr>
            <a:spLocks noGrp="1"/>
          </p:cNvSpPr>
          <p:nvPr>
            <p:ph idx="1"/>
          </p:nvPr>
        </p:nvSpPr>
        <p:spPr/>
        <p:txBody>
          <a:bodyPr/>
          <a:lstStyle/>
          <a:p>
            <a:r>
              <a:rPr lang="en-US" dirty="0"/>
              <a:t>As we can see, our zeroth- and first-order terms don’t tell us much beyond verifying that we are at a stationary point.</a:t>
            </a:r>
          </a:p>
          <a:p>
            <a:r>
              <a:rPr lang="en-US" dirty="0"/>
              <a:t>Additionally, while the third- and fourth-order terms do improve on the second-order description, the second-order term has the most drastic improvement from prior terms.</a:t>
            </a:r>
          </a:p>
          <a:p>
            <a:r>
              <a:rPr lang="en-US" dirty="0"/>
              <a:t>The second-order description is a component of what Physicists call the Harmonic approximation.</a:t>
            </a:r>
          </a:p>
        </p:txBody>
      </p:sp>
    </p:spTree>
    <p:extLst>
      <p:ext uri="{BB962C8B-B14F-4D97-AF65-F5344CB8AC3E}">
        <p14:creationId xmlns:p14="http://schemas.microsoft.com/office/powerpoint/2010/main" val="27873247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FC7D9-A6AA-1F66-DEE2-850DA2D8F4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06E1FD-9828-F477-C03B-9B8304038103}"/>
              </a:ext>
            </a:extLst>
          </p:cNvPr>
          <p:cNvSpPr>
            <a:spLocks noGrp="1"/>
          </p:cNvSpPr>
          <p:nvPr>
            <p:ph type="title"/>
          </p:nvPr>
        </p:nvSpPr>
        <p:spPr/>
        <p:txBody>
          <a:bodyPr/>
          <a:lstStyle/>
          <a:p>
            <a:r>
              <a:rPr lang="en-US" dirty="0"/>
              <a:t>Harmonic Oscillator</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1D72238-3243-4C65-AFB0-5E1FE782E4E0}"/>
                  </a:ext>
                </a:extLst>
              </p:cNvPr>
              <p:cNvSpPr>
                <a:spLocks noGrp="1"/>
              </p:cNvSpPr>
              <p:nvPr>
                <p:ph idx="1"/>
              </p:nvPr>
            </p:nvSpPr>
            <p:spPr>
              <a:xfrm>
                <a:off x="838200" y="1825625"/>
                <a:ext cx="6211533" cy="4351338"/>
              </a:xfrm>
            </p:spPr>
            <p:txBody>
              <a:bodyPr/>
              <a:lstStyle/>
              <a:p>
                <a:r>
                  <a:rPr lang="en-US" dirty="0"/>
                  <a:t>A harmonic oscillator in classical mechanics is a particle acted upon by a restoring force proportional to its displacement from equilibrium.</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𝐹</m:t>
                      </m:r>
                      <m:r>
                        <a:rPr lang="en-US" b="0" i="1" smtClean="0">
                          <a:latin typeface="Cambria Math" panose="02040503050406030204" pitchFamily="18" charset="0"/>
                        </a:rPr>
                        <m:t>=−</m:t>
                      </m:r>
                      <m:r>
                        <a:rPr lang="en-US" b="0" i="1" smtClean="0">
                          <a:latin typeface="Cambria Math" panose="02040503050406030204" pitchFamily="18" charset="0"/>
                        </a:rPr>
                        <m:t>𝑘𝑥</m:t>
                      </m:r>
                    </m:oMath>
                  </m:oMathPara>
                </a14:m>
                <a:endParaRPr lang="en-US" dirty="0"/>
              </a:p>
            </p:txBody>
          </p:sp>
        </mc:Choice>
        <mc:Fallback>
          <p:sp>
            <p:nvSpPr>
              <p:cNvPr id="3" name="Content Placeholder 2">
                <a:extLst>
                  <a:ext uri="{FF2B5EF4-FFF2-40B4-BE49-F238E27FC236}">
                    <a16:creationId xmlns:a16="http://schemas.microsoft.com/office/drawing/2014/main" id="{91D72238-3243-4C65-AFB0-5E1FE782E4E0}"/>
                  </a:ext>
                </a:extLst>
              </p:cNvPr>
              <p:cNvSpPr>
                <a:spLocks noGrp="1" noRot="1" noChangeAspect="1" noMove="1" noResize="1" noEditPoints="1" noAdjustHandles="1" noChangeArrowheads="1" noChangeShapeType="1" noTextEdit="1"/>
              </p:cNvSpPr>
              <p:nvPr>
                <p:ph idx="1"/>
              </p:nvPr>
            </p:nvSpPr>
            <p:spPr>
              <a:xfrm>
                <a:off x="838200" y="1825625"/>
                <a:ext cx="6211533" cy="4351338"/>
              </a:xfrm>
              <a:blipFill>
                <a:blip r:embed="rId2"/>
                <a:stretch>
                  <a:fillRect l="-1840" t="-2326" r="-3067"/>
                </a:stretch>
              </a:blipFill>
            </p:spPr>
            <p:txBody>
              <a:bodyPr/>
              <a:lstStyle/>
              <a:p>
                <a:r>
                  <a:rPr lang="en-US">
                    <a:noFill/>
                  </a:rPr>
                  <a:t> </a:t>
                </a:r>
              </a:p>
            </p:txBody>
          </p:sp>
        </mc:Fallback>
      </mc:AlternateContent>
    </p:spTree>
    <p:extLst>
      <p:ext uri="{BB962C8B-B14F-4D97-AF65-F5344CB8AC3E}">
        <p14:creationId xmlns:p14="http://schemas.microsoft.com/office/powerpoint/2010/main" val="26717208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300CE-2F2D-F679-4B34-977691CC22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2DA440-C21B-CE11-670F-AC576539DD3A}"/>
              </a:ext>
            </a:extLst>
          </p:cNvPr>
          <p:cNvSpPr>
            <a:spLocks noGrp="1"/>
          </p:cNvSpPr>
          <p:nvPr>
            <p:ph type="title"/>
          </p:nvPr>
        </p:nvSpPr>
        <p:spPr/>
        <p:txBody>
          <a:bodyPr/>
          <a:lstStyle/>
          <a:p>
            <a:r>
              <a:rPr lang="en-US" dirty="0"/>
              <a:t>Harmonic Oscillator</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B486518-1F2D-EA0C-0D71-E2D5F39AE62B}"/>
                  </a:ext>
                </a:extLst>
              </p:cNvPr>
              <p:cNvSpPr>
                <a:spLocks noGrp="1"/>
              </p:cNvSpPr>
              <p:nvPr>
                <p:ph idx="1"/>
              </p:nvPr>
            </p:nvSpPr>
            <p:spPr>
              <a:xfrm>
                <a:off x="838200" y="1825625"/>
                <a:ext cx="6211533" cy="4351338"/>
              </a:xfrm>
            </p:spPr>
            <p:txBody>
              <a:bodyPr/>
              <a:lstStyle/>
              <a:p>
                <a:r>
                  <a:rPr lang="en-US" dirty="0"/>
                  <a:t>A harmonic oscillator in classical mechanics is a particle acted upon by a restoring force proportional to its displacement from equilibrium.</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𝐹</m:t>
                      </m:r>
                      <m:r>
                        <a:rPr lang="en-US" b="0" i="1" smtClean="0">
                          <a:latin typeface="Cambria Math" panose="02040503050406030204" pitchFamily="18" charset="0"/>
                        </a:rPr>
                        <m:t>=−</m:t>
                      </m:r>
                      <m:r>
                        <a:rPr lang="en-US" b="0" i="1" smtClean="0">
                          <a:latin typeface="Cambria Math" panose="02040503050406030204" pitchFamily="18" charset="0"/>
                        </a:rPr>
                        <m:t>𝑘𝑥</m:t>
                      </m:r>
                    </m:oMath>
                  </m:oMathPara>
                </a14:m>
                <a:endParaRPr lang="en-US" dirty="0"/>
              </a:p>
              <a:p>
                <a:r>
                  <a:rPr lang="en-US" dirty="0"/>
                  <a:t>An example is a mass on a spring following Hooke’s law, where the force constant, </a:t>
                </a:r>
                <a14:m>
                  <m:oMath xmlns:m="http://schemas.openxmlformats.org/officeDocument/2006/math">
                    <m:r>
                      <a:rPr lang="en-US" b="0" i="1" smtClean="0">
                        <a:latin typeface="Cambria Math" panose="02040503050406030204" pitchFamily="18" charset="0"/>
                      </a:rPr>
                      <m:t>𝑘</m:t>
                    </m:r>
                  </m:oMath>
                </a14:m>
                <a:r>
                  <a:rPr lang="en-US" dirty="0"/>
                  <a:t>, is the stiffness of the spring.</a:t>
                </a:r>
              </a:p>
            </p:txBody>
          </p:sp>
        </mc:Choice>
        <mc:Fallback>
          <p:sp>
            <p:nvSpPr>
              <p:cNvPr id="3" name="Content Placeholder 2">
                <a:extLst>
                  <a:ext uri="{FF2B5EF4-FFF2-40B4-BE49-F238E27FC236}">
                    <a16:creationId xmlns:a16="http://schemas.microsoft.com/office/drawing/2014/main" id="{5B486518-1F2D-EA0C-0D71-E2D5F39AE62B}"/>
                  </a:ext>
                </a:extLst>
              </p:cNvPr>
              <p:cNvSpPr>
                <a:spLocks noGrp="1" noRot="1" noChangeAspect="1" noMove="1" noResize="1" noEditPoints="1" noAdjustHandles="1" noChangeArrowheads="1" noChangeShapeType="1" noTextEdit="1"/>
              </p:cNvSpPr>
              <p:nvPr>
                <p:ph idx="1"/>
              </p:nvPr>
            </p:nvSpPr>
            <p:spPr>
              <a:xfrm>
                <a:off x="838200" y="1825625"/>
                <a:ext cx="6211533" cy="4351338"/>
              </a:xfrm>
              <a:blipFill>
                <a:blip r:embed="rId2"/>
                <a:stretch>
                  <a:fillRect l="-1840" t="-2326" r="-3067"/>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A697A1F2-6EE9-66DB-7C5E-302F5B7D3D65}"/>
              </a:ext>
            </a:extLst>
          </p:cNvPr>
          <p:cNvSpPr txBox="1"/>
          <p:nvPr/>
        </p:nvSpPr>
        <p:spPr>
          <a:xfrm>
            <a:off x="838200" y="6326372"/>
            <a:ext cx="10515600" cy="369332"/>
          </a:xfrm>
          <a:prstGeom prst="rect">
            <a:avLst/>
          </a:prstGeom>
          <a:noFill/>
        </p:spPr>
        <p:txBody>
          <a:bodyPr wrap="square" rtlCol="0">
            <a:spAutoFit/>
          </a:bodyPr>
          <a:lstStyle/>
          <a:p>
            <a:r>
              <a:rPr lang="en-US" dirty="0"/>
              <a:t>Credit to </a:t>
            </a:r>
            <a:r>
              <a:rPr lang="en-US" dirty="0" err="1"/>
              <a:t>LibreTexts</a:t>
            </a:r>
            <a:r>
              <a:rPr lang="en-US" dirty="0"/>
              <a:t> Chemistry for all figures used here.</a:t>
            </a:r>
          </a:p>
        </p:txBody>
      </p:sp>
      <p:pic>
        <p:nvPicPr>
          <p:cNvPr id="5" name="Picture 4">
            <a:extLst>
              <a:ext uri="{FF2B5EF4-FFF2-40B4-BE49-F238E27FC236}">
                <a16:creationId xmlns:a16="http://schemas.microsoft.com/office/drawing/2014/main" id="{E196FC06-F5EA-56F9-1147-D66577B4B4BC}"/>
              </a:ext>
            </a:extLst>
          </p:cNvPr>
          <p:cNvPicPr>
            <a:picLocks noChangeAspect="1"/>
          </p:cNvPicPr>
          <p:nvPr/>
        </p:nvPicPr>
        <p:blipFill>
          <a:blip r:embed="rId3"/>
          <a:stretch>
            <a:fillRect/>
          </a:stretch>
        </p:blipFill>
        <p:spPr>
          <a:xfrm>
            <a:off x="7049733" y="2319762"/>
            <a:ext cx="4842931" cy="3239312"/>
          </a:xfrm>
          <a:prstGeom prst="rect">
            <a:avLst/>
          </a:prstGeom>
        </p:spPr>
      </p:pic>
    </p:spTree>
    <p:extLst>
      <p:ext uri="{BB962C8B-B14F-4D97-AF65-F5344CB8AC3E}">
        <p14:creationId xmlns:p14="http://schemas.microsoft.com/office/powerpoint/2010/main" val="39115448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291E0-9B78-20CE-674F-CBAF0FBB1C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64958D-0F48-7AC6-37CD-D695E1904A0D}"/>
              </a:ext>
            </a:extLst>
          </p:cNvPr>
          <p:cNvSpPr>
            <a:spLocks noGrp="1"/>
          </p:cNvSpPr>
          <p:nvPr>
            <p:ph type="title"/>
          </p:nvPr>
        </p:nvSpPr>
        <p:spPr/>
        <p:txBody>
          <a:bodyPr/>
          <a:lstStyle/>
          <a:p>
            <a:r>
              <a:rPr lang="en-US" dirty="0"/>
              <a:t>Harmonic Oscillator</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9F46B88-D3B2-2D7B-5D24-8A54AC3F2284}"/>
                  </a:ext>
                </a:extLst>
              </p:cNvPr>
              <p:cNvSpPr>
                <a:spLocks noGrp="1"/>
              </p:cNvSpPr>
              <p:nvPr>
                <p:ph idx="1"/>
              </p:nvPr>
            </p:nvSpPr>
            <p:spPr>
              <a:xfrm>
                <a:off x="838200" y="1825625"/>
                <a:ext cx="6211533" cy="4351338"/>
              </a:xfrm>
            </p:spPr>
            <p:txBody>
              <a:bodyPr/>
              <a:lstStyle/>
              <a:p>
                <a:r>
                  <a:rPr lang="en-US" dirty="0"/>
                  <a:t>If we apply Newton’s second law, we get,</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𝐹</m:t>
                      </m:r>
                      <m:r>
                        <a:rPr lang="en-US" b="0" i="1" smtClean="0">
                          <a:latin typeface="Cambria Math" panose="02040503050406030204" pitchFamily="18" charset="0"/>
                        </a:rPr>
                        <m:t>=</m:t>
                      </m:r>
                      <m:r>
                        <a:rPr lang="en-US" b="0" i="1" smtClean="0">
                          <a:latin typeface="Cambria Math" panose="02040503050406030204" pitchFamily="18" charset="0"/>
                        </a:rPr>
                        <m:t>𝑚</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𝑑</m:t>
                              </m:r>
                            </m:e>
                            <m:sup>
                              <m:r>
                                <a:rPr lang="en-US" b="0" i="1" smtClean="0">
                                  <a:latin typeface="Cambria Math" panose="02040503050406030204" pitchFamily="18" charset="0"/>
                                </a:rPr>
                                <m:t>2</m:t>
                              </m:r>
                            </m:sup>
                          </m:sSup>
                          <m:r>
                            <a:rPr lang="en-US" b="0" i="1" smtClean="0">
                              <a:latin typeface="Cambria Math" panose="02040503050406030204" pitchFamily="18" charset="0"/>
                            </a:rPr>
                            <m:t>𝑥</m:t>
                          </m:r>
                        </m:num>
                        <m:den>
                          <m:r>
                            <a:rPr lang="en-US" b="0" i="1" smtClean="0">
                              <a:latin typeface="Cambria Math" panose="02040503050406030204" pitchFamily="18" charset="0"/>
                            </a:rPr>
                            <m:t>𝑑</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𝑡</m:t>
                              </m:r>
                            </m:e>
                            <m:sup>
                              <m:r>
                                <a:rPr lang="en-US" b="0" i="1" smtClean="0">
                                  <a:latin typeface="Cambria Math" panose="02040503050406030204" pitchFamily="18" charset="0"/>
                                </a:rPr>
                                <m:t>2</m:t>
                              </m:r>
                            </m:sup>
                          </m:sSup>
                        </m:den>
                      </m:f>
                      <m:r>
                        <a:rPr lang="en-US" b="0" i="1" smtClean="0">
                          <a:latin typeface="Cambria Math" panose="02040503050406030204" pitchFamily="18" charset="0"/>
                        </a:rPr>
                        <m:t>=−</m:t>
                      </m:r>
                      <m:r>
                        <a:rPr lang="en-US" b="0" i="1" smtClean="0">
                          <a:latin typeface="Cambria Math" panose="02040503050406030204" pitchFamily="18" charset="0"/>
                        </a:rPr>
                        <m:t>𝑘𝑥</m:t>
                      </m:r>
                    </m:oMath>
                  </m:oMathPara>
                </a14:m>
                <a:endParaRPr lang="en-US" dirty="0"/>
              </a:p>
            </p:txBody>
          </p:sp>
        </mc:Choice>
        <mc:Fallback>
          <p:sp>
            <p:nvSpPr>
              <p:cNvPr id="3" name="Content Placeholder 2">
                <a:extLst>
                  <a:ext uri="{FF2B5EF4-FFF2-40B4-BE49-F238E27FC236}">
                    <a16:creationId xmlns:a16="http://schemas.microsoft.com/office/drawing/2014/main" id="{89F46B88-D3B2-2D7B-5D24-8A54AC3F2284}"/>
                  </a:ext>
                </a:extLst>
              </p:cNvPr>
              <p:cNvSpPr>
                <a:spLocks noGrp="1" noRot="1" noChangeAspect="1" noMove="1" noResize="1" noEditPoints="1" noAdjustHandles="1" noChangeArrowheads="1" noChangeShapeType="1" noTextEdit="1"/>
              </p:cNvSpPr>
              <p:nvPr>
                <p:ph idx="1"/>
              </p:nvPr>
            </p:nvSpPr>
            <p:spPr>
              <a:xfrm>
                <a:off x="838200" y="1825625"/>
                <a:ext cx="6211533" cy="4351338"/>
              </a:xfrm>
              <a:blipFill>
                <a:blip r:embed="rId2"/>
                <a:stretch>
                  <a:fillRect l="-1840" t="-2326"/>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249AD6B4-D5D2-CB23-F83F-61CDD85E5323}"/>
              </a:ext>
            </a:extLst>
          </p:cNvPr>
          <p:cNvSpPr txBox="1"/>
          <p:nvPr/>
        </p:nvSpPr>
        <p:spPr>
          <a:xfrm>
            <a:off x="838200" y="6326372"/>
            <a:ext cx="10515600" cy="369332"/>
          </a:xfrm>
          <a:prstGeom prst="rect">
            <a:avLst/>
          </a:prstGeom>
          <a:noFill/>
        </p:spPr>
        <p:txBody>
          <a:bodyPr wrap="square" rtlCol="0">
            <a:spAutoFit/>
          </a:bodyPr>
          <a:lstStyle/>
          <a:p>
            <a:r>
              <a:rPr lang="en-US" dirty="0"/>
              <a:t>Credit to </a:t>
            </a:r>
            <a:r>
              <a:rPr lang="en-US" dirty="0" err="1"/>
              <a:t>LibreTexts</a:t>
            </a:r>
            <a:r>
              <a:rPr lang="en-US" dirty="0"/>
              <a:t> Chemistry for all figures used here.</a:t>
            </a:r>
          </a:p>
        </p:txBody>
      </p:sp>
      <p:pic>
        <p:nvPicPr>
          <p:cNvPr id="5" name="Picture 4">
            <a:extLst>
              <a:ext uri="{FF2B5EF4-FFF2-40B4-BE49-F238E27FC236}">
                <a16:creationId xmlns:a16="http://schemas.microsoft.com/office/drawing/2014/main" id="{59FACD0E-1560-1268-5415-BA04DDD539D1}"/>
              </a:ext>
            </a:extLst>
          </p:cNvPr>
          <p:cNvPicPr>
            <a:picLocks noChangeAspect="1"/>
          </p:cNvPicPr>
          <p:nvPr/>
        </p:nvPicPr>
        <p:blipFill>
          <a:blip r:embed="rId3"/>
          <a:stretch>
            <a:fillRect/>
          </a:stretch>
        </p:blipFill>
        <p:spPr>
          <a:xfrm>
            <a:off x="7049733" y="2319762"/>
            <a:ext cx="4842931" cy="3239312"/>
          </a:xfrm>
          <a:prstGeom prst="rect">
            <a:avLst/>
          </a:prstGeom>
        </p:spPr>
      </p:pic>
    </p:spTree>
    <p:extLst>
      <p:ext uri="{BB962C8B-B14F-4D97-AF65-F5344CB8AC3E}">
        <p14:creationId xmlns:p14="http://schemas.microsoft.com/office/powerpoint/2010/main" val="8440379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5CA9A-9821-5CB4-6279-1D79C4112C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E240E0-2124-F1BF-FE76-3B60A9331720}"/>
              </a:ext>
            </a:extLst>
          </p:cNvPr>
          <p:cNvSpPr>
            <a:spLocks noGrp="1"/>
          </p:cNvSpPr>
          <p:nvPr>
            <p:ph type="title"/>
          </p:nvPr>
        </p:nvSpPr>
        <p:spPr/>
        <p:txBody>
          <a:bodyPr/>
          <a:lstStyle/>
          <a:p>
            <a:r>
              <a:rPr lang="en-US" dirty="0"/>
              <a:t>Harmonic Oscillator</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DE30A106-3719-F5D3-2B76-D7FE11E95164}"/>
                  </a:ext>
                </a:extLst>
              </p:cNvPr>
              <p:cNvSpPr>
                <a:spLocks noGrp="1"/>
              </p:cNvSpPr>
              <p:nvPr>
                <p:ph idx="1"/>
              </p:nvPr>
            </p:nvSpPr>
            <p:spPr>
              <a:xfrm>
                <a:off x="838200" y="1825625"/>
                <a:ext cx="6211533" cy="4351338"/>
              </a:xfrm>
            </p:spPr>
            <p:txBody>
              <a:bodyPr/>
              <a:lstStyle/>
              <a:p>
                <a:r>
                  <a:rPr lang="en-US" dirty="0"/>
                  <a:t>If we apply Newton’s second law, we get,</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𝐹</m:t>
                      </m:r>
                      <m:r>
                        <a:rPr lang="en-US" b="0" i="1" smtClean="0">
                          <a:latin typeface="Cambria Math" panose="02040503050406030204" pitchFamily="18" charset="0"/>
                        </a:rPr>
                        <m:t>=</m:t>
                      </m:r>
                      <m:r>
                        <a:rPr lang="en-US" b="0" i="1" smtClean="0">
                          <a:latin typeface="Cambria Math" panose="02040503050406030204" pitchFamily="18" charset="0"/>
                        </a:rPr>
                        <m:t>𝑚</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𝑑</m:t>
                              </m:r>
                            </m:e>
                            <m:sup>
                              <m:r>
                                <a:rPr lang="en-US" b="0" i="1" smtClean="0">
                                  <a:latin typeface="Cambria Math" panose="02040503050406030204" pitchFamily="18" charset="0"/>
                                </a:rPr>
                                <m:t>2</m:t>
                              </m:r>
                            </m:sup>
                          </m:sSup>
                          <m:r>
                            <a:rPr lang="en-US" b="0" i="1" smtClean="0">
                              <a:latin typeface="Cambria Math" panose="02040503050406030204" pitchFamily="18" charset="0"/>
                            </a:rPr>
                            <m:t>𝑥</m:t>
                          </m:r>
                        </m:num>
                        <m:den>
                          <m:r>
                            <a:rPr lang="en-US" b="0" i="1" smtClean="0">
                              <a:latin typeface="Cambria Math" panose="02040503050406030204" pitchFamily="18" charset="0"/>
                            </a:rPr>
                            <m:t>𝑑</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𝑡</m:t>
                              </m:r>
                            </m:e>
                            <m:sup>
                              <m:r>
                                <a:rPr lang="en-US" b="0" i="1" smtClean="0">
                                  <a:latin typeface="Cambria Math" panose="02040503050406030204" pitchFamily="18" charset="0"/>
                                </a:rPr>
                                <m:t>2</m:t>
                              </m:r>
                            </m:sup>
                          </m:sSup>
                        </m:den>
                      </m:f>
                      <m:r>
                        <a:rPr lang="en-US" b="0" i="1" smtClean="0">
                          <a:latin typeface="Cambria Math" panose="02040503050406030204" pitchFamily="18" charset="0"/>
                        </a:rPr>
                        <m:t>=−</m:t>
                      </m:r>
                      <m:r>
                        <a:rPr lang="en-US" b="0" i="1" smtClean="0">
                          <a:latin typeface="Cambria Math" panose="02040503050406030204" pitchFamily="18" charset="0"/>
                        </a:rPr>
                        <m:t>𝑘𝑥</m:t>
                      </m:r>
                    </m:oMath>
                  </m:oMathPara>
                </a14:m>
                <a:endParaRPr lang="en-US" dirty="0"/>
              </a:p>
              <a:p>
                <a:r>
                  <a:rPr lang="en-US" dirty="0"/>
                  <a:t>We can recast this into the following form,</a:t>
                </a:r>
              </a:p>
              <a:p>
                <a:pPr marL="0" indent="0">
                  <a:buNone/>
                </a:pP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𝜔</m:t>
                          </m:r>
                        </m:e>
                        <m:sup>
                          <m:r>
                            <a:rPr lang="en-US" b="0" i="1" smtClean="0">
                              <a:latin typeface="Cambria Math" panose="02040503050406030204" pitchFamily="18" charset="0"/>
                            </a:rPr>
                            <m:t>2</m:t>
                          </m:r>
                        </m:sup>
                      </m:sSup>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m:oMathPara>
                </a14:m>
                <a:endParaRPr lang="en-US" dirty="0"/>
              </a:p>
            </p:txBody>
          </p:sp>
        </mc:Choice>
        <mc:Fallback>
          <p:sp>
            <p:nvSpPr>
              <p:cNvPr id="3" name="Content Placeholder 2">
                <a:extLst>
                  <a:ext uri="{FF2B5EF4-FFF2-40B4-BE49-F238E27FC236}">
                    <a16:creationId xmlns:a16="http://schemas.microsoft.com/office/drawing/2014/main" id="{DE30A106-3719-F5D3-2B76-D7FE11E95164}"/>
                  </a:ext>
                </a:extLst>
              </p:cNvPr>
              <p:cNvSpPr>
                <a:spLocks noGrp="1" noRot="1" noChangeAspect="1" noMove="1" noResize="1" noEditPoints="1" noAdjustHandles="1" noChangeArrowheads="1" noChangeShapeType="1" noTextEdit="1"/>
              </p:cNvSpPr>
              <p:nvPr>
                <p:ph idx="1"/>
              </p:nvPr>
            </p:nvSpPr>
            <p:spPr>
              <a:xfrm>
                <a:off x="838200" y="1825625"/>
                <a:ext cx="6211533" cy="4351338"/>
              </a:xfrm>
              <a:blipFill>
                <a:blip r:embed="rId2"/>
                <a:stretch>
                  <a:fillRect l="-1840" t="-2326"/>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5987CABD-9BBD-C3FA-5439-77B5D7B0574C}"/>
              </a:ext>
            </a:extLst>
          </p:cNvPr>
          <p:cNvSpPr txBox="1"/>
          <p:nvPr/>
        </p:nvSpPr>
        <p:spPr>
          <a:xfrm>
            <a:off x="838200" y="6326372"/>
            <a:ext cx="10515600" cy="369332"/>
          </a:xfrm>
          <a:prstGeom prst="rect">
            <a:avLst/>
          </a:prstGeom>
          <a:noFill/>
        </p:spPr>
        <p:txBody>
          <a:bodyPr wrap="square" rtlCol="0">
            <a:spAutoFit/>
          </a:bodyPr>
          <a:lstStyle/>
          <a:p>
            <a:r>
              <a:rPr lang="en-US" dirty="0"/>
              <a:t>Credit to </a:t>
            </a:r>
            <a:r>
              <a:rPr lang="en-US" dirty="0" err="1"/>
              <a:t>LibreTexts</a:t>
            </a:r>
            <a:r>
              <a:rPr lang="en-US" dirty="0"/>
              <a:t> Chemistry for all figures used here.</a:t>
            </a:r>
          </a:p>
        </p:txBody>
      </p:sp>
      <p:pic>
        <p:nvPicPr>
          <p:cNvPr id="5" name="Picture 4">
            <a:extLst>
              <a:ext uri="{FF2B5EF4-FFF2-40B4-BE49-F238E27FC236}">
                <a16:creationId xmlns:a16="http://schemas.microsoft.com/office/drawing/2014/main" id="{B3334B59-B164-76E1-AF53-4311D296677E}"/>
              </a:ext>
            </a:extLst>
          </p:cNvPr>
          <p:cNvPicPr>
            <a:picLocks noChangeAspect="1"/>
          </p:cNvPicPr>
          <p:nvPr/>
        </p:nvPicPr>
        <p:blipFill>
          <a:blip r:embed="rId3"/>
          <a:stretch>
            <a:fillRect/>
          </a:stretch>
        </p:blipFill>
        <p:spPr>
          <a:xfrm>
            <a:off x="7049733" y="2319762"/>
            <a:ext cx="4842931" cy="3239312"/>
          </a:xfrm>
          <a:prstGeom prst="rect">
            <a:avLst/>
          </a:prstGeom>
        </p:spPr>
      </p:pic>
    </p:spTree>
    <p:extLst>
      <p:ext uri="{BB962C8B-B14F-4D97-AF65-F5344CB8AC3E}">
        <p14:creationId xmlns:p14="http://schemas.microsoft.com/office/powerpoint/2010/main" val="34761975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053062-32EB-3361-B280-2678169D0D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F90FA4-964A-4A82-FB58-F125581BE949}"/>
              </a:ext>
            </a:extLst>
          </p:cNvPr>
          <p:cNvSpPr>
            <a:spLocks noGrp="1"/>
          </p:cNvSpPr>
          <p:nvPr>
            <p:ph type="title"/>
          </p:nvPr>
        </p:nvSpPr>
        <p:spPr/>
        <p:txBody>
          <a:bodyPr/>
          <a:lstStyle/>
          <a:p>
            <a:r>
              <a:rPr lang="en-US" dirty="0"/>
              <a:t>Harmonic Oscillator</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661F77D-9A58-A1F7-CB73-B50BAB5E5883}"/>
                  </a:ext>
                </a:extLst>
              </p:cNvPr>
              <p:cNvSpPr>
                <a:spLocks noGrp="1"/>
              </p:cNvSpPr>
              <p:nvPr>
                <p:ph idx="1"/>
              </p:nvPr>
            </p:nvSpPr>
            <p:spPr>
              <a:xfrm>
                <a:off x="838200" y="1825625"/>
                <a:ext cx="6211533" cy="4351338"/>
              </a:xfrm>
            </p:spPr>
            <p:txBody>
              <a:bodyPr/>
              <a:lstStyle/>
              <a:p>
                <a:r>
                  <a:rPr lang="en-US" dirty="0"/>
                  <a:t>If we apply Newton’s second law, we get,</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𝐹</m:t>
                      </m:r>
                      <m:r>
                        <a:rPr lang="en-US" b="0" i="1" smtClean="0">
                          <a:latin typeface="Cambria Math" panose="02040503050406030204" pitchFamily="18" charset="0"/>
                        </a:rPr>
                        <m:t>=</m:t>
                      </m:r>
                      <m:r>
                        <a:rPr lang="en-US" b="0" i="1" smtClean="0">
                          <a:latin typeface="Cambria Math" panose="02040503050406030204" pitchFamily="18" charset="0"/>
                        </a:rPr>
                        <m:t>𝑚</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𝑑</m:t>
                              </m:r>
                            </m:e>
                            <m:sup>
                              <m:r>
                                <a:rPr lang="en-US" b="0" i="1" smtClean="0">
                                  <a:latin typeface="Cambria Math" panose="02040503050406030204" pitchFamily="18" charset="0"/>
                                </a:rPr>
                                <m:t>2</m:t>
                              </m:r>
                            </m:sup>
                          </m:sSup>
                          <m:r>
                            <a:rPr lang="en-US" b="0" i="1" smtClean="0">
                              <a:latin typeface="Cambria Math" panose="02040503050406030204" pitchFamily="18" charset="0"/>
                            </a:rPr>
                            <m:t>𝑥</m:t>
                          </m:r>
                        </m:num>
                        <m:den>
                          <m:r>
                            <a:rPr lang="en-US" b="0" i="1" smtClean="0">
                              <a:latin typeface="Cambria Math" panose="02040503050406030204" pitchFamily="18" charset="0"/>
                            </a:rPr>
                            <m:t>𝑑</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𝑡</m:t>
                              </m:r>
                            </m:e>
                            <m:sup>
                              <m:r>
                                <a:rPr lang="en-US" b="0" i="1" smtClean="0">
                                  <a:latin typeface="Cambria Math" panose="02040503050406030204" pitchFamily="18" charset="0"/>
                                </a:rPr>
                                <m:t>2</m:t>
                              </m:r>
                            </m:sup>
                          </m:sSup>
                        </m:den>
                      </m:f>
                      <m:r>
                        <a:rPr lang="en-US" b="0" i="1" smtClean="0">
                          <a:latin typeface="Cambria Math" panose="02040503050406030204" pitchFamily="18" charset="0"/>
                        </a:rPr>
                        <m:t>=−</m:t>
                      </m:r>
                      <m:r>
                        <a:rPr lang="en-US" b="0" i="1" smtClean="0">
                          <a:latin typeface="Cambria Math" panose="02040503050406030204" pitchFamily="18" charset="0"/>
                        </a:rPr>
                        <m:t>𝑘𝑥</m:t>
                      </m:r>
                    </m:oMath>
                  </m:oMathPara>
                </a14:m>
                <a:endParaRPr lang="en-US" dirty="0"/>
              </a:p>
              <a:p>
                <a:r>
                  <a:rPr lang="en-US" dirty="0"/>
                  <a:t>We can recast this into the following form,</a:t>
                </a:r>
              </a:p>
              <a:p>
                <a:pPr marL="0" indent="0">
                  <a:buNone/>
                </a:pP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𝜔</m:t>
                          </m:r>
                        </m:e>
                        <m:sup>
                          <m:r>
                            <a:rPr lang="en-US" b="0" i="1" smtClean="0">
                              <a:latin typeface="Cambria Math" panose="02040503050406030204" pitchFamily="18" charset="0"/>
                            </a:rPr>
                            <m:t>2</m:t>
                          </m:r>
                        </m:sup>
                      </m:sSup>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m:oMathPara>
                </a14:m>
                <a:endParaRPr lang="en-US" dirty="0"/>
              </a:p>
              <a:p>
                <a:r>
                  <a:rPr lang="en-US" dirty="0"/>
                  <a:t>Where,</a:t>
                </a:r>
              </a:p>
              <a:p>
                <a:pPr marL="0" indent="0">
                  <a:buNone/>
                </a:pP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𝑑</m:t>
                              </m:r>
                            </m:e>
                            <m:sup>
                              <m:r>
                                <a:rPr lang="en-US" b="0" i="1" smtClean="0">
                                  <a:latin typeface="Cambria Math" panose="02040503050406030204" pitchFamily="18" charset="0"/>
                                </a:rPr>
                                <m:t>2</m:t>
                              </m:r>
                            </m:sup>
                          </m:sSup>
                          <m:r>
                            <a:rPr lang="en-US" b="0" i="1" smtClean="0">
                              <a:latin typeface="Cambria Math" panose="02040503050406030204" pitchFamily="18" charset="0"/>
                            </a:rPr>
                            <m:t>𝑥</m:t>
                          </m:r>
                        </m:num>
                        <m:den>
                          <m:r>
                            <a:rPr lang="en-US" b="0" i="1" smtClean="0">
                              <a:latin typeface="Cambria Math" panose="02040503050406030204" pitchFamily="18" charset="0"/>
                            </a:rPr>
                            <m:t>𝑑</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𝑡</m:t>
                              </m:r>
                            </m:e>
                            <m:sup>
                              <m:r>
                                <a:rPr lang="en-US" b="0" i="1" smtClean="0">
                                  <a:latin typeface="Cambria Math" panose="02040503050406030204" pitchFamily="18" charset="0"/>
                                </a:rPr>
                                <m:t>2</m:t>
                              </m:r>
                            </m:sup>
                          </m:sSup>
                        </m:den>
                      </m:f>
                      <m:r>
                        <a:rPr lang="en-US" b="0" i="0"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𝜔</m:t>
                          </m:r>
                        </m:e>
                        <m:sup>
                          <m:r>
                            <a:rPr lang="en-US" b="0" i="1" smtClean="0">
                              <a:latin typeface="Cambria Math" panose="02040503050406030204" pitchFamily="18" charset="0"/>
                            </a:rPr>
                            <m:t>2</m:t>
                          </m:r>
                        </m:sup>
                      </m:sSup>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𝑘</m:t>
                          </m:r>
                        </m:num>
                        <m:den>
                          <m:r>
                            <a:rPr lang="en-US" b="0" i="1" smtClean="0">
                              <a:latin typeface="Cambria Math" panose="02040503050406030204" pitchFamily="18" charset="0"/>
                            </a:rPr>
                            <m:t>𝑚</m:t>
                          </m:r>
                        </m:den>
                      </m:f>
                    </m:oMath>
                  </m:oMathPara>
                </a14:m>
                <a:endParaRPr lang="en-US" dirty="0"/>
              </a:p>
            </p:txBody>
          </p:sp>
        </mc:Choice>
        <mc:Fallback>
          <p:sp>
            <p:nvSpPr>
              <p:cNvPr id="3" name="Content Placeholder 2">
                <a:extLst>
                  <a:ext uri="{FF2B5EF4-FFF2-40B4-BE49-F238E27FC236}">
                    <a16:creationId xmlns:a16="http://schemas.microsoft.com/office/drawing/2014/main" id="{8661F77D-9A58-A1F7-CB73-B50BAB5E5883}"/>
                  </a:ext>
                </a:extLst>
              </p:cNvPr>
              <p:cNvSpPr>
                <a:spLocks noGrp="1" noRot="1" noChangeAspect="1" noMove="1" noResize="1" noEditPoints="1" noAdjustHandles="1" noChangeArrowheads="1" noChangeShapeType="1" noTextEdit="1"/>
              </p:cNvSpPr>
              <p:nvPr>
                <p:ph idx="1"/>
              </p:nvPr>
            </p:nvSpPr>
            <p:spPr>
              <a:xfrm>
                <a:off x="838200" y="1825625"/>
                <a:ext cx="6211533" cy="4351338"/>
              </a:xfrm>
              <a:blipFill>
                <a:blip r:embed="rId2"/>
                <a:stretch>
                  <a:fillRect l="-1840" t="-2326"/>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6FF26919-2350-4C27-201C-C03F43E796F3}"/>
              </a:ext>
            </a:extLst>
          </p:cNvPr>
          <p:cNvSpPr txBox="1"/>
          <p:nvPr/>
        </p:nvSpPr>
        <p:spPr>
          <a:xfrm>
            <a:off x="838200" y="6326372"/>
            <a:ext cx="10515600" cy="369332"/>
          </a:xfrm>
          <a:prstGeom prst="rect">
            <a:avLst/>
          </a:prstGeom>
          <a:noFill/>
        </p:spPr>
        <p:txBody>
          <a:bodyPr wrap="square" rtlCol="0">
            <a:spAutoFit/>
          </a:bodyPr>
          <a:lstStyle/>
          <a:p>
            <a:r>
              <a:rPr lang="en-US" dirty="0"/>
              <a:t>Credit to </a:t>
            </a:r>
            <a:r>
              <a:rPr lang="en-US" dirty="0" err="1"/>
              <a:t>LibreTexts</a:t>
            </a:r>
            <a:r>
              <a:rPr lang="en-US" dirty="0"/>
              <a:t> Chemistry for all figures used here.</a:t>
            </a:r>
          </a:p>
        </p:txBody>
      </p:sp>
      <p:pic>
        <p:nvPicPr>
          <p:cNvPr id="5" name="Picture 4">
            <a:extLst>
              <a:ext uri="{FF2B5EF4-FFF2-40B4-BE49-F238E27FC236}">
                <a16:creationId xmlns:a16="http://schemas.microsoft.com/office/drawing/2014/main" id="{18BA96CB-21A8-96D9-7079-B8B28A147CA2}"/>
              </a:ext>
            </a:extLst>
          </p:cNvPr>
          <p:cNvPicPr>
            <a:picLocks noChangeAspect="1"/>
          </p:cNvPicPr>
          <p:nvPr/>
        </p:nvPicPr>
        <p:blipFill>
          <a:blip r:embed="rId3"/>
          <a:stretch>
            <a:fillRect/>
          </a:stretch>
        </p:blipFill>
        <p:spPr>
          <a:xfrm>
            <a:off x="7049733" y="2319762"/>
            <a:ext cx="4842931" cy="3239312"/>
          </a:xfrm>
          <a:prstGeom prst="rect">
            <a:avLst/>
          </a:prstGeom>
        </p:spPr>
      </p:pic>
    </p:spTree>
    <p:extLst>
      <p:ext uri="{BB962C8B-B14F-4D97-AF65-F5344CB8AC3E}">
        <p14:creationId xmlns:p14="http://schemas.microsoft.com/office/powerpoint/2010/main" val="31131674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7D1B4E-AFC9-99AC-ADE8-D2D668717E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77567B-3C91-185E-A10C-918ADDDABD36}"/>
              </a:ext>
            </a:extLst>
          </p:cNvPr>
          <p:cNvSpPr>
            <a:spLocks noGrp="1"/>
          </p:cNvSpPr>
          <p:nvPr>
            <p:ph type="title"/>
          </p:nvPr>
        </p:nvSpPr>
        <p:spPr/>
        <p:txBody>
          <a:bodyPr/>
          <a:lstStyle/>
          <a:p>
            <a:r>
              <a:rPr lang="en-US" dirty="0"/>
              <a:t>Harmonic Oscillator</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01488A3F-419C-29FC-E43E-B453A588A215}"/>
                  </a:ext>
                </a:extLst>
              </p:cNvPr>
              <p:cNvSpPr>
                <a:spLocks noGrp="1"/>
              </p:cNvSpPr>
              <p:nvPr>
                <p:ph idx="1"/>
              </p:nvPr>
            </p:nvSpPr>
            <p:spPr>
              <a:xfrm>
                <a:off x="838200" y="1825625"/>
                <a:ext cx="6211533" cy="1502366"/>
              </a:xfrm>
            </p:spPr>
            <p:txBody>
              <a:bodyPr>
                <a:normAutofit fontScale="92500"/>
              </a:bodyPr>
              <a:lstStyle/>
              <a:p>
                <a:r>
                  <a:rPr lang="en-US" dirty="0"/>
                  <a:t>A solution to this differential equation is,</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𝐴</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sin</m:t>
                          </m:r>
                        </m:fName>
                        <m:e>
                          <m:d>
                            <m:dPr>
                              <m:ctrlPr>
                                <a:rPr lang="en-US" b="0" i="1" smtClean="0">
                                  <a:latin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𝜔</m:t>
                              </m:r>
                              <m:r>
                                <a:rPr lang="en-US" b="0" i="1" smtClean="0">
                                  <a:latin typeface="Cambria Math" panose="02040503050406030204" pitchFamily="18" charset="0"/>
                                  <a:ea typeface="Cambria Math" panose="02040503050406030204" pitchFamily="18" charset="0"/>
                                </a:rPr>
                                <m:t>𝑡</m:t>
                              </m:r>
                            </m:e>
                          </m:d>
                        </m:e>
                      </m:func>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𝐵</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cos</m:t>
                          </m:r>
                        </m:fName>
                        <m:e>
                          <m:d>
                            <m:dPr>
                              <m:ctrlPr>
                                <a:rPr lang="en-US" b="0" i="1" smtClean="0">
                                  <a:latin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𝜔</m:t>
                              </m:r>
                              <m:r>
                                <a:rPr lang="en-US" b="0" i="1" smtClean="0">
                                  <a:latin typeface="Cambria Math" panose="02040503050406030204" pitchFamily="18" charset="0"/>
                                  <a:ea typeface="Cambria Math" panose="02040503050406030204" pitchFamily="18" charset="0"/>
                                </a:rPr>
                                <m:t>𝑡</m:t>
                              </m:r>
                            </m:e>
                          </m:d>
                        </m:e>
                      </m:func>
                    </m:oMath>
                  </m:oMathPara>
                </a14:m>
                <a:endParaRPr lang="en-US" b="0" dirty="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 </m:t>
                      </m:r>
                      <m:r>
                        <a:rPr lang="en-US" b="0" i="1" smtClean="0">
                          <a:latin typeface="Cambria Math" panose="02040503050406030204" pitchFamily="18" charset="0"/>
                        </a:rPr>
                        <m:t>𝐵</m:t>
                      </m:r>
                      <m:r>
                        <a:rPr lang="en-US" b="0" i="1" smtClean="0">
                          <a:latin typeface="Cambria Math" panose="02040503050406030204" pitchFamily="18" charset="0"/>
                        </a:rPr>
                        <m:t>=</m:t>
                      </m:r>
                      <m:r>
                        <a:rPr lang="en-US" b="0" i="1" smtClean="0">
                          <a:latin typeface="Cambria Math" panose="02040503050406030204" pitchFamily="18" charset="0"/>
                        </a:rPr>
                        <m:t>𝑐𝑜𝑛𝑠𝑡</m:t>
                      </m:r>
                    </m:oMath>
                  </m:oMathPara>
                </a14:m>
                <a:endParaRPr lang="en-US" dirty="0"/>
              </a:p>
              <a:p>
                <a:pPr marL="0" indent="0">
                  <a:buNone/>
                </a:pPr>
                <a:endParaRPr lang="en-US" dirty="0"/>
              </a:p>
            </p:txBody>
          </p:sp>
        </mc:Choice>
        <mc:Fallback>
          <p:sp>
            <p:nvSpPr>
              <p:cNvPr id="3" name="Content Placeholder 2">
                <a:extLst>
                  <a:ext uri="{FF2B5EF4-FFF2-40B4-BE49-F238E27FC236}">
                    <a16:creationId xmlns:a16="http://schemas.microsoft.com/office/drawing/2014/main" id="{01488A3F-419C-29FC-E43E-B453A588A215}"/>
                  </a:ext>
                </a:extLst>
              </p:cNvPr>
              <p:cNvSpPr>
                <a:spLocks noGrp="1" noRot="1" noChangeAspect="1" noMove="1" noResize="1" noEditPoints="1" noAdjustHandles="1" noChangeArrowheads="1" noChangeShapeType="1" noTextEdit="1"/>
              </p:cNvSpPr>
              <p:nvPr>
                <p:ph idx="1"/>
              </p:nvPr>
            </p:nvSpPr>
            <p:spPr>
              <a:xfrm>
                <a:off x="838200" y="1825625"/>
                <a:ext cx="6211533" cy="1502366"/>
              </a:xfrm>
              <a:blipFill>
                <a:blip r:embed="rId2"/>
                <a:stretch>
                  <a:fillRect l="-1636" t="-5833" r="-613"/>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9581A815-2EA3-0A46-4878-00B1AF6859D1}"/>
              </a:ext>
            </a:extLst>
          </p:cNvPr>
          <p:cNvSpPr txBox="1"/>
          <p:nvPr/>
        </p:nvSpPr>
        <p:spPr>
          <a:xfrm>
            <a:off x="838200" y="6326372"/>
            <a:ext cx="10515600" cy="369332"/>
          </a:xfrm>
          <a:prstGeom prst="rect">
            <a:avLst/>
          </a:prstGeom>
          <a:noFill/>
        </p:spPr>
        <p:txBody>
          <a:bodyPr wrap="square" rtlCol="0">
            <a:spAutoFit/>
          </a:bodyPr>
          <a:lstStyle/>
          <a:p>
            <a:r>
              <a:rPr lang="en-US" dirty="0"/>
              <a:t>Credit to </a:t>
            </a:r>
            <a:r>
              <a:rPr lang="en-US" dirty="0" err="1"/>
              <a:t>LibreTexts</a:t>
            </a:r>
            <a:r>
              <a:rPr lang="en-US" dirty="0"/>
              <a:t> Chemistry for all figures used here.</a:t>
            </a:r>
          </a:p>
        </p:txBody>
      </p:sp>
      <p:pic>
        <p:nvPicPr>
          <p:cNvPr id="5" name="Picture 4">
            <a:extLst>
              <a:ext uri="{FF2B5EF4-FFF2-40B4-BE49-F238E27FC236}">
                <a16:creationId xmlns:a16="http://schemas.microsoft.com/office/drawing/2014/main" id="{AA118E40-8EE5-D950-AD86-B6F27EED875E}"/>
              </a:ext>
            </a:extLst>
          </p:cNvPr>
          <p:cNvPicPr>
            <a:picLocks noChangeAspect="1"/>
          </p:cNvPicPr>
          <p:nvPr/>
        </p:nvPicPr>
        <p:blipFill>
          <a:blip r:embed="rId3"/>
          <a:stretch>
            <a:fillRect/>
          </a:stretch>
        </p:blipFill>
        <p:spPr>
          <a:xfrm>
            <a:off x="7049733" y="2319762"/>
            <a:ext cx="4842931" cy="3239312"/>
          </a:xfrm>
          <a:prstGeom prst="rect">
            <a:avLst/>
          </a:prstGeom>
        </p:spPr>
      </p:pic>
    </p:spTree>
    <p:extLst>
      <p:ext uri="{BB962C8B-B14F-4D97-AF65-F5344CB8AC3E}">
        <p14:creationId xmlns:p14="http://schemas.microsoft.com/office/powerpoint/2010/main" val="10677105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2A305B-EC9C-BC8D-E104-BC0C22EEC1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83F739-5455-48C0-47FE-9C96C23B439B}"/>
              </a:ext>
            </a:extLst>
          </p:cNvPr>
          <p:cNvSpPr>
            <a:spLocks noGrp="1"/>
          </p:cNvSpPr>
          <p:nvPr>
            <p:ph type="title"/>
          </p:nvPr>
        </p:nvSpPr>
        <p:spPr/>
        <p:txBody>
          <a:bodyPr/>
          <a:lstStyle/>
          <a:p>
            <a:r>
              <a:rPr lang="en-US" dirty="0"/>
              <a:t>Harmonic Oscillator</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5725D87-7DDB-7FB9-EBF0-5261AD2EE0E8}"/>
                  </a:ext>
                </a:extLst>
              </p:cNvPr>
              <p:cNvSpPr>
                <a:spLocks noGrp="1"/>
              </p:cNvSpPr>
              <p:nvPr>
                <p:ph idx="1"/>
              </p:nvPr>
            </p:nvSpPr>
            <p:spPr>
              <a:xfrm>
                <a:off x="838200" y="1825625"/>
                <a:ext cx="6211533" cy="4351338"/>
              </a:xfrm>
            </p:spPr>
            <p:txBody>
              <a:bodyPr>
                <a:normAutofit fontScale="92500"/>
              </a:bodyPr>
              <a:lstStyle/>
              <a:p>
                <a:r>
                  <a:rPr lang="en-US" dirty="0"/>
                  <a:t>A solution to this differential equation is,</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𝐴</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sin</m:t>
                          </m:r>
                        </m:fName>
                        <m:e>
                          <m:d>
                            <m:dPr>
                              <m:ctrlPr>
                                <a:rPr lang="en-US" b="0" i="1" smtClean="0">
                                  <a:latin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𝜔</m:t>
                              </m:r>
                              <m:r>
                                <a:rPr lang="en-US" b="0" i="1" smtClean="0">
                                  <a:latin typeface="Cambria Math" panose="02040503050406030204" pitchFamily="18" charset="0"/>
                                  <a:ea typeface="Cambria Math" panose="02040503050406030204" pitchFamily="18" charset="0"/>
                                </a:rPr>
                                <m:t>𝑡</m:t>
                              </m:r>
                            </m:e>
                          </m:d>
                        </m:e>
                      </m:func>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𝐵</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cos</m:t>
                          </m:r>
                        </m:fName>
                        <m:e>
                          <m:d>
                            <m:dPr>
                              <m:ctrlPr>
                                <a:rPr lang="en-US" b="0" i="1" smtClean="0">
                                  <a:latin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𝜔</m:t>
                              </m:r>
                              <m:r>
                                <a:rPr lang="en-US" b="0" i="1" smtClean="0">
                                  <a:latin typeface="Cambria Math" panose="02040503050406030204" pitchFamily="18" charset="0"/>
                                  <a:ea typeface="Cambria Math" panose="02040503050406030204" pitchFamily="18" charset="0"/>
                                </a:rPr>
                                <m:t>𝑡</m:t>
                              </m:r>
                            </m:e>
                          </m:d>
                        </m:e>
                      </m:func>
                    </m:oMath>
                  </m:oMathPara>
                </a14:m>
                <a:endParaRPr lang="en-US" b="0" dirty="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 </m:t>
                      </m:r>
                      <m:r>
                        <a:rPr lang="en-US" b="0" i="1" smtClean="0">
                          <a:latin typeface="Cambria Math" panose="02040503050406030204" pitchFamily="18" charset="0"/>
                        </a:rPr>
                        <m:t>𝐵</m:t>
                      </m:r>
                      <m:r>
                        <a:rPr lang="en-US" b="0" i="1" smtClean="0">
                          <a:latin typeface="Cambria Math" panose="02040503050406030204" pitchFamily="18" charset="0"/>
                        </a:rPr>
                        <m:t>=</m:t>
                      </m:r>
                      <m:r>
                        <a:rPr lang="en-US" b="0" i="1" smtClean="0">
                          <a:latin typeface="Cambria Math" panose="02040503050406030204" pitchFamily="18" charset="0"/>
                        </a:rPr>
                        <m:t>𝑐𝑜𝑛𝑠𝑡</m:t>
                      </m:r>
                    </m:oMath>
                  </m:oMathPara>
                </a14:m>
                <a:endParaRPr lang="en-US" dirty="0"/>
              </a:p>
              <a:p>
                <a:r>
                  <a:rPr lang="en-US" dirty="0"/>
                  <a:t>Thus, we have a periodic, simple harmonic motion which occurs with constant angular frequency.</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𝜔</m:t>
                      </m:r>
                      <m:r>
                        <a:rPr lang="en-US" b="0" i="1" smtClean="0">
                          <a:latin typeface="Cambria Math" panose="02040503050406030204" pitchFamily="18" charset="0"/>
                          <a:ea typeface="Cambria Math" panose="02040503050406030204" pitchFamily="18" charset="0"/>
                        </a:rPr>
                        <m:t>=</m:t>
                      </m:r>
                      <m:rad>
                        <m:radPr>
                          <m:degHide m:val="on"/>
                          <m:ctrlPr>
                            <a:rPr lang="en-US" b="0" i="1" smtClean="0">
                              <a:latin typeface="Cambria Math" panose="02040503050406030204" pitchFamily="18" charset="0"/>
                              <a:ea typeface="Cambria Math" panose="02040503050406030204" pitchFamily="18" charset="0"/>
                            </a:rPr>
                          </m:ctrlPr>
                        </m:radPr>
                        <m:deg/>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𝑘</m:t>
                              </m:r>
                            </m:num>
                            <m:den>
                              <m:r>
                                <a:rPr lang="en-US" b="0" i="1" smtClean="0">
                                  <a:latin typeface="Cambria Math" panose="02040503050406030204" pitchFamily="18" charset="0"/>
                                  <a:ea typeface="Cambria Math" panose="02040503050406030204" pitchFamily="18" charset="0"/>
                                </a:rPr>
                                <m:t>𝑚</m:t>
                              </m:r>
                            </m:den>
                          </m:f>
                        </m:e>
                      </m:rad>
                    </m:oMath>
                  </m:oMathPara>
                </a14:m>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𝜈</m:t>
                      </m:r>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𝜔</m:t>
                          </m:r>
                        </m:num>
                        <m:den>
                          <m:r>
                            <a:rPr lang="en-US" b="0" i="1"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𝜋</m:t>
                          </m:r>
                        </m:den>
                      </m:f>
                      <m:r>
                        <a:rPr lang="en-US" b="0" i="1" smtClean="0">
                          <a:latin typeface="Cambria Math" panose="02040503050406030204" pitchFamily="18" charset="0"/>
                          <a:ea typeface="Cambria Math" panose="02040503050406030204" pitchFamily="18" charset="0"/>
                        </a:rPr>
                        <m:t>𝐻𝑧</m:t>
                      </m:r>
                    </m:oMath>
                  </m:oMathPara>
                </a14:m>
                <a:endParaRPr lang="en-US" dirty="0"/>
              </a:p>
              <a:p>
                <a:pPr marL="0" indent="0">
                  <a:buNone/>
                </a:pPr>
                <a:endParaRPr lang="en-US" dirty="0"/>
              </a:p>
            </p:txBody>
          </p:sp>
        </mc:Choice>
        <mc:Fallback>
          <p:sp>
            <p:nvSpPr>
              <p:cNvPr id="3" name="Content Placeholder 2">
                <a:extLst>
                  <a:ext uri="{FF2B5EF4-FFF2-40B4-BE49-F238E27FC236}">
                    <a16:creationId xmlns:a16="http://schemas.microsoft.com/office/drawing/2014/main" id="{F5725D87-7DDB-7FB9-EBF0-5261AD2EE0E8}"/>
                  </a:ext>
                </a:extLst>
              </p:cNvPr>
              <p:cNvSpPr>
                <a:spLocks noGrp="1" noRot="1" noChangeAspect="1" noMove="1" noResize="1" noEditPoints="1" noAdjustHandles="1" noChangeArrowheads="1" noChangeShapeType="1" noTextEdit="1"/>
              </p:cNvSpPr>
              <p:nvPr>
                <p:ph idx="1"/>
              </p:nvPr>
            </p:nvSpPr>
            <p:spPr>
              <a:xfrm>
                <a:off x="838200" y="1825625"/>
                <a:ext cx="6211533" cy="4351338"/>
              </a:xfrm>
              <a:blipFill>
                <a:blip r:embed="rId2"/>
                <a:stretch>
                  <a:fillRect l="-1636" t="-2035" r="-613"/>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F8B71383-092D-20EB-4346-9A2E72E89EB6}"/>
              </a:ext>
            </a:extLst>
          </p:cNvPr>
          <p:cNvSpPr txBox="1"/>
          <p:nvPr/>
        </p:nvSpPr>
        <p:spPr>
          <a:xfrm>
            <a:off x="838200" y="6326372"/>
            <a:ext cx="10515600" cy="369332"/>
          </a:xfrm>
          <a:prstGeom prst="rect">
            <a:avLst/>
          </a:prstGeom>
          <a:noFill/>
        </p:spPr>
        <p:txBody>
          <a:bodyPr wrap="square" rtlCol="0">
            <a:spAutoFit/>
          </a:bodyPr>
          <a:lstStyle/>
          <a:p>
            <a:r>
              <a:rPr lang="en-US" dirty="0"/>
              <a:t>Credit to </a:t>
            </a:r>
            <a:r>
              <a:rPr lang="en-US" dirty="0" err="1"/>
              <a:t>LibreTexts</a:t>
            </a:r>
            <a:r>
              <a:rPr lang="en-US" dirty="0"/>
              <a:t> Chemistry for all figures used here.</a:t>
            </a:r>
          </a:p>
        </p:txBody>
      </p:sp>
      <p:pic>
        <p:nvPicPr>
          <p:cNvPr id="5" name="Picture 4">
            <a:extLst>
              <a:ext uri="{FF2B5EF4-FFF2-40B4-BE49-F238E27FC236}">
                <a16:creationId xmlns:a16="http://schemas.microsoft.com/office/drawing/2014/main" id="{2DC74965-6F7D-D425-7D60-F5144973BCBA}"/>
              </a:ext>
            </a:extLst>
          </p:cNvPr>
          <p:cNvPicPr>
            <a:picLocks noChangeAspect="1"/>
          </p:cNvPicPr>
          <p:nvPr/>
        </p:nvPicPr>
        <p:blipFill>
          <a:blip r:embed="rId3"/>
          <a:stretch>
            <a:fillRect/>
          </a:stretch>
        </p:blipFill>
        <p:spPr>
          <a:xfrm>
            <a:off x="7049733" y="2319762"/>
            <a:ext cx="4842931" cy="3239312"/>
          </a:xfrm>
          <a:prstGeom prst="rect">
            <a:avLst/>
          </a:prstGeom>
        </p:spPr>
      </p:pic>
    </p:spTree>
    <p:extLst>
      <p:ext uri="{BB962C8B-B14F-4D97-AF65-F5344CB8AC3E}">
        <p14:creationId xmlns:p14="http://schemas.microsoft.com/office/powerpoint/2010/main" val="14966651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F62F64-981A-A634-E523-E29DD3D786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987604-99F6-1517-E1EB-EEEF7BFA55EF}"/>
              </a:ext>
            </a:extLst>
          </p:cNvPr>
          <p:cNvSpPr>
            <a:spLocks noGrp="1"/>
          </p:cNvSpPr>
          <p:nvPr>
            <p:ph type="title"/>
          </p:nvPr>
        </p:nvSpPr>
        <p:spPr/>
        <p:txBody>
          <a:bodyPr/>
          <a:lstStyle/>
          <a:p>
            <a:r>
              <a:rPr lang="en-US" dirty="0"/>
              <a:t>Harmonic Oscillator</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1D2BC00-82AC-6394-CBAA-653A4A6CAFA8}"/>
                  </a:ext>
                </a:extLst>
              </p:cNvPr>
              <p:cNvSpPr>
                <a:spLocks noGrp="1"/>
              </p:cNvSpPr>
              <p:nvPr>
                <p:ph idx="1"/>
              </p:nvPr>
            </p:nvSpPr>
            <p:spPr>
              <a:xfrm>
                <a:off x="838200" y="1825625"/>
                <a:ext cx="6211533" cy="4351338"/>
              </a:xfrm>
            </p:spPr>
            <p:txBody>
              <a:bodyPr/>
              <a:lstStyle/>
              <a:p>
                <a:r>
                  <a:rPr lang="en-US" dirty="0"/>
                  <a:t>The potential energy of a harmonic oscillator is,</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𝑉</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r>
                        <a:rPr lang="en-US" b="0" i="1" smtClean="0">
                          <a:latin typeface="Cambria Math" panose="02040503050406030204" pitchFamily="18" charset="0"/>
                        </a:rPr>
                        <m:t>𝑘</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2</m:t>
                          </m:r>
                        </m:sup>
                      </m:sSup>
                    </m:oMath>
                  </m:oMathPara>
                </a14:m>
                <a:endParaRPr lang="en-US" dirty="0"/>
              </a:p>
            </p:txBody>
          </p:sp>
        </mc:Choice>
        <mc:Fallback>
          <p:sp>
            <p:nvSpPr>
              <p:cNvPr id="3" name="Content Placeholder 2">
                <a:extLst>
                  <a:ext uri="{FF2B5EF4-FFF2-40B4-BE49-F238E27FC236}">
                    <a16:creationId xmlns:a16="http://schemas.microsoft.com/office/drawing/2014/main" id="{11D2BC00-82AC-6394-CBAA-653A4A6CAFA8}"/>
                  </a:ext>
                </a:extLst>
              </p:cNvPr>
              <p:cNvSpPr>
                <a:spLocks noGrp="1" noRot="1" noChangeAspect="1" noMove="1" noResize="1" noEditPoints="1" noAdjustHandles="1" noChangeArrowheads="1" noChangeShapeType="1" noTextEdit="1"/>
              </p:cNvSpPr>
              <p:nvPr>
                <p:ph idx="1"/>
              </p:nvPr>
            </p:nvSpPr>
            <p:spPr>
              <a:xfrm>
                <a:off x="838200" y="1825625"/>
                <a:ext cx="6211533" cy="4351338"/>
              </a:xfrm>
              <a:blipFill>
                <a:blip r:embed="rId2"/>
                <a:stretch>
                  <a:fillRect l="-1840" t="-2326"/>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75C9856A-C679-D263-9D2F-6CAC53CC2B56}"/>
              </a:ext>
            </a:extLst>
          </p:cNvPr>
          <p:cNvSpPr txBox="1"/>
          <p:nvPr/>
        </p:nvSpPr>
        <p:spPr>
          <a:xfrm>
            <a:off x="838200" y="6326372"/>
            <a:ext cx="10515600" cy="369332"/>
          </a:xfrm>
          <a:prstGeom prst="rect">
            <a:avLst/>
          </a:prstGeom>
          <a:noFill/>
        </p:spPr>
        <p:txBody>
          <a:bodyPr wrap="square" rtlCol="0">
            <a:spAutoFit/>
          </a:bodyPr>
          <a:lstStyle/>
          <a:p>
            <a:r>
              <a:rPr lang="en-US" dirty="0"/>
              <a:t>Credit to </a:t>
            </a:r>
            <a:r>
              <a:rPr lang="en-US" dirty="0" err="1"/>
              <a:t>LibreTexts</a:t>
            </a:r>
            <a:r>
              <a:rPr lang="en-US" dirty="0"/>
              <a:t> Chemistry for all figures used here.</a:t>
            </a:r>
          </a:p>
        </p:txBody>
      </p:sp>
      <p:pic>
        <p:nvPicPr>
          <p:cNvPr id="5" name="Picture 4">
            <a:extLst>
              <a:ext uri="{FF2B5EF4-FFF2-40B4-BE49-F238E27FC236}">
                <a16:creationId xmlns:a16="http://schemas.microsoft.com/office/drawing/2014/main" id="{23CA7B77-BEF3-ACA7-9153-9A90CC4089C3}"/>
              </a:ext>
            </a:extLst>
          </p:cNvPr>
          <p:cNvPicPr>
            <a:picLocks noChangeAspect="1"/>
          </p:cNvPicPr>
          <p:nvPr/>
        </p:nvPicPr>
        <p:blipFill>
          <a:blip r:embed="rId3"/>
          <a:stretch>
            <a:fillRect/>
          </a:stretch>
        </p:blipFill>
        <p:spPr>
          <a:xfrm>
            <a:off x="7049733" y="2319762"/>
            <a:ext cx="4842931" cy="3239312"/>
          </a:xfrm>
          <a:prstGeom prst="rect">
            <a:avLst/>
          </a:prstGeom>
        </p:spPr>
      </p:pic>
    </p:spTree>
    <p:extLst>
      <p:ext uri="{BB962C8B-B14F-4D97-AF65-F5344CB8AC3E}">
        <p14:creationId xmlns:p14="http://schemas.microsoft.com/office/powerpoint/2010/main" val="2465426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632527-D68C-5045-EB8C-76750F10A2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66DB3D-BF82-F572-D4EF-C2AC586F7C61}"/>
              </a:ext>
            </a:extLst>
          </p:cNvPr>
          <p:cNvSpPr>
            <a:spLocks noGrp="1"/>
          </p:cNvSpPr>
          <p:nvPr>
            <p:ph type="title"/>
          </p:nvPr>
        </p:nvSpPr>
        <p:spPr/>
        <p:txBody>
          <a:bodyPr/>
          <a:lstStyle/>
          <a:p>
            <a:r>
              <a:rPr lang="en-US" dirty="0"/>
              <a:t>Harmonic Oscillator</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9288609-8E71-5592-68DF-92C24596CDEA}"/>
                  </a:ext>
                </a:extLst>
              </p:cNvPr>
              <p:cNvSpPr>
                <a:spLocks noGrp="1"/>
              </p:cNvSpPr>
              <p:nvPr>
                <p:ph idx="1"/>
              </p:nvPr>
            </p:nvSpPr>
            <p:spPr>
              <a:xfrm>
                <a:off x="838200" y="1825625"/>
                <a:ext cx="6211533" cy="4351338"/>
              </a:xfrm>
            </p:spPr>
            <p:txBody>
              <a:bodyPr/>
              <a:lstStyle/>
              <a:p>
                <a:r>
                  <a:rPr lang="en-US" dirty="0"/>
                  <a:t>The potential energy of a harmonic oscillator is,</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𝑉</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r>
                        <a:rPr lang="en-US" b="0" i="1" smtClean="0">
                          <a:latin typeface="Cambria Math" panose="02040503050406030204" pitchFamily="18" charset="0"/>
                        </a:rPr>
                        <m:t>𝑘</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2</m:t>
                          </m:r>
                        </m:sup>
                      </m:sSup>
                    </m:oMath>
                  </m:oMathPara>
                </a14:m>
                <a:endParaRPr lang="en-US" dirty="0"/>
              </a:p>
              <a:p>
                <a:r>
                  <a:rPr lang="en-US" dirty="0"/>
                  <a:t>Does this look familiar? (Taylor Series)</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𝑉</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r>
                        <a:rPr lang="en-US" b="0" i="1" smtClean="0">
                          <a:latin typeface="Cambria Math" panose="02040503050406030204" pitchFamily="18" charset="0"/>
                        </a:rPr>
                        <m:t>𝑘</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2</m:t>
                          </m:r>
                        </m:sup>
                      </m:sSup>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sSup>
                        <m:sSupPr>
                          <m:ctrlPr>
                            <a:rPr lang="en-US" i="1" smtClean="0">
                              <a:solidFill>
                                <a:schemeClr val="tx1"/>
                              </a:solidFill>
                              <a:latin typeface="Cambria Math" panose="02040503050406030204" pitchFamily="18" charset="0"/>
                            </a:rPr>
                          </m:ctrlPr>
                        </m:sSupPr>
                        <m:e>
                          <m:r>
                            <a:rPr lang="en-US" i="1">
                              <a:solidFill>
                                <a:schemeClr val="tx1"/>
                              </a:solidFill>
                              <a:latin typeface="Cambria Math" panose="02040503050406030204" pitchFamily="18" charset="0"/>
                            </a:rPr>
                            <m:t>𝑓</m:t>
                          </m:r>
                        </m:e>
                        <m:sup>
                          <m:r>
                            <a:rPr lang="en-US" i="1">
                              <a:solidFill>
                                <a:schemeClr val="tx1"/>
                              </a:solidFill>
                              <a:latin typeface="Cambria Math" panose="02040503050406030204" pitchFamily="18" charset="0"/>
                            </a:rPr>
                            <m:t>′′</m:t>
                          </m:r>
                        </m:sup>
                      </m:sSup>
                      <m:d>
                        <m:dPr>
                          <m:ctrlPr>
                            <a:rPr lang="en-US" i="1">
                              <a:solidFill>
                                <a:schemeClr val="tx1"/>
                              </a:solidFill>
                              <a:latin typeface="Cambria Math" panose="02040503050406030204" pitchFamily="18" charset="0"/>
                            </a:rPr>
                          </m:ctrlPr>
                        </m:dPr>
                        <m:e>
                          <m:r>
                            <a:rPr lang="en-US" i="1">
                              <a:solidFill>
                                <a:schemeClr val="tx1"/>
                              </a:solidFill>
                              <a:latin typeface="Cambria Math" panose="02040503050406030204" pitchFamily="18" charset="0"/>
                            </a:rPr>
                            <m:t>0</m:t>
                          </m:r>
                        </m:e>
                      </m:d>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2</m:t>
                          </m:r>
                        </m:sup>
                      </m:sSup>
                    </m:oMath>
                  </m:oMathPara>
                </a14:m>
                <a:endParaRPr lang="en-US" dirty="0"/>
              </a:p>
              <a:p>
                <a:pPr marL="0" indent="0">
                  <a:buNone/>
                </a:pPr>
                <a:br>
                  <a:rPr lang="en-US" i="1" dirty="0">
                    <a:solidFill>
                      <a:schemeClr val="tx1"/>
                    </a:solidFill>
                    <a:latin typeface="Cambria Math" panose="02040503050406030204" pitchFamily="18" charset="0"/>
                  </a:rPr>
                </a:br>
                <a14:m>
                  <m:oMathPara xmlns:m="http://schemas.openxmlformats.org/officeDocument/2006/math">
                    <m:oMathParaPr>
                      <m:jc m:val="centerGroup"/>
                    </m:oMathParaPr>
                    <m:oMath xmlns:m="http://schemas.openxmlformats.org/officeDocument/2006/math">
                      <m:sSup>
                        <m:sSupPr>
                          <m:ctrlPr>
                            <a:rPr lang="en-US" b="1" i="1" smtClean="0">
                              <a:solidFill>
                                <a:schemeClr val="tx1"/>
                              </a:solidFill>
                              <a:latin typeface="Cambria Math" panose="02040503050406030204" pitchFamily="18" charset="0"/>
                            </a:rPr>
                          </m:ctrlPr>
                        </m:sSupPr>
                        <m:e>
                          <m:r>
                            <a:rPr lang="en-US" b="1" i="1" smtClean="0">
                              <a:solidFill>
                                <a:schemeClr val="tx1"/>
                              </a:solidFill>
                              <a:latin typeface="Cambria Math" panose="02040503050406030204" pitchFamily="18" charset="0"/>
                            </a:rPr>
                            <m:t>𝒌</m:t>
                          </m:r>
                          <m:r>
                            <a:rPr lang="en-US" b="1" i="1" smtClean="0">
                              <a:solidFill>
                                <a:schemeClr val="tx1"/>
                              </a:solidFill>
                              <a:latin typeface="Cambria Math" panose="02040503050406030204" pitchFamily="18" charset="0"/>
                            </a:rPr>
                            <m:t>=</m:t>
                          </m:r>
                          <m:r>
                            <a:rPr lang="en-US" b="1" i="1">
                              <a:solidFill>
                                <a:schemeClr val="tx1"/>
                              </a:solidFill>
                              <a:latin typeface="Cambria Math" panose="02040503050406030204" pitchFamily="18" charset="0"/>
                            </a:rPr>
                            <m:t>𝒇</m:t>
                          </m:r>
                        </m:e>
                        <m:sup>
                          <m:r>
                            <a:rPr lang="en-US" b="1" i="1">
                              <a:solidFill>
                                <a:schemeClr val="tx1"/>
                              </a:solidFill>
                              <a:latin typeface="Cambria Math" panose="02040503050406030204" pitchFamily="18" charset="0"/>
                            </a:rPr>
                            <m:t>′′</m:t>
                          </m:r>
                        </m:sup>
                      </m:sSup>
                      <m:d>
                        <m:dPr>
                          <m:ctrlPr>
                            <a:rPr lang="en-US" b="1" i="1">
                              <a:solidFill>
                                <a:schemeClr val="tx1"/>
                              </a:solidFill>
                              <a:latin typeface="Cambria Math" panose="02040503050406030204" pitchFamily="18" charset="0"/>
                            </a:rPr>
                          </m:ctrlPr>
                        </m:dPr>
                        <m:e>
                          <m:r>
                            <a:rPr lang="en-US" b="1" i="1">
                              <a:solidFill>
                                <a:schemeClr val="tx1"/>
                              </a:solidFill>
                              <a:latin typeface="Cambria Math" panose="02040503050406030204" pitchFamily="18" charset="0"/>
                            </a:rPr>
                            <m:t>𝟎</m:t>
                          </m:r>
                        </m:e>
                      </m:d>
                    </m:oMath>
                  </m:oMathPara>
                </a14:m>
                <a:endParaRPr lang="en-US" b="1" dirty="0"/>
              </a:p>
            </p:txBody>
          </p:sp>
        </mc:Choice>
        <mc:Fallback>
          <p:sp>
            <p:nvSpPr>
              <p:cNvPr id="3" name="Content Placeholder 2">
                <a:extLst>
                  <a:ext uri="{FF2B5EF4-FFF2-40B4-BE49-F238E27FC236}">
                    <a16:creationId xmlns:a16="http://schemas.microsoft.com/office/drawing/2014/main" id="{F9288609-8E71-5592-68DF-92C24596CDEA}"/>
                  </a:ext>
                </a:extLst>
              </p:cNvPr>
              <p:cNvSpPr>
                <a:spLocks noGrp="1" noRot="1" noChangeAspect="1" noMove="1" noResize="1" noEditPoints="1" noAdjustHandles="1" noChangeArrowheads="1" noChangeShapeType="1" noTextEdit="1"/>
              </p:cNvSpPr>
              <p:nvPr>
                <p:ph idx="1"/>
              </p:nvPr>
            </p:nvSpPr>
            <p:spPr>
              <a:xfrm>
                <a:off x="838200" y="1825625"/>
                <a:ext cx="6211533" cy="4351338"/>
              </a:xfrm>
              <a:blipFill>
                <a:blip r:embed="rId2"/>
                <a:stretch>
                  <a:fillRect l="-1840" t="-2326" r="-2045"/>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7E3E7F03-2D2C-5BCC-851C-9C622D598C37}"/>
              </a:ext>
            </a:extLst>
          </p:cNvPr>
          <p:cNvSpPr txBox="1"/>
          <p:nvPr/>
        </p:nvSpPr>
        <p:spPr>
          <a:xfrm>
            <a:off x="838200" y="6326372"/>
            <a:ext cx="10515600" cy="369332"/>
          </a:xfrm>
          <a:prstGeom prst="rect">
            <a:avLst/>
          </a:prstGeom>
          <a:noFill/>
        </p:spPr>
        <p:txBody>
          <a:bodyPr wrap="square" rtlCol="0">
            <a:spAutoFit/>
          </a:bodyPr>
          <a:lstStyle/>
          <a:p>
            <a:r>
              <a:rPr lang="en-US" dirty="0"/>
              <a:t>Credit to </a:t>
            </a:r>
            <a:r>
              <a:rPr lang="en-US" dirty="0" err="1"/>
              <a:t>LibreTexts</a:t>
            </a:r>
            <a:r>
              <a:rPr lang="en-US" dirty="0"/>
              <a:t> Chemistry for all figures used here.</a:t>
            </a:r>
          </a:p>
        </p:txBody>
      </p:sp>
      <p:pic>
        <p:nvPicPr>
          <p:cNvPr id="5" name="Picture 4">
            <a:extLst>
              <a:ext uri="{FF2B5EF4-FFF2-40B4-BE49-F238E27FC236}">
                <a16:creationId xmlns:a16="http://schemas.microsoft.com/office/drawing/2014/main" id="{0D486602-6F96-3936-DA68-E19B6E09582D}"/>
              </a:ext>
            </a:extLst>
          </p:cNvPr>
          <p:cNvPicPr>
            <a:picLocks noChangeAspect="1"/>
          </p:cNvPicPr>
          <p:nvPr/>
        </p:nvPicPr>
        <p:blipFill>
          <a:blip r:embed="rId3"/>
          <a:stretch>
            <a:fillRect/>
          </a:stretch>
        </p:blipFill>
        <p:spPr>
          <a:xfrm>
            <a:off x="7049733" y="2319762"/>
            <a:ext cx="4842931" cy="3239312"/>
          </a:xfrm>
          <a:prstGeom prst="rect">
            <a:avLst/>
          </a:prstGeom>
        </p:spPr>
      </p:pic>
      <p:pic>
        <p:nvPicPr>
          <p:cNvPr id="6" name="Picture 5" descr="Insiders Revealing the Truth About Taylor Swift's Directorial Debut">
            <a:extLst>
              <a:ext uri="{FF2B5EF4-FFF2-40B4-BE49-F238E27FC236}">
                <a16:creationId xmlns:a16="http://schemas.microsoft.com/office/drawing/2014/main" id="{5EFC14E0-3138-BFB3-6F2E-4F55B24D799E}"/>
              </a:ext>
            </a:extLst>
          </p:cNvPr>
          <p:cNvPicPr>
            <a:picLocks noChangeAspect="1"/>
          </p:cNvPicPr>
          <p:nvPr/>
        </p:nvPicPr>
        <p:blipFill>
          <a:blip r:embed="rId4"/>
          <a:stretch>
            <a:fillRect/>
          </a:stretch>
        </p:blipFill>
        <p:spPr>
          <a:xfrm>
            <a:off x="5860799" y="4513115"/>
            <a:ext cx="1188934" cy="1540096"/>
          </a:xfrm>
          <a:prstGeom prst="rect">
            <a:avLst/>
          </a:prstGeom>
        </p:spPr>
      </p:pic>
    </p:spTree>
    <p:extLst>
      <p:ext uri="{BB962C8B-B14F-4D97-AF65-F5344CB8AC3E}">
        <p14:creationId xmlns:p14="http://schemas.microsoft.com/office/powerpoint/2010/main" val="33480806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237DB-5C97-AF88-154D-9A21C479A2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14216E-DA17-670B-5E78-47ED2B5AFEDF}"/>
              </a:ext>
            </a:extLst>
          </p:cNvPr>
          <p:cNvSpPr>
            <a:spLocks noGrp="1"/>
          </p:cNvSpPr>
          <p:nvPr>
            <p:ph type="title"/>
          </p:nvPr>
        </p:nvSpPr>
        <p:spPr/>
        <p:txBody>
          <a:bodyPr/>
          <a:lstStyle/>
          <a:p>
            <a:r>
              <a:rPr lang="en-US" dirty="0"/>
              <a:t>Quantum Harmonic Oscillator</a:t>
            </a:r>
          </a:p>
        </p:txBody>
      </p:sp>
      <p:sp>
        <p:nvSpPr>
          <p:cNvPr id="3" name="Content Placeholder 2">
            <a:extLst>
              <a:ext uri="{FF2B5EF4-FFF2-40B4-BE49-F238E27FC236}">
                <a16:creationId xmlns:a16="http://schemas.microsoft.com/office/drawing/2014/main" id="{9F761BE1-23D1-139D-93C3-EBED2B1A0294}"/>
              </a:ext>
            </a:extLst>
          </p:cNvPr>
          <p:cNvSpPr>
            <a:spLocks noGrp="1"/>
          </p:cNvSpPr>
          <p:nvPr>
            <p:ph idx="1"/>
          </p:nvPr>
        </p:nvSpPr>
        <p:spPr>
          <a:xfrm>
            <a:off x="838200" y="1825625"/>
            <a:ext cx="6211533" cy="4351338"/>
          </a:xfrm>
        </p:spPr>
        <p:txBody>
          <a:bodyPr/>
          <a:lstStyle/>
          <a:p>
            <a:r>
              <a:rPr lang="en-US" dirty="0"/>
              <a:t>This was all for a classical harmonic oscillator, however our molecules are quantum mechanical.</a:t>
            </a:r>
          </a:p>
        </p:txBody>
      </p:sp>
      <p:sp>
        <p:nvSpPr>
          <p:cNvPr id="4" name="TextBox 3">
            <a:extLst>
              <a:ext uri="{FF2B5EF4-FFF2-40B4-BE49-F238E27FC236}">
                <a16:creationId xmlns:a16="http://schemas.microsoft.com/office/drawing/2014/main" id="{F6C05209-9764-203D-9EA2-0A29A715C2D9}"/>
              </a:ext>
            </a:extLst>
          </p:cNvPr>
          <p:cNvSpPr txBox="1"/>
          <p:nvPr/>
        </p:nvSpPr>
        <p:spPr>
          <a:xfrm>
            <a:off x="838200" y="6326372"/>
            <a:ext cx="10515600" cy="369332"/>
          </a:xfrm>
          <a:prstGeom prst="rect">
            <a:avLst/>
          </a:prstGeom>
          <a:noFill/>
        </p:spPr>
        <p:txBody>
          <a:bodyPr wrap="square" rtlCol="0">
            <a:spAutoFit/>
          </a:bodyPr>
          <a:lstStyle/>
          <a:p>
            <a:r>
              <a:rPr lang="en-US" dirty="0"/>
              <a:t>Credit to </a:t>
            </a:r>
            <a:r>
              <a:rPr lang="en-US" dirty="0" err="1"/>
              <a:t>LibreTexts</a:t>
            </a:r>
            <a:r>
              <a:rPr lang="en-US" dirty="0"/>
              <a:t> Chemistry for all figures used here.</a:t>
            </a:r>
          </a:p>
        </p:txBody>
      </p:sp>
      <p:pic>
        <p:nvPicPr>
          <p:cNvPr id="6" name="Picture 5">
            <a:extLst>
              <a:ext uri="{FF2B5EF4-FFF2-40B4-BE49-F238E27FC236}">
                <a16:creationId xmlns:a16="http://schemas.microsoft.com/office/drawing/2014/main" id="{D4E212C8-8389-6BD4-4A6E-79DA85096A62}"/>
              </a:ext>
            </a:extLst>
          </p:cNvPr>
          <p:cNvPicPr>
            <a:picLocks noChangeAspect="1"/>
          </p:cNvPicPr>
          <p:nvPr/>
        </p:nvPicPr>
        <p:blipFill>
          <a:blip r:embed="rId2"/>
          <a:stretch>
            <a:fillRect/>
          </a:stretch>
        </p:blipFill>
        <p:spPr>
          <a:xfrm>
            <a:off x="7049733" y="1506022"/>
            <a:ext cx="4962125" cy="4820350"/>
          </a:xfrm>
          <a:prstGeom prst="rect">
            <a:avLst/>
          </a:prstGeom>
        </p:spPr>
      </p:pic>
    </p:spTree>
    <p:extLst>
      <p:ext uri="{BB962C8B-B14F-4D97-AF65-F5344CB8AC3E}">
        <p14:creationId xmlns:p14="http://schemas.microsoft.com/office/powerpoint/2010/main" val="41093910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392339-03E3-8A22-9D8B-5F5C642F02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F7F939-2D2A-F2C2-AE3D-FC57B941B22B}"/>
              </a:ext>
            </a:extLst>
          </p:cNvPr>
          <p:cNvSpPr>
            <a:spLocks noGrp="1"/>
          </p:cNvSpPr>
          <p:nvPr>
            <p:ph type="title"/>
          </p:nvPr>
        </p:nvSpPr>
        <p:spPr/>
        <p:txBody>
          <a:bodyPr/>
          <a:lstStyle/>
          <a:p>
            <a:r>
              <a:rPr lang="en-US" dirty="0"/>
              <a:t>Quantum Harmonic Oscillator</a:t>
            </a:r>
          </a:p>
        </p:txBody>
      </p:sp>
      <p:sp>
        <p:nvSpPr>
          <p:cNvPr id="3" name="Content Placeholder 2">
            <a:extLst>
              <a:ext uri="{FF2B5EF4-FFF2-40B4-BE49-F238E27FC236}">
                <a16:creationId xmlns:a16="http://schemas.microsoft.com/office/drawing/2014/main" id="{1CB69944-64A8-80AB-E0F3-D9BF2E4BE4E1}"/>
              </a:ext>
            </a:extLst>
          </p:cNvPr>
          <p:cNvSpPr>
            <a:spLocks noGrp="1"/>
          </p:cNvSpPr>
          <p:nvPr>
            <p:ph idx="1"/>
          </p:nvPr>
        </p:nvSpPr>
        <p:spPr>
          <a:xfrm>
            <a:off x="838200" y="1825625"/>
            <a:ext cx="6211533" cy="4351338"/>
          </a:xfrm>
        </p:spPr>
        <p:txBody>
          <a:bodyPr/>
          <a:lstStyle/>
          <a:p>
            <a:r>
              <a:rPr lang="en-US" dirty="0"/>
              <a:t>This was all for a classical harmonic oscillator, however our molecules are quantum mechanical.</a:t>
            </a:r>
          </a:p>
          <a:p>
            <a:r>
              <a:rPr lang="en-US" dirty="0"/>
              <a:t>Thus, our diatomic will oscillate in </a:t>
            </a:r>
            <a:r>
              <a:rPr lang="en-US" i="1" dirty="0"/>
              <a:t>quantized</a:t>
            </a:r>
            <a:r>
              <a:rPr lang="en-US" dirty="0"/>
              <a:t> energy levels</a:t>
            </a:r>
          </a:p>
        </p:txBody>
      </p:sp>
      <p:sp>
        <p:nvSpPr>
          <p:cNvPr id="4" name="TextBox 3">
            <a:extLst>
              <a:ext uri="{FF2B5EF4-FFF2-40B4-BE49-F238E27FC236}">
                <a16:creationId xmlns:a16="http://schemas.microsoft.com/office/drawing/2014/main" id="{F7047715-239B-7482-62EA-DA743F0B70CA}"/>
              </a:ext>
            </a:extLst>
          </p:cNvPr>
          <p:cNvSpPr txBox="1"/>
          <p:nvPr/>
        </p:nvSpPr>
        <p:spPr>
          <a:xfrm>
            <a:off x="838200" y="6326372"/>
            <a:ext cx="10515600" cy="369332"/>
          </a:xfrm>
          <a:prstGeom prst="rect">
            <a:avLst/>
          </a:prstGeom>
          <a:noFill/>
        </p:spPr>
        <p:txBody>
          <a:bodyPr wrap="square" rtlCol="0">
            <a:spAutoFit/>
          </a:bodyPr>
          <a:lstStyle/>
          <a:p>
            <a:r>
              <a:rPr lang="en-US" dirty="0"/>
              <a:t>Credit to </a:t>
            </a:r>
            <a:r>
              <a:rPr lang="en-US" dirty="0" err="1"/>
              <a:t>LibreTexts</a:t>
            </a:r>
            <a:r>
              <a:rPr lang="en-US" dirty="0"/>
              <a:t> Chemistry for all figures used here.</a:t>
            </a:r>
          </a:p>
        </p:txBody>
      </p:sp>
      <p:pic>
        <p:nvPicPr>
          <p:cNvPr id="6" name="Picture 5">
            <a:extLst>
              <a:ext uri="{FF2B5EF4-FFF2-40B4-BE49-F238E27FC236}">
                <a16:creationId xmlns:a16="http://schemas.microsoft.com/office/drawing/2014/main" id="{79B618EA-3D7D-A937-A30B-65F8FAC53BB5}"/>
              </a:ext>
            </a:extLst>
          </p:cNvPr>
          <p:cNvPicPr>
            <a:picLocks noChangeAspect="1"/>
          </p:cNvPicPr>
          <p:nvPr/>
        </p:nvPicPr>
        <p:blipFill>
          <a:blip r:embed="rId2"/>
          <a:stretch>
            <a:fillRect/>
          </a:stretch>
        </p:blipFill>
        <p:spPr>
          <a:xfrm>
            <a:off x="7049733" y="1506022"/>
            <a:ext cx="4962125" cy="4820350"/>
          </a:xfrm>
          <a:prstGeom prst="rect">
            <a:avLst/>
          </a:prstGeom>
        </p:spPr>
      </p:pic>
    </p:spTree>
    <p:extLst>
      <p:ext uri="{BB962C8B-B14F-4D97-AF65-F5344CB8AC3E}">
        <p14:creationId xmlns:p14="http://schemas.microsoft.com/office/powerpoint/2010/main" val="36819021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7BEF34-D5D1-8151-5C7A-3D288C4B0F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0D923B-A390-9C73-2B53-23C67D1C8853}"/>
              </a:ext>
            </a:extLst>
          </p:cNvPr>
          <p:cNvSpPr>
            <a:spLocks noGrp="1"/>
          </p:cNvSpPr>
          <p:nvPr>
            <p:ph type="title"/>
          </p:nvPr>
        </p:nvSpPr>
        <p:spPr/>
        <p:txBody>
          <a:bodyPr/>
          <a:lstStyle/>
          <a:p>
            <a:r>
              <a:rPr lang="en-US" dirty="0"/>
              <a:t>Quantum Harmonic Oscillator</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12B1842-1836-BAED-C904-712D955832B3}"/>
                  </a:ext>
                </a:extLst>
              </p:cNvPr>
              <p:cNvSpPr>
                <a:spLocks noGrp="1"/>
              </p:cNvSpPr>
              <p:nvPr>
                <p:ph idx="1"/>
              </p:nvPr>
            </p:nvSpPr>
            <p:spPr>
              <a:xfrm>
                <a:off x="838200" y="1825626"/>
                <a:ext cx="6211533" cy="2076524"/>
              </a:xfrm>
            </p:spPr>
            <p:txBody>
              <a:bodyPr>
                <a:normAutofit lnSpcReduction="10000"/>
              </a:bodyPr>
              <a:lstStyle/>
              <a:p>
                <a:r>
                  <a:rPr lang="en-US" dirty="0"/>
                  <a:t>Note that our first allowed energy level is </a:t>
                </a:r>
                <a:r>
                  <a:rPr lang="en-US" i="1" dirty="0"/>
                  <a:t>not</a:t>
                </a:r>
                <a:r>
                  <a:rPr lang="en-US" dirty="0"/>
                  <a:t> at the minimum energy point, it is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r>
                      <a:rPr lang="en-US" b="0" i="1" smtClean="0">
                        <a:latin typeface="Cambria Math" panose="02040503050406030204" pitchFamily="18" charset="0"/>
                      </a:rPr>
                      <m:t>h</m:t>
                    </m:r>
                    <m:r>
                      <a:rPr lang="en-US" b="0" i="1" smtClean="0">
                        <a:latin typeface="Cambria Math" panose="02040503050406030204" pitchFamily="18" charset="0"/>
                      </a:rPr>
                      <m:t>𝜈</m:t>
                    </m:r>
                  </m:oMath>
                </a14:m>
                <a:r>
                  <a:rPr lang="en-US" i="1" dirty="0"/>
                  <a:t> </a:t>
                </a:r>
                <a:r>
                  <a:rPr lang="en-US" dirty="0"/>
                  <a:t>above.</a:t>
                </a:r>
              </a:p>
              <a:p>
                <a:pPr lvl="1"/>
                <a:r>
                  <a:rPr lang="en-US" dirty="0"/>
                  <a:t>This is the origin of the zero-point vibrational energy (ZPVE).</a:t>
                </a:r>
              </a:p>
            </p:txBody>
          </p:sp>
        </mc:Choice>
        <mc:Fallback>
          <p:sp>
            <p:nvSpPr>
              <p:cNvPr id="3" name="Content Placeholder 2">
                <a:extLst>
                  <a:ext uri="{FF2B5EF4-FFF2-40B4-BE49-F238E27FC236}">
                    <a16:creationId xmlns:a16="http://schemas.microsoft.com/office/drawing/2014/main" id="{212B1842-1836-BAED-C904-712D955832B3}"/>
                  </a:ext>
                </a:extLst>
              </p:cNvPr>
              <p:cNvSpPr>
                <a:spLocks noGrp="1" noRot="1" noChangeAspect="1" noMove="1" noResize="1" noEditPoints="1" noAdjustHandles="1" noChangeArrowheads="1" noChangeShapeType="1" noTextEdit="1"/>
              </p:cNvSpPr>
              <p:nvPr>
                <p:ph idx="1"/>
              </p:nvPr>
            </p:nvSpPr>
            <p:spPr>
              <a:xfrm>
                <a:off x="838200" y="1825626"/>
                <a:ext cx="6211533" cy="2076524"/>
              </a:xfrm>
              <a:blipFill>
                <a:blip r:embed="rId2"/>
                <a:stretch>
                  <a:fillRect l="-1840" t="-6667"/>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A7E7416A-CCD8-B568-6C53-2CDB1EABE103}"/>
              </a:ext>
            </a:extLst>
          </p:cNvPr>
          <p:cNvSpPr txBox="1"/>
          <p:nvPr/>
        </p:nvSpPr>
        <p:spPr>
          <a:xfrm>
            <a:off x="838200" y="6326372"/>
            <a:ext cx="10515600" cy="369332"/>
          </a:xfrm>
          <a:prstGeom prst="rect">
            <a:avLst/>
          </a:prstGeom>
          <a:noFill/>
        </p:spPr>
        <p:txBody>
          <a:bodyPr wrap="square" rtlCol="0">
            <a:spAutoFit/>
          </a:bodyPr>
          <a:lstStyle/>
          <a:p>
            <a:r>
              <a:rPr lang="en-US" dirty="0"/>
              <a:t>Credit to </a:t>
            </a:r>
            <a:r>
              <a:rPr lang="en-US" dirty="0" err="1"/>
              <a:t>LibreTexts</a:t>
            </a:r>
            <a:r>
              <a:rPr lang="en-US" dirty="0"/>
              <a:t> Chemistry for all figures used here.</a:t>
            </a:r>
          </a:p>
        </p:txBody>
      </p:sp>
      <p:pic>
        <p:nvPicPr>
          <p:cNvPr id="6" name="Picture 5">
            <a:extLst>
              <a:ext uri="{FF2B5EF4-FFF2-40B4-BE49-F238E27FC236}">
                <a16:creationId xmlns:a16="http://schemas.microsoft.com/office/drawing/2014/main" id="{CEE90DC8-1CD3-F779-ED73-DA8C712073C6}"/>
              </a:ext>
            </a:extLst>
          </p:cNvPr>
          <p:cNvPicPr>
            <a:picLocks noChangeAspect="1"/>
          </p:cNvPicPr>
          <p:nvPr/>
        </p:nvPicPr>
        <p:blipFill>
          <a:blip r:embed="rId3"/>
          <a:stretch>
            <a:fillRect/>
          </a:stretch>
        </p:blipFill>
        <p:spPr>
          <a:xfrm>
            <a:off x="7049733" y="1506022"/>
            <a:ext cx="4962125" cy="4820350"/>
          </a:xfrm>
          <a:prstGeom prst="rect">
            <a:avLst/>
          </a:prstGeom>
        </p:spPr>
      </p:pic>
    </p:spTree>
    <p:extLst>
      <p:ext uri="{BB962C8B-B14F-4D97-AF65-F5344CB8AC3E}">
        <p14:creationId xmlns:p14="http://schemas.microsoft.com/office/powerpoint/2010/main" val="36980683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7398A-AFB8-619D-D4B7-72B1099845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5C30FE-470D-3D8A-9866-698DE33E1B6B}"/>
              </a:ext>
            </a:extLst>
          </p:cNvPr>
          <p:cNvSpPr>
            <a:spLocks noGrp="1"/>
          </p:cNvSpPr>
          <p:nvPr>
            <p:ph type="title"/>
          </p:nvPr>
        </p:nvSpPr>
        <p:spPr/>
        <p:txBody>
          <a:bodyPr/>
          <a:lstStyle/>
          <a:p>
            <a:r>
              <a:rPr lang="en-US" dirty="0"/>
              <a:t>Quantum Harmonic Oscillator</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894D367-D389-A6FF-903E-895B75C16E8B}"/>
                  </a:ext>
                </a:extLst>
              </p:cNvPr>
              <p:cNvSpPr>
                <a:spLocks noGrp="1"/>
              </p:cNvSpPr>
              <p:nvPr>
                <p:ph idx="1"/>
              </p:nvPr>
            </p:nvSpPr>
            <p:spPr>
              <a:xfrm>
                <a:off x="838200" y="1825625"/>
                <a:ext cx="6211533" cy="3703305"/>
              </a:xfrm>
            </p:spPr>
            <p:txBody>
              <a:bodyPr>
                <a:normAutofit lnSpcReduction="10000"/>
              </a:bodyPr>
              <a:lstStyle/>
              <a:p>
                <a:r>
                  <a:rPr lang="en-US" dirty="0"/>
                  <a:t>Note that our first allowed energy level is </a:t>
                </a:r>
                <a:r>
                  <a:rPr lang="en-US" i="1" dirty="0"/>
                  <a:t>not</a:t>
                </a:r>
                <a:r>
                  <a:rPr lang="en-US" dirty="0"/>
                  <a:t> at the minimum energy point, it is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r>
                      <a:rPr lang="en-US" b="0" i="1" smtClean="0">
                        <a:latin typeface="Cambria Math" panose="02040503050406030204" pitchFamily="18" charset="0"/>
                      </a:rPr>
                      <m:t>h</m:t>
                    </m:r>
                    <m:r>
                      <a:rPr lang="en-US" b="0" i="1" smtClean="0">
                        <a:latin typeface="Cambria Math" panose="02040503050406030204" pitchFamily="18" charset="0"/>
                      </a:rPr>
                      <m:t>𝜈</m:t>
                    </m:r>
                  </m:oMath>
                </a14:m>
                <a:r>
                  <a:rPr lang="en-US" i="1" dirty="0"/>
                  <a:t> </a:t>
                </a:r>
                <a:r>
                  <a:rPr lang="en-US" dirty="0"/>
                  <a:t>above.</a:t>
                </a:r>
              </a:p>
              <a:p>
                <a:pPr lvl="1"/>
                <a:r>
                  <a:rPr lang="en-US" dirty="0"/>
                  <a:t>This is the origin of the zero-point vibrational energy (ZPVE).</a:t>
                </a:r>
              </a:p>
              <a:p>
                <a:r>
                  <a:rPr lang="en-US" dirty="0"/>
                  <a:t>If a diatomic in the ground state,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0</m:t>
                        </m:r>
                      </m:sub>
                    </m:sSub>
                  </m:oMath>
                </a14:m>
                <a:r>
                  <a:rPr lang="en-US" dirty="0"/>
                  <a:t>, is excited to the first state,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1</m:t>
                        </m:r>
                      </m:sub>
                    </m:sSub>
                  </m:oMath>
                </a14:m>
                <a:r>
                  <a:rPr lang="en-US" dirty="0"/>
                  <a:t>, the energy is,</a:t>
                </a:r>
              </a:p>
              <a:p>
                <a:pPr marL="0" indent="0">
                  <a:buNone/>
                </a:pPr>
                <a14:m>
                  <m:oMathPara xmlns:m="http://schemas.openxmlformats.org/officeDocument/2006/math">
                    <m:oMathParaPr>
                      <m:jc m:val="centerGroup"/>
                    </m:oMathParaPr>
                    <m:oMath xmlns:m="http://schemas.openxmlformats.org/officeDocument/2006/math">
                      <m:r>
                        <m:rPr>
                          <m:sty m:val="p"/>
                        </m:rPr>
                        <a:rPr lang="en-US" b="0" i="0" smtClean="0">
                          <a:latin typeface="Cambria Math" panose="02040503050406030204" pitchFamily="18" charset="0"/>
                        </a:rPr>
                        <m:t>Δ</m:t>
                      </m:r>
                      <m:r>
                        <a:rPr lang="en-US" b="0" i="1" smtClean="0">
                          <a:latin typeface="Cambria Math" panose="02040503050406030204" pitchFamily="18" charset="0"/>
                        </a:rPr>
                        <m:t>𝐸</m:t>
                      </m:r>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0</m:t>
                          </m:r>
                        </m:sub>
                      </m:sSub>
                      <m:r>
                        <a:rPr lang="en-US" b="0" i="1" smtClean="0">
                          <a:latin typeface="Cambria Math" panose="02040503050406030204" pitchFamily="18" charset="0"/>
                        </a:rPr>
                        <m:t>=</m:t>
                      </m:r>
                      <m:r>
                        <a:rPr lang="en-US" b="0" i="1" smtClean="0">
                          <a:latin typeface="Cambria Math" panose="02040503050406030204" pitchFamily="18" charset="0"/>
                        </a:rPr>
                        <m:t>h</m:t>
                      </m:r>
                      <m:r>
                        <a:rPr lang="en-US" b="0" i="1" smtClean="0">
                          <a:latin typeface="Cambria Math" panose="02040503050406030204" pitchFamily="18" charset="0"/>
                        </a:rPr>
                        <m:t>𝜈</m:t>
                      </m:r>
                    </m:oMath>
                  </m:oMathPara>
                </a14:m>
                <a:endParaRPr lang="en-US" dirty="0"/>
              </a:p>
            </p:txBody>
          </p:sp>
        </mc:Choice>
        <mc:Fallback>
          <p:sp>
            <p:nvSpPr>
              <p:cNvPr id="3" name="Content Placeholder 2">
                <a:extLst>
                  <a:ext uri="{FF2B5EF4-FFF2-40B4-BE49-F238E27FC236}">
                    <a16:creationId xmlns:a16="http://schemas.microsoft.com/office/drawing/2014/main" id="{1894D367-D389-A6FF-903E-895B75C16E8B}"/>
                  </a:ext>
                </a:extLst>
              </p:cNvPr>
              <p:cNvSpPr>
                <a:spLocks noGrp="1" noRot="1" noChangeAspect="1" noMove="1" noResize="1" noEditPoints="1" noAdjustHandles="1" noChangeArrowheads="1" noChangeShapeType="1" noTextEdit="1"/>
              </p:cNvSpPr>
              <p:nvPr>
                <p:ph idx="1"/>
              </p:nvPr>
            </p:nvSpPr>
            <p:spPr>
              <a:xfrm>
                <a:off x="838200" y="1825625"/>
                <a:ext cx="6211533" cy="3703305"/>
              </a:xfrm>
              <a:blipFill>
                <a:blip r:embed="rId2"/>
                <a:stretch>
                  <a:fillRect l="-1840" t="-3754" r="-2863"/>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1059CE76-3428-5952-BE58-D76B67C494CA}"/>
              </a:ext>
            </a:extLst>
          </p:cNvPr>
          <p:cNvSpPr txBox="1"/>
          <p:nvPr/>
        </p:nvSpPr>
        <p:spPr>
          <a:xfrm>
            <a:off x="838200" y="6326372"/>
            <a:ext cx="10515600" cy="369332"/>
          </a:xfrm>
          <a:prstGeom prst="rect">
            <a:avLst/>
          </a:prstGeom>
          <a:noFill/>
        </p:spPr>
        <p:txBody>
          <a:bodyPr wrap="square" rtlCol="0">
            <a:spAutoFit/>
          </a:bodyPr>
          <a:lstStyle/>
          <a:p>
            <a:r>
              <a:rPr lang="en-US" dirty="0"/>
              <a:t>Credit to </a:t>
            </a:r>
            <a:r>
              <a:rPr lang="en-US" dirty="0" err="1"/>
              <a:t>LibreTexts</a:t>
            </a:r>
            <a:r>
              <a:rPr lang="en-US" dirty="0"/>
              <a:t> Chemistry for all figures used here.</a:t>
            </a:r>
          </a:p>
        </p:txBody>
      </p:sp>
      <p:pic>
        <p:nvPicPr>
          <p:cNvPr id="6" name="Picture 5">
            <a:extLst>
              <a:ext uri="{FF2B5EF4-FFF2-40B4-BE49-F238E27FC236}">
                <a16:creationId xmlns:a16="http://schemas.microsoft.com/office/drawing/2014/main" id="{41213FCB-189B-4AE3-BB6D-E7D6B1A1E24B}"/>
              </a:ext>
            </a:extLst>
          </p:cNvPr>
          <p:cNvPicPr>
            <a:picLocks noChangeAspect="1"/>
          </p:cNvPicPr>
          <p:nvPr/>
        </p:nvPicPr>
        <p:blipFill>
          <a:blip r:embed="rId3"/>
          <a:stretch>
            <a:fillRect/>
          </a:stretch>
        </p:blipFill>
        <p:spPr>
          <a:xfrm>
            <a:off x="7049733" y="1506022"/>
            <a:ext cx="4962125" cy="4820350"/>
          </a:xfrm>
          <a:prstGeom prst="rect">
            <a:avLst/>
          </a:prstGeom>
        </p:spPr>
      </p:pic>
    </p:spTree>
    <p:extLst>
      <p:ext uri="{BB962C8B-B14F-4D97-AF65-F5344CB8AC3E}">
        <p14:creationId xmlns:p14="http://schemas.microsoft.com/office/powerpoint/2010/main" val="126015721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CA3B40-EAF7-4ED0-37CD-AF372592AE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73C76A-6BF0-99C2-5575-C46B026BAF5B}"/>
              </a:ext>
            </a:extLst>
          </p:cNvPr>
          <p:cNvSpPr>
            <a:spLocks noGrp="1"/>
          </p:cNvSpPr>
          <p:nvPr>
            <p:ph type="title"/>
          </p:nvPr>
        </p:nvSpPr>
        <p:spPr/>
        <p:txBody>
          <a:bodyPr/>
          <a:lstStyle/>
          <a:p>
            <a:r>
              <a:rPr lang="en-US" dirty="0"/>
              <a:t>Quantum Harmonic Oscillator</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3845B51A-6768-A483-341E-F8F2DB21E1D9}"/>
                  </a:ext>
                </a:extLst>
              </p:cNvPr>
              <p:cNvSpPr>
                <a:spLocks noGrp="1"/>
              </p:cNvSpPr>
              <p:nvPr>
                <p:ph idx="1"/>
              </p:nvPr>
            </p:nvSpPr>
            <p:spPr>
              <a:xfrm>
                <a:off x="838200" y="1825625"/>
                <a:ext cx="6211533" cy="4351338"/>
              </a:xfrm>
            </p:spPr>
            <p:txBody>
              <a:bodyPr>
                <a:normAutofit lnSpcReduction="10000"/>
              </a:bodyPr>
              <a:lstStyle/>
              <a:p>
                <a:r>
                  <a:rPr lang="en-US" dirty="0"/>
                  <a:t>Note that our first allowed energy level is </a:t>
                </a:r>
                <a:r>
                  <a:rPr lang="en-US" i="1" dirty="0"/>
                  <a:t>not</a:t>
                </a:r>
                <a:r>
                  <a:rPr lang="en-US" dirty="0"/>
                  <a:t> at the minimum energy point, it is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r>
                      <a:rPr lang="en-US" b="0" i="1" smtClean="0">
                        <a:latin typeface="Cambria Math" panose="02040503050406030204" pitchFamily="18" charset="0"/>
                      </a:rPr>
                      <m:t>h</m:t>
                    </m:r>
                    <m:r>
                      <a:rPr lang="en-US" b="0" i="1" smtClean="0">
                        <a:latin typeface="Cambria Math" panose="02040503050406030204" pitchFamily="18" charset="0"/>
                      </a:rPr>
                      <m:t>𝜈</m:t>
                    </m:r>
                  </m:oMath>
                </a14:m>
                <a:r>
                  <a:rPr lang="en-US" i="1" dirty="0"/>
                  <a:t> </a:t>
                </a:r>
                <a:r>
                  <a:rPr lang="en-US" dirty="0"/>
                  <a:t>above.</a:t>
                </a:r>
              </a:p>
              <a:p>
                <a:pPr lvl="1"/>
                <a:r>
                  <a:rPr lang="en-US" dirty="0"/>
                  <a:t>This is the origin of the zero-point vibrational energy (ZPVE).</a:t>
                </a:r>
              </a:p>
              <a:p>
                <a:r>
                  <a:rPr lang="en-US" dirty="0"/>
                  <a:t>If a diatomic in the ground state,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0</m:t>
                        </m:r>
                      </m:sub>
                    </m:sSub>
                  </m:oMath>
                </a14:m>
                <a:r>
                  <a:rPr lang="en-US" dirty="0"/>
                  <a:t>, is excited to the first state,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1</m:t>
                        </m:r>
                      </m:sub>
                    </m:sSub>
                  </m:oMath>
                </a14:m>
                <a:r>
                  <a:rPr lang="en-US" dirty="0"/>
                  <a:t>, the energy is,</a:t>
                </a:r>
              </a:p>
              <a:p>
                <a:pPr marL="0" indent="0">
                  <a:buNone/>
                </a:pPr>
                <a14:m>
                  <m:oMathPara xmlns:m="http://schemas.openxmlformats.org/officeDocument/2006/math">
                    <m:oMathParaPr>
                      <m:jc m:val="centerGroup"/>
                    </m:oMathParaPr>
                    <m:oMath xmlns:m="http://schemas.openxmlformats.org/officeDocument/2006/math">
                      <m:r>
                        <m:rPr>
                          <m:sty m:val="p"/>
                        </m:rPr>
                        <a:rPr lang="en-US" b="0" i="0" smtClean="0">
                          <a:latin typeface="Cambria Math" panose="02040503050406030204" pitchFamily="18" charset="0"/>
                        </a:rPr>
                        <m:t>Δ</m:t>
                      </m:r>
                      <m:r>
                        <a:rPr lang="en-US" b="0" i="1" smtClean="0">
                          <a:latin typeface="Cambria Math" panose="02040503050406030204" pitchFamily="18" charset="0"/>
                        </a:rPr>
                        <m:t>𝐸</m:t>
                      </m:r>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0</m:t>
                          </m:r>
                        </m:sub>
                      </m:sSub>
                      <m:r>
                        <a:rPr lang="en-US" b="0" i="1" smtClean="0">
                          <a:latin typeface="Cambria Math" panose="02040503050406030204" pitchFamily="18" charset="0"/>
                        </a:rPr>
                        <m:t>=</m:t>
                      </m:r>
                      <m:r>
                        <a:rPr lang="en-US" b="0" i="1" smtClean="0">
                          <a:latin typeface="Cambria Math" panose="02040503050406030204" pitchFamily="18" charset="0"/>
                        </a:rPr>
                        <m:t>h</m:t>
                      </m:r>
                      <m:r>
                        <a:rPr lang="en-US" b="0" i="1" smtClean="0">
                          <a:latin typeface="Cambria Math" panose="02040503050406030204" pitchFamily="18" charset="0"/>
                        </a:rPr>
                        <m:t>𝜈</m:t>
                      </m:r>
                    </m:oMath>
                  </m:oMathPara>
                </a14:m>
                <a:endParaRPr lang="en-US" dirty="0"/>
              </a:p>
              <a:p>
                <a:r>
                  <a:rPr lang="en-US" dirty="0"/>
                  <a:t>This transition is often referred to as the fundamental frequency</a:t>
                </a:r>
              </a:p>
            </p:txBody>
          </p:sp>
        </mc:Choice>
        <mc:Fallback>
          <p:sp>
            <p:nvSpPr>
              <p:cNvPr id="3" name="Content Placeholder 2">
                <a:extLst>
                  <a:ext uri="{FF2B5EF4-FFF2-40B4-BE49-F238E27FC236}">
                    <a16:creationId xmlns:a16="http://schemas.microsoft.com/office/drawing/2014/main" id="{3845B51A-6768-A483-341E-F8F2DB21E1D9}"/>
                  </a:ext>
                </a:extLst>
              </p:cNvPr>
              <p:cNvSpPr>
                <a:spLocks noGrp="1" noRot="1" noChangeAspect="1" noMove="1" noResize="1" noEditPoints="1" noAdjustHandles="1" noChangeArrowheads="1" noChangeShapeType="1" noTextEdit="1"/>
              </p:cNvSpPr>
              <p:nvPr>
                <p:ph idx="1"/>
              </p:nvPr>
            </p:nvSpPr>
            <p:spPr>
              <a:xfrm>
                <a:off x="838200" y="1825625"/>
                <a:ext cx="6211533" cy="4351338"/>
              </a:xfrm>
              <a:blipFill>
                <a:blip r:embed="rId2"/>
                <a:stretch>
                  <a:fillRect l="-1840" t="-3198" r="-2863" b="-2035"/>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304AF02D-5F85-A169-FA06-51C54F72EDF7}"/>
              </a:ext>
            </a:extLst>
          </p:cNvPr>
          <p:cNvSpPr txBox="1"/>
          <p:nvPr/>
        </p:nvSpPr>
        <p:spPr>
          <a:xfrm>
            <a:off x="838200" y="6326372"/>
            <a:ext cx="10515600" cy="369332"/>
          </a:xfrm>
          <a:prstGeom prst="rect">
            <a:avLst/>
          </a:prstGeom>
          <a:noFill/>
        </p:spPr>
        <p:txBody>
          <a:bodyPr wrap="square" rtlCol="0">
            <a:spAutoFit/>
          </a:bodyPr>
          <a:lstStyle/>
          <a:p>
            <a:r>
              <a:rPr lang="en-US" dirty="0"/>
              <a:t>Credit to </a:t>
            </a:r>
            <a:r>
              <a:rPr lang="en-US" dirty="0" err="1"/>
              <a:t>LibreTexts</a:t>
            </a:r>
            <a:r>
              <a:rPr lang="en-US" dirty="0"/>
              <a:t> Chemistry for all figures used here.</a:t>
            </a:r>
          </a:p>
        </p:txBody>
      </p:sp>
      <p:pic>
        <p:nvPicPr>
          <p:cNvPr id="6" name="Picture 5">
            <a:extLst>
              <a:ext uri="{FF2B5EF4-FFF2-40B4-BE49-F238E27FC236}">
                <a16:creationId xmlns:a16="http://schemas.microsoft.com/office/drawing/2014/main" id="{3852258D-459C-3FD0-73B9-ABDCD1A855DC}"/>
              </a:ext>
            </a:extLst>
          </p:cNvPr>
          <p:cNvPicPr>
            <a:picLocks noChangeAspect="1"/>
          </p:cNvPicPr>
          <p:nvPr/>
        </p:nvPicPr>
        <p:blipFill>
          <a:blip r:embed="rId3"/>
          <a:stretch>
            <a:fillRect/>
          </a:stretch>
        </p:blipFill>
        <p:spPr>
          <a:xfrm>
            <a:off x="7049733" y="1506022"/>
            <a:ext cx="4962125" cy="4820350"/>
          </a:xfrm>
          <a:prstGeom prst="rect">
            <a:avLst/>
          </a:prstGeom>
        </p:spPr>
      </p:pic>
    </p:spTree>
    <p:extLst>
      <p:ext uri="{BB962C8B-B14F-4D97-AF65-F5344CB8AC3E}">
        <p14:creationId xmlns:p14="http://schemas.microsoft.com/office/powerpoint/2010/main" val="366688446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E9317-A5B0-0555-739F-5DB3783FAC27}"/>
              </a:ext>
            </a:extLst>
          </p:cNvPr>
          <p:cNvSpPr>
            <a:spLocks noGrp="1"/>
          </p:cNvSpPr>
          <p:nvPr>
            <p:ph type="title"/>
          </p:nvPr>
        </p:nvSpPr>
        <p:spPr/>
        <p:txBody>
          <a:bodyPr/>
          <a:lstStyle/>
          <a:p>
            <a:r>
              <a:rPr lang="en-US" dirty="0"/>
              <a:t>Quantum Harmonic Oscillator</a:t>
            </a:r>
          </a:p>
        </p:txBody>
      </p:sp>
      <p:sp>
        <p:nvSpPr>
          <p:cNvPr id="3" name="Content Placeholder 2">
            <a:extLst>
              <a:ext uri="{FF2B5EF4-FFF2-40B4-BE49-F238E27FC236}">
                <a16:creationId xmlns:a16="http://schemas.microsoft.com/office/drawing/2014/main" id="{47E2D3F5-6B96-8282-4312-6D21B8ABCACA}"/>
              </a:ext>
            </a:extLst>
          </p:cNvPr>
          <p:cNvSpPr>
            <a:spLocks noGrp="1"/>
          </p:cNvSpPr>
          <p:nvPr>
            <p:ph idx="1"/>
          </p:nvPr>
        </p:nvSpPr>
        <p:spPr>
          <a:xfrm>
            <a:off x="838200" y="1825625"/>
            <a:ext cx="6094228" cy="4351338"/>
          </a:xfrm>
        </p:spPr>
        <p:txBody>
          <a:bodyPr/>
          <a:lstStyle/>
          <a:p>
            <a:r>
              <a:rPr lang="en-US" dirty="0"/>
              <a:t>How does this quantum harmonic oscillator compare to a morse oscillator?</a:t>
            </a:r>
          </a:p>
        </p:txBody>
      </p:sp>
      <p:pic>
        <p:nvPicPr>
          <p:cNvPr id="6" name="Picture 5" descr="Harmonic Oscillator | OpenOChem Learn">
            <a:extLst>
              <a:ext uri="{FF2B5EF4-FFF2-40B4-BE49-F238E27FC236}">
                <a16:creationId xmlns:a16="http://schemas.microsoft.com/office/drawing/2014/main" id="{773E4F8F-75B4-3498-DE3A-5F50B7A39970}"/>
              </a:ext>
            </a:extLst>
          </p:cNvPr>
          <p:cNvPicPr>
            <a:picLocks noChangeAspect="1"/>
          </p:cNvPicPr>
          <p:nvPr/>
        </p:nvPicPr>
        <p:blipFill>
          <a:blip r:embed="rId2"/>
          <a:stretch>
            <a:fillRect/>
          </a:stretch>
        </p:blipFill>
        <p:spPr>
          <a:xfrm>
            <a:off x="6712540" y="1690688"/>
            <a:ext cx="5373134" cy="4644116"/>
          </a:xfrm>
          <a:prstGeom prst="rect">
            <a:avLst/>
          </a:prstGeom>
        </p:spPr>
      </p:pic>
      <p:sp>
        <p:nvSpPr>
          <p:cNvPr id="7" name="TextBox 6">
            <a:extLst>
              <a:ext uri="{FF2B5EF4-FFF2-40B4-BE49-F238E27FC236}">
                <a16:creationId xmlns:a16="http://schemas.microsoft.com/office/drawing/2014/main" id="{966E91B4-95F1-1963-07A1-4CCE8DF6A6C3}"/>
              </a:ext>
            </a:extLst>
          </p:cNvPr>
          <p:cNvSpPr txBox="1"/>
          <p:nvPr/>
        </p:nvSpPr>
        <p:spPr>
          <a:xfrm>
            <a:off x="838200" y="6326372"/>
            <a:ext cx="10515600" cy="369332"/>
          </a:xfrm>
          <a:prstGeom prst="rect">
            <a:avLst/>
          </a:prstGeom>
          <a:noFill/>
        </p:spPr>
        <p:txBody>
          <a:bodyPr wrap="square" rtlCol="0">
            <a:spAutoFit/>
          </a:bodyPr>
          <a:lstStyle/>
          <a:p>
            <a:r>
              <a:rPr lang="en-US" dirty="0"/>
              <a:t>Credit to </a:t>
            </a:r>
            <a:r>
              <a:rPr lang="en-US" dirty="0" err="1"/>
              <a:t>OpenOChem</a:t>
            </a:r>
            <a:r>
              <a:rPr lang="en-US" dirty="0"/>
              <a:t> for this figure.</a:t>
            </a:r>
          </a:p>
        </p:txBody>
      </p:sp>
    </p:spTree>
    <p:extLst>
      <p:ext uri="{BB962C8B-B14F-4D97-AF65-F5344CB8AC3E}">
        <p14:creationId xmlns:p14="http://schemas.microsoft.com/office/powerpoint/2010/main" val="146437487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AF24B3-B238-1878-AEC5-DD235CB621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23B2D8-6086-70C2-B536-CE3A67494E72}"/>
              </a:ext>
            </a:extLst>
          </p:cNvPr>
          <p:cNvSpPr>
            <a:spLocks noGrp="1"/>
          </p:cNvSpPr>
          <p:nvPr>
            <p:ph type="title"/>
          </p:nvPr>
        </p:nvSpPr>
        <p:spPr/>
        <p:txBody>
          <a:bodyPr/>
          <a:lstStyle/>
          <a:p>
            <a:r>
              <a:rPr lang="en-US" dirty="0"/>
              <a:t>Quantum Harmonic Oscillator</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E4D33A5-883B-AE34-9C7D-72F9D24CE465}"/>
                  </a:ext>
                </a:extLst>
              </p:cNvPr>
              <p:cNvSpPr>
                <a:spLocks noGrp="1"/>
              </p:cNvSpPr>
              <p:nvPr>
                <p:ph idx="1"/>
              </p:nvPr>
            </p:nvSpPr>
            <p:spPr>
              <a:xfrm>
                <a:off x="838200" y="1825625"/>
                <a:ext cx="6094228" cy="4351338"/>
              </a:xfrm>
            </p:spPr>
            <p:txBody>
              <a:bodyPr/>
              <a:lstStyle/>
              <a:p>
                <a:r>
                  <a:rPr lang="en-US" dirty="0"/>
                  <a:t>How does this quantum harmonic oscillator compare to a morse oscillator?</a:t>
                </a:r>
              </a:p>
              <a:p>
                <a:r>
                  <a:rPr lang="en-US" dirty="0"/>
                  <a:t>The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=0</m:t>
                    </m:r>
                  </m:oMath>
                </a14:m>
                <a:r>
                  <a:rPr lang="en-US" dirty="0"/>
                  <a:t> level appears to be highly similar between these descriptions, as well as the gap between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=0, 1</m:t>
                    </m:r>
                  </m:oMath>
                </a14:m>
                <a:r>
                  <a:rPr lang="en-US" dirty="0"/>
                  <a:t>.</a:t>
                </a:r>
              </a:p>
            </p:txBody>
          </p:sp>
        </mc:Choice>
        <mc:Fallback>
          <p:sp>
            <p:nvSpPr>
              <p:cNvPr id="3" name="Content Placeholder 2">
                <a:extLst>
                  <a:ext uri="{FF2B5EF4-FFF2-40B4-BE49-F238E27FC236}">
                    <a16:creationId xmlns:a16="http://schemas.microsoft.com/office/drawing/2014/main" id="{7E4D33A5-883B-AE34-9C7D-72F9D24CE465}"/>
                  </a:ext>
                </a:extLst>
              </p:cNvPr>
              <p:cNvSpPr>
                <a:spLocks noGrp="1" noRot="1" noChangeAspect="1" noMove="1" noResize="1" noEditPoints="1" noAdjustHandles="1" noChangeArrowheads="1" noChangeShapeType="1" noTextEdit="1"/>
              </p:cNvSpPr>
              <p:nvPr>
                <p:ph idx="1"/>
              </p:nvPr>
            </p:nvSpPr>
            <p:spPr>
              <a:xfrm>
                <a:off x="838200" y="1825625"/>
                <a:ext cx="6094228" cy="4351338"/>
              </a:xfrm>
              <a:blipFill>
                <a:blip r:embed="rId2"/>
                <a:stretch>
                  <a:fillRect l="-1875" t="-2326"/>
                </a:stretch>
              </a:blipFill>
            </p:spPr>
            <p:txBody>
              <a:bodyPr/>
              <a:lstStyle/>
              <a:p>
                <a:r>
                  <a:rPr lang="en-US">
                    <a:noFill/>
                  </a:rPr>
                  <a:t> </a:t>
                </a:r>
              </a:p>
            </p:txBody>
          </p:sp>
        </mc:Fallback>
      </mc:AlternateContent>
      <p:pic>
        <p:nvPicPr>
          <p:cNvPr id="6" name="Picture 5" descr="Harmonic Oscillator | OpenOChem Learn">
            <a:extLst>
              <a:ext uri="{FF2B5EF4-FFF2-40B4-BE49-F238E27FC236}">
                <a16:creationId xmlns:a16="http://schemas.microsoft.com/office/drawing/2014/main" id="{AC35AE14-64AF-5FC1-655C-9C944408665F}"/>
              </a:ext>
            </a:extLst>
          </p:cNvPr>
          <p:cNvPicPr>
            <a:picLocks noChangeAspect="1"/>
          </p:cNvPicPr>
          <p:nvPr/>
        </p:nvPicPr>
        <p:blipFill>
          <a:blip r:embed="rId3"/>
          <a:stretch>
            <a:fillRect/>
          </a:stretch>
        </p:blipFill>
        <p:spPr>
          <a:xfrm>
            <a:off x="6712540" y="1690688"/>
            <a:ext cx="5373134" cy="4644116"/>
          </a:xfrm>
          <a:prstGeom prst="rect">
            <a:avLst/>
          </a:prstGeom>
        </p:spPr>
      </p:pic>
      <p:sp>
        <p:nvSpPr>
          <p:cNvPr id="7" name="TextBox 6">
            <a:extLst>
              <a:ext uri="{FF2B5EF4-FFF2-40B4-BE49-F238E27FC236}">
                <a16:creationId xmlns:a16="http://schemas.microsoft.com/office/drawing/2014/main" id="{E2063C00-AFCB-26B6-6B34-3ADCEBCB1CD1}"/>
              </a:ext>
            </a:extLst>
          </p:cNvPr>
          <p:cNvSpPr txBox="1"/>
          <p:nvPr/>
        </p:nvSpPr>
        <p:spPr>
          <a:xfrm>
            <a:off x="838200" y="6326372"/>
            <a:ext cx="10515600" cy="369332"/>
          </a:xfrm>
          <a:prstGeom prst="rect">
            <a:avLst/>
          </a:prstGeom>
          <a:noFill/>
        </p:spPr>
        <p:txBody>
          <a:bodyPr wrap="square" rtlCol="0">
            <a:spAutoFit/>
          </a:bodyPr>
          <a:lstStyle/>
          <a:p>
            <a:r>
              <a:rPr lang="en-US" dirty="0"/>
              <a:t>Credit to </a:t>
            </a:r>
            <a:r>
              <a:rPr lang="en-US" dirty="0" err="1"/>
              <a:t>OpenOChem</a:t>
            </a:r>
            <a:r>
              <a:rPr lang="en-US" dirty="0"/>
              <a:t> for this figure.</a:t>
            </a:r>
          </a:p>
        </p:txBody>
      </p:sp>
    </p:spTree>
    <p:extLst>
      <p:ext uri="{BB962C8B-B14F-4D97-AF65-F5344CB8AC3E}">
        <p14:creationId xmlns:p14="http://schemas.microsoft.com/office/powerpoint/2010/main" val="138217299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31D28E-F3CC-939D-09A9-D766C5485C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E4F7B6-9384-C231-DBD4-3D2E39EECD69}"/>
              </a:ext>
            </a:extLst>
          </p:cNvPr>
          <p:cNvSpPr>
            <a:spLocks noGrp="1"/>
          </p:cNvSpPr>
          <p:nvPr>
            <p:ph type="title"/>
          </p:nvPr>
        </p:nvSpPr>
        <p:spPr/>
        <p:txBody>
          <a:bodyPr/>
          <a:lstStyle/>
          <a:p>
            <a:r>
              <a:rPr lang="en-US" dirty="0"/>
              <a:t>Quantum Harmonic Oscillator</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DF51F5DF-8F00-34BC-9685-623948E18444}"/>
                  </a:ext>
                </a:extLst>
              </p:cNvPr>
              <p:cNvSpPr>
                <a:spLocks noGrp="1"/>
              </p:cNvSpPr>
              <p:nvPr>
                <p:ph idx="1"/>
              </p:nvPr>
            </p:nvSpPr>
            <p:spPr>
              <a:xfrm>
                <a:off x="838200" y="1825625"/>
                <a:ext cx="6094228" cy="4351338"/>
              </a:xfrm>
            </p:spPr>
            <p:txBody>
              <a:bodyPr/>
              <a:lstStyle/>
              <a:p>
                <a:r>
                  <a:rPr lang="en-US" dirty="0"/>
                  <a:t>How does this quantum harmonic oscillator compare to a morse oscillator?</a:t>
                </a:r>
              </a:p>
              <a:p>
                <a:r>
                  <a:rPr lang="en-US" dirty="0"/>
                  <a:t>The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=0</m:t>
                    </m:r>
                  </m:oMath>
                </a14:m>
                <a:r>
                  <a:rPr lang="en-US" dirty="0"/>
                  <a:t> level appears to be highly similar between these descriptions, as well as the gap between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=0, 1</m:t>
                    </m:r>
                  </m:oMath>
                </a14:m>
                <a:r>
                  <a:rPr lang="en-US" dirty="0"/>
                  <a:t>.</a:t>
                </a:r>
              </a:p>
              <a:p>
                <a:r>
                  <a:rPr lang="en-US" dirty="0"/>
                  <a:t>Thus, our harmonic approximation does quite a good job capturing the ZPVE and fundamental frequency!</a:t>
                </a:r>
              </a:p>
            </p:txBody>
          </p:sp>
        </mc:Choice>
        <mc:Fallback>
          <p:sp>
            <p:nvSpPr>
              <p:cNvPr id="3" name="Content Placeholder 2">
                <a:extLst>
                  <a:ext uri="{FF2B5EF4-FFF2-40B4-BE49-F238E27FC236}">
                    <a16:creationId xmlns:a16="http://schemas.microsoft.com/office/drawing/2014/main" id="{DF51F5DF-8F00-34BC-9685-623948E18444}"/>
                  </a:ext>
                </a:extLst>
              </p:cNvPr>
              <p:cNvSpPr>
                <a:spLocks noGrp="1" noRot="1" noChangeAspect="1" noMove="1" noResize="1" noEditPoints="1" noAdjustHandles="1" noChangeArrowheads="1" noChangeShapeType="1" noTextEdit="1"/>
              </p:cNvSpPr>
              <p:nvPr>
                <p:ph idx="1"/>
              </p:nvPr>
            </p:nvSpPr>
            <p:spPr>
              <a:xfrm>
                <a:off x="838200" y="1825625"/>
                <a:ext cx="6094228" cy="4351338"/>
              </a:xfrm>
              <a:blipFill>
                <a:blip r:embed="rId2"/>
                <a:stretch>
                  <a:fillRect l="-1875" t="-2326"/>
                </a:stretch>
              </a:blipFill>
            </p:spPr>
            <p:txBody>
              <a:bodyPr/>
              <a:lstStyle/>
              <a:p>
                <a:r>
                  <a:rPr lang="en-US">
                    <a:noFill/>
                  </a:rPr>
                  <a:t> </a:t>
                </a:r>
              </a:p>
            </p:txBody>
          </p:sp>
        </mc:Fallback>
      </mc:AlternateContent>
      <p:pic>
        <p:nvPicPr>
          <p:cNvPr id="6" name="Picture 5" descr="Harmonic Oscillator | OpenOChem Learn">
            <a:extLst>
              <a:ext uri="{FF2B5EF4-FFF2-40B4-BE49-F238E27FC236}">
                <a16:creationId xmlns:a16="http://schemas.microsoft.com/office/drawing/2014/main" id="{83434AB9-5D7C-ADA6-A65B-EC568284A79E}"/>
              </a:ext>
            </a:extLst>
          </p:cNvPr>
          <p:cNvPicPr>
            <a:picLocks noChangeAspect="1"/>
          </p:cNvPicPr>
          <p:nvPr/>
        </p:nvPicPr>
        <p:blipFill>
          <a:blip r:embed="rId3"/>
          <a:stretch>
            <a:fillRect/>
          </a:stretch>
        </p:blipFill>
        <p:spPr>
          <a:xfrm>
            <a:off x="6712540" y="1690688"/>
            <a:ext cx="5373134" cy="4644116"/>
          </a:xfrm>
          <a:prstGeom prst="rect">
            <a:avLst/>
          </a:prstGeom>
        </p:spPr>
      </p:pic>
      <p:sp>
        <p:nvSpPr>
          <p:cNvPr id="7" name="TextBox 6">
            <a:extLst>
              <a:ext uri="{FF2B5EF4-FFF2-40B4-BE49-F238E27FC236}">
                <a16:creationId xmlns:a16="http://schemas.microsoft.com/office/drawing/2014/main" id="{280BD73E-9253-18D0-042B-8917A7C2648C}"/>
              </a:ext>
            </a:extLst>
          </p:cNvPr>
          <p:cNvSpPr txBox="1"/>
          <p:nvPr/>
        </p:nvSpPr>
        <p:spPr>
          <a:xfrm>
            <a:off x="838200" y="6326372"/>
            <a:ext cx="10515600" cy="369332"/>
          </a:xfrm>
          <a:prstGeom prst="rect">
            <a:avLst/>
          </a:prstGeom>
          <a:noFill/>
        </p:spPr>
        <p:txBody>
          <a:bodyPr wrap="square" rtlCol="0">
            <a:spAutoFit/>
          </a:bodyPr>
          <a:lstStyle/>
          <a:p>
            <a:r>
              <a:rPr lang="en-US" dirty="0"/>
              <a:t>Credit to </a:t>
            </a:r>
            <a:r>
              <a:rPr lang="en-US" dirty="0" err="1"/>
              <a:t>OpenOChem</a:t>
            </a:r>
            <a:r>
              <a:rPr lang="en-US" dirty="0"/>
              <a:t> for this figure.</a:t>
            </a:r>
          </a:p>
        </p:txBody>
      </p:sp>
    </p:spTree>
    <p:extLst>
      <p:ext uri="{BB962C8B-B14F-4D97-AF65-F5344CB8AC3E}">
        <p14:creationId xmlns:p14="http://schemas.microsoft.com/office/powerpoint/2010/main" val="85887403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844FA-A0E3-0791-3E05-292E6D0AF172}"/>
              </a:ext>
            </a:extLst>
          </p:cNvPr>
          <p:cNvSpPr>
            <a:spLocks noGrp="1"/>
          </p:cNvSpPr>
          <p:nvPr>
            <p:ph type="title"/>
          </p:nvPr>
        </p:nvSpPr>
        <p:spPr/>
        <p:txBody>
          <a:bodyPr/>
          <a:lstStyle/>
          <a:p>
            <a:r>
              <a:rPr lang="en-US" dirty="0"/>
              <a:t>Quantum Anharmonicity</a:t>
            </a:r>
          </a:p>
        </p:txBody>
      </p:sp>
      <p:sp>
        <p:nvSpPr>
          <p:cNvPr id="3" name="Content Placeholder 2">
            <a:extLst>
              <a:ext uri="{FF2B5EF4-FFF2-40B4-BE49-F238E27FC236}">
                <a16:creationId xmlns:a16="http://schemas.microsoft.com/office/drawing/2014/main" id="{4A9DDBFA-2B62-BA43-1B2D-8C3838372D90}"/>
              </a:ext>
            </a:extLst>
          </p:cNvPr>
          <p:cNvSpPr>
            <a:spLocks noGrp="1"/>
          </p:cNvSpPr>
          <p:nvPr>
            <p:ph idx="1"/>
          </p:nvPr>
        </p:nvSpPr>
        <p:spPr>
          <a:xfrm>
            <a:off x="838200" y="1825625"/>
            <a:ext cx="6062330" cy="4351338"/>
          </a:xfrm>
        </p:spPr>
        <p:txBody>
          <a:bodyPr/>
          <a:lstStyle/>
          <a:p>
            <a:r>
              <a:rPr lang="en-US" dirty="0"/>
              <a:t>So then, what is anharmonicity?</a:t>
            </a:r>
          </a:p>
        </p:txBody>
      </p:sp>
      <p:pic>
        <p:nvPicPr>
          <p:cNvPr id="4" name="Picture 3" descr="Harmonic Oscillator | OpenOChem Learn">
            <a:extLst>
              <a:ext uri="{FF2B5EF4-FFF2-40B4-BE49-F238E27FC236}">
                <a16:creationId xmlns:a16="http://schemas.microsoft.com/office/drawing/2014/main" id="{3FBB7042-C98C-99D9-659C-38F57B4D1EDC}"/>
              </a:ext>
            </a:extLst>
          </p:cNvPr>
          <p:cNvPicPr>
            <a:picLocks noChangeAspect="1"/>
          </p:cNvPicPr>
          <p:nvPr/>
        </p:nvPicPr>
        <p:blipFill>
          <a:blip r:embed="rId2"/>
          <a:stretch>
            <a:fillRect/>
          </a:stretch>
        </p:blipFill>
        <p:spPr>
          <a:xfrm>
            <a:off x="6712540" y="1690688"/>
            <a:ext cx="5373134" cy="4644116"/>
          </a:xfrm>
          <a:prstGeom prst="rect">
            <a:avLst/>
          </a:prstGeom>
        </p:spPr>
      </p:pic>
      <p:sp>
        <p:nvSpPr>
          <p:cNvPr id="5" name="TextBox 4">
            <a:extLst>
              <a:ext uri="{FF2B5EF4-FFF2-40B4-BE49-F238E27FC236}">
                <a16:creationId xmlns:a16="http://schemas.microsoft.com/office/drawing/2014/main" id="{1E90FD2C-3BB8-9B71-78AE-22C82F48BA34}"/>
              </a:ext>
            </a:extLst>
          </p:cNvPr>
          <p:cNvSpPr txBox="1"/>
          <p:nvPr/>
        </p:nvSpPr>
        <p:spPr>
          <a:xfrm>
            <a:off x="838200" y="6326372"/>
            <a:ext cx="10515600" cy="369332"/>
          </a:xfrm>
          <a:prstGeom prst="rect">
            <a:avLst/>
          </a:prstGeom>
          <a:noFill/>
        </p:spPr>
        <p:txBody>
          <a:bodyPr wrap="square" rtlCol="0">
            <a:spAutoFit/>
          </a:bodyPr>
          <a:lstStyle/>
          <a:p>
            <a:r>
              <a:rPr lang="en-US" dirty="0"/>
              <a:t>Credit to </a:t>
            </a:r>
            <a:r>
              <a:rPr lang="en-US" dirty="0" err="1"/>
              <a:t>OpenOChem</a:t>
            </a:r>
            <a:r>
              <a:rPr lang="en-US" dirty="0"/>
              <a:t> for this figure.</a:t>
            </a:r>
          </a:p>
        </p:txBody>
      </p:sp>
    </p:spTree>
    <p:extLst>
      <p:ext uri="{BB962C8B-B14F-4D97-AF65-F5344CB8AC3E}">
        <p14:creationId xmlns:p14="http://schemas.microsoft.com/office/powerpoint/2010/main" val="165718323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05F966-D1C6-9F7F-55F7-625C48B125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4F7152-325E-0412-5832-96A4A980FF2A}"/>
              </a:ext>
            </a:extLst>
          </p:cNvPr>
          <p:cNvSpPr>
            <a:spLocks noGrp="1"/>
          </p:cNvSpPr>
          <p:nvPr>
            <p:ph type="title"/>
          </p:nvPr>
        </p:nvSpPr>
        <p:spPr/>
        <p:txBody>
          <a:bodyPr/>
          <a:lstStyle/>
          <a:p>
            <a:r>
              <a:rPr lang="en-US" dirty="0"/>
              <a:t>Quantum Anharmonicity</a:t>
            </a:r>
          </a:p>
        </p:txBody>
      </p:sp>
      <p:sp>
        <p:nvSpPr>
          <p:cNvPr id="3" name="Content Placeholder 2">
            <a:extLst>
              <a:ext uri="{FF2B5EF4-FFF2-40B4-BE49-F238E27FC236}">
                <a16:creationId xmlns:a16="http://schemas.microsoft.com/office/drawing/2014/main" id="{3BE4978B-AE88-1002-54BB-D69DF8C239D4}"/>
              </a:ext>
            </a:extLst>
          </p:cNvPr>
          <p:cNvSpPr>
            <a:spLocks noGrp="1"/>
          </p:cNvSpPr>
          <p:nvPr>
            <p:ph idx="1"/>
          </p:nvPr>
        </p:nvSpPr>
        <p:spPr>
          <a:xfrm>
            <a:off x="838200" y="1825625"/>
            <a:ext cx="6062330" cy="4351338"/>
          </a:xfrm>
        </p:spPr>
        <p:txBody>
          <a:bodyPr/>
          <a:lstStyle/>
          <a:p>
            <a:r>
              <a:rPr lang="en-US" dirty="0"/>
              <a:t>So then, what is anharmonicity?</a:t>
            </a:r>
          </a:p>
          <a:p>
            <a:r>
              <a:rPr lang="en-US" dirty="0"/>
              <a:t>The harmonic approximation is so powerful and ubiquitous that all leftover effects required to describe a real oscillating molecule are simply called anharmonic effects.</a:t>
            </a:r>
          </a:p>
        </p:txBody>
      </p:sp>
      <p:pic>
        <p:nvPicPr>
          <p:cNvPr id="4" name="Picture 3" descr="Harmonic Oscillator | OpenOChem Learn">
            <a:extLst>
              <a:ext uri="{FF2B5EF4-FFF2-40B4-BE49-F238E27FC236}">
                <a16:creationId xmlns:a16="http://schemas.microsoft.com/office/drawing/2014/main" id="{1C24D0C0-A460-5824-E4C0-11958289A3CD}"/>
              </a:ext>
            </a:extLst>
          </p:cNvPr>
          <p:cNvPicPr>
            <a:picLocks noChangeAspect="1"/>
          </p:cNvPicPr>
          <p:nvPr/>
        </p:nvPicPr>
        <p:blipFill>
          <a:blip r:embed="rId2"/>
          <a:stretch>
            <a:fillRect/>
          </a:stretch>
        </p:blipFill>
        <p:spPr>
          <a:xfrm>
            <a:off x="6712540" y="1690688"/>
            <a:ext cx="5373134" cy="4644116"/>
          </a:xfrm>
          <a:prstGeom prst="rect">
            <a:avLst/>
          </a:prstGeom>
        </p:spPr>
      </p:pic>
      <p:sp>
        <p:nvSpPr>
          <p:cNvPr id="5" name="TextBox 4">
            <a:extLst>
              <a:ext uri="{FF2B5EF4-FFF2-40B4-BE49-F238E27FC236}">
                <a16:creationId xmlns:a16="http://schemas.microsoft.com/office/drawing/2014/main" id="{9B6A9041-9A11-854C-5FFF-166AD3BB4BB1}"/>
              </a:ext>
            </a:extLst>
          </p:cNvPr>
          <p:cNvSpPr txBox="1"/>
          <p:nvPr/>
        </p:nvSpPr>
        <p:spPr>
          <a:xfrm>
            <a:off x="838200" y="6326372"/>
            <a:ext cx="10515600" cy="369332"/>
          </a:xfrm>
          <a:prstGeom prst="rect">
            <a:avLst/>
          </a:prstGeom>
          <a:noFill/>
        </p:spPr>
        <p:txBody>
          <a:bodyPr wrap="square" rtlCol="0">
            <a:spAutoFit/>
          </a:bodyPr>
          <a:lstStyle/>
          <a:p>
            <a:r>
              <a:rPr lang="en-US" dirty="0"/>
              <a:t>Credit to </a:t>
            </a:r>
            <a:r>
              <a:rPr lang="en-US" dirty="0" err="1"/>
              <a:t>OpenOChem</a:t>
            </a:r>
            <a:r>
              <a:rPr lang="en-US" dirty="0"/>
              <a:t> for this figure.</a:t>
            </a:r>
          </a:p>
        </p:txBody>
      </p:sp>
    </p:spTree>
    <p:extLst>
      <p:ext uri="{BB962C8B-B14F-4D97-AF65-F5344CB8AC3E}">
        <p14:creationId xmlns:p14="http://schemas.microsoft.com/office/powerpoint/2010/main" val="20215732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DEA683-4172-774C-FE84-7D6509E7B6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A1ABA4-9090-5FFD-AD41-CC5673879B28}"/>
              </a:ext>
            </a:extLst>
          </p:cNvPr>
          <p:cNvSpPr>
            <a:spLocks noGrp="1"/>
          </p:cNvSpPr>
          <p:nvPr>
            <p:ph type="title"/>
          </p:nvPr>
        </p:nvSpPr>
        <p:spPr/>
        <p:txBody>
          <a:bodyPr/>
          <a:lstStyle/>
          <a:p>
            <a:r>
              <a:rPr lang="en-US" dirty="0"/>
              <a:t>Quantum Anharmonicity</a:t>
            </a:r>
          </a:p>
        </p:txBody>
      </p:sp>
      <p:sp>
        <p:nvSpPr>
          <p:cNvPr id="3" name="Content Placeholder 2">
            <a:extLst>
              <a:ext uri="{FF2B5EF4-FFF2-40B4-BE49-F238E27FC236}">
                <a16:creationId xmlns:a16="http://schemas.microsoft.com/office/drawing/2014/main" id="{4309DF99-4812-858A-9940-0639BFA52301}"/>
              </a:ext>
            </a:extLst>
          </p:cNvPr>
          <p:cNvSpPr>
            <a:spLocks noGrp="1"/>
          </p:cNvSpPr>
          <p:nvPr>
            <p:ph idx="1"/>
          </p:nvPr>
        </p:nvSpPr>
        <p:spPr>
          <a:xfrm>
            <a:off x="838200" y="1825625"/>
            <a:ext cx="6062330" cy="4351338"/>
          </a:xfrm>
        </p:spPr>
        <p:txBody>
          <a:bodyPr/>
          <a:lstStyle/>
          <a:p>
            <a:r>
              <a:rPr lang="en-US" dirty="0"/>
              <a:t>So then, what is anharmonicity?</a:t>
            </a:r>
          </a:p>
          <a:p>
            <a:r>
              <a:rPr lang="en-US" dirty="0"/>
              <a:t>The harmonic approximation is so powerful and ubiquitous that all leftover effects required to describe a real oscillating molecule are simply called anharmonic effects.</a:t>
            </a:r>
          </a:p>
          <a:p>
            <a:r>
              <a:rPr lang="en-US" dirty="0"/>
              <a:t>A morse oscillator contains an anharmonic description of the oscillation of a diatomic molecule.</a:t>
            </a:r>
          </a:p>
        </p:txBody>
      </p:sp>
      <p:pic>
        <p:nvPicPr>
          <p:cNvPr id="4" name="Picture 3" descr="Harmonic Oscillator | OpenOChem Learn">
            <a:extLst>
              <a:ext uri="{FF2B5EF4-FFF2-40B4-BE49-F238E27FC236}">
                <a16:creationId xmlns:a16="http://schemas.microsoft.com/office/drawing/2014/main" id="{C7C5C08B-46FB-D19F-0A8A-83E7C9D41D7B}"/>
              </a:ext>
            </a:extLst>
          </p:cNvPr>
          <p:cNvPicPr>
            <a:picLocks noChangeAspect="1"/>
          </p:cNvPicPr>
          <p:nvPr/>
        </p:nvPicPr>
        <p:blipFill>
          <a:blip r:embed="rId2"/>
          <a:stretch>
            <a:fillRect/>
          </a:stretch>
        </p:blipFill>
        <p:spPr>
          <a:xfrm>
            <a:off x="6712540" y="1690688"/>
            <a:ext cx="5373134" cy="4644116"/>
          </a:xfrm>
          <a:prstGeom prst="rect">
            <a:avLst/>
          </a:prstGeom>
        </p:spPr>
      </p:pic>
      <p:sp>
        <p:nvSpPr>
          <p:cNvPr id="5" name="TextBox 4">
            <a:extLst>
              <a:ext uri="{FF2B5EF4-FFF2-40B4-BE49-F238E27FC236}">
                <a16:creationId xmlns:a16="http://schemas.microsoft.com/office/drawing/2014/main" id="{C9066934-AEF5-C154-F3EA-432EDAFD6D40}"/>
              </a:ext>
            </a:extLst>
          </p:cNvPr>
          <p:cNvSpPr txBox="1"/>
          <p:nvPr/>
        </p:nvSpPr>
        <p:spPr>
          <a:xfrm>
            <a:off x="838200" y="6326372"/>
            <a:ext cx="10515600" cy="369332"/>
          </a:xfrm>
          <a:prstGeom prst="rect">
            <a:avLst/>
          </a:prstGeom>
          <a:noFill/>
        </p:spPr>
        <p:txBody>
          <a:bodyPr wrap="square" rtlCol="0">
            <a:spAutoFit/>
          </a:bodyPr>
          <a:lstStyle/>
          <a:p>
            <a:r>
              <a:rPr lang="en-US" dirty="0"/>
              <a:t>Credit to </a:t>
            </a:r>
            <a:r>
              <a:rPr lang="en-US" dirty="0" err="1"/>
              <a:t>OpenOChem</a:t>
            </a:r>
            <a:r>
              <a:rPr lang="en-US" dirty="0"/>
              <a:t> for this figure.</a:t>
            </a:r>
          </a:p>
        </p:txBody>
      </p:sp>
    </p:spTree>
    <p:extLst>
      <p:ext uri="{BB962C8B-B14F-4D97-AF65-F5344CB8AC3E}">
        <p14:creationId xmlns:p14="http://schemas.microsoft.com/office/powerpoint/2010/main" val="238397308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1BE60-B44D-4811-64D3-CA3CCF7F62F9}"/>
              </a:ext>
            </a:extLst>
          </p:cNvPr>
          <p:cNvSpPr>
            <a:spLocks noGrp="1"/>
          </p:cNvSpPr>
          <p:nvPr>
            <p:ph type="title"/>
          </p:nvPr>
        </p:nvSpPr>
        <p:spPr/>
        <p:txBody>
          <a:bodyPr/>
          <a:lstStyle/>
          <a:p>
            <a:r>
              <a:rPr lang="en-US" dirty="0"/>
              <a:t>When do we need to worry about anharmonicity?</a:t>
            </a:r>
          </a:p>
        </p:txBody>
      </p:sp>
      <p:sp>
        <p:nvSpPr>
          <p:cNvPr id="3" name="Content Placeholder 2">
            <a:extLst>
              <a:ext uri="{FF2B5EF4-FFF2-40B4-BE49-F238E27FC236}">
                <a16:creationId xmlns:a16="http://schemas.microsoft.com/office/drawing/2014/main" id="{681BA815-E9EE-F888-45EC-B9031E9C51DB}"/>
              </a:ext>
            </a:extLst>
          </p:cNvPr>
          <p:cNvSpPr>
            <a:spLocks noGrp="1"/>
          </p:cNvSpPr>
          <p:nvPr>
            <p:ph idx="1"/>
          </p:nvPr>
        </p:nvSpPr>
        <p:spPr/>
        <p:txBody>
          <a:bodyPr/>
          <a:lstStyle/>
          <a:p>
            <a:r>
              <a:rPr lang="en-US" dirty="0"/>
              <a:t>Comparing with experiment</a:t>
            </a:r>
          </a:p>
          <a:p>
            <a:pPr lvl="1"/>
            <a:r>
              <a:rPr lang="en-US" dirty="0"/>
              <a:t>All real molecules contain the full range of physical effects. (Duh)</a:t>
            </a:r>
          </a:p>
        </p:txBody>
      </p:sp>
    </p:spTree>
    <p:extLst>
      <p:ext uri="{BB962C8B-B14F-4D97-AF65-F5344CB8AC3E}">
        <p14:creationId xmlns:p14="http://schemas.microsoft.com/office/powerpoint/2010/main" val="388758506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B196F7-BDF1-70AF-E55E-16659F9F08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1FD686-3B87-E846-1E02-4B5E51E84E8C}"/>
              </a:ext>
            </a:extLst>
          </p:cNvPr>
          <p:cNvSpPr>
            <a:spLocks noGrp="1"/>
          </p:cNvSpPr>
          <p:nvPr>
            <p:ph type="title"/>
          </p:nvPr>
        </p:nvSpPr>
        <p:spPr/>
        <p:txBody>
          <a:bodyPr/>
          <a:lstStyle/>
          <a:p>
            <a:r>
              <a:rPr lang="en-US" dirty="0"/>
              <a:t>When do we need to worry about anharmonicity?</a:t>
            </a:r>
          </a:p>
        </p:txBody>
      </p:sp>
      <p:sp>
        <p:nvSpPr>
          <p:cNvPr id="3" name="Content Placeholder 2">
            <a:extLst>
              <a:ext uri="{FF2B5EF4-FFF2-40B4-BE49-F238E27FC236}">
                <a16:creationId xmlns:a16="http://schemas.microsoft.com/office/drawing/2014/main" id="{60639773-CC85-A204-6807-9F39089198E7}"/>
              </a:ext>
            </a:extLst>
          </p:cNvPr>
          <p:cNvSpPr>
            <a:spLocks noGrp="1"/>
          </p:cNvSpPr>
          <p:nvPr>
            <p:ph idx="1"/>
          </p:nvPr>
        </p:nvSpPr>
        <p:spPr/>
        <p:txBody>
          <a:bodyPr/>
          <a:lstStyle/>
          <a:p>
            <a:r>
              <a:rPr lang="en-US" dirty="0"/>
              <a:t>Comparing with experiment</a:t>
            </a:r>
          </a:p>
          <a:p>
            <a:pPr lvl="1"/>
            <a:r>
              <a:rPr lang="en-US" dirty="0"/>
              <a:t>All real molecules contain the full range of physical effects. (Duh)</a:t>
            </a:r>
          </a:p>
          <a:p>
            <a:pPr lvl="1"/>
            <a:r>
              <a:rPr lang="en-US" dirty="0"/>
              <a:t>Systems that have a high degree of anharmonicity will require an anharmonic treatment if you want your frequencies to be useful for experimental comparison or prediction. e.g. C-H stretches.</a:t>
            </a:r>
          </a:p>
        </p:txBody>
      </p:sp>
    </p:spTree>
    <p:extLst>
      <p:ext uri="{BB962C8B-B14F-4D97-AF65-F5344CB8AC3E}">
        <p14:creationId xmlns:p14="http://schemas.microsoft.com/office/powerpoint/2010/main" val="223970441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46424-C562-BB87-9ABD-9DB998B6BD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40CC4E-9639-B557-5FFF-A9C5D8D1E42D}"/>
              </a:ext>
            </a:extLst>
          </p:cNvPr>
          <p:cNvSpPr>
            <a:spLocks noGrp="1"/>
          </p:cNvSpPr>
          <p:nvPr>
            <p:ph type="title"/>
          </p:nvPr>
        </p:nvSpPr>
        <p:spPr/>
        <p:txBody>
          <a:bodyPr/>
          <a:lstStyle/>
          <a:p>
            <a:r>
              <a:rPr lang="en-US" dirty="0"/>
              <a:t>When do we need to worry about anharmonicity?</a:t>
            </a:r>
          </a:p>
        </p:txBody>
      </p:sp>
      <p:sp>
        <p:nvSpPr>
          <p:cNvPr id="3" name="Content Placeholder 2">
            <a:extLst>
              <a:ext uri="{FF2B5EF4-FFF2-40B4-BE49-F238E27FC236}">
                <a16:creationId xmlns:a16="http://schemas.microsoft.com/office/drawing/2014/main" id="{87C534EC-5141-B421-768B-5AF9DC2BBAEB}"/>
              </a:ext>
            </a:extLst>
          </p:cNvPr>
          <p:cNvSpPr>
            <a:spLocks noGrp="1"/>
          </p:cNvSpPr>
          <p:nvPr>
            <p:ph idx="1"/>
          </p:nvPr>
        </p:nvSpPr>
        <p:spPr/>
        <p:txBody>
          <a:bodyPr/>
          <a:lstStyle/>
          <a:p>
            <a:r>
              <a:rPr lang="en-US" dirty="0"/>
              <a:t>Comparing with experiment</a:t>
            </a:r>
          </a:p>
          <a:p>
            <a:pPr lvl="1"/>
            <a:r>
              <a:rPr lang="en-US" dirty="0"/>
              <a:t>All real molecules contain the full range of physical effects. (Duh)</a:t>
            </a:r>
          </a:p>
          <a:p>
            <a:pPr lvl="1"/>
            <a:r>
              <a:rPr lang="en-US" dirty="0"/>
              <a:t>Systems that have a high degree of anharmonicity will require an anharmonic treatment if you want your frequencies to be useful for experimental comparison or prediction. e.g. C-H stretches.</a:t>
            </a:r>
          </a:p>
          <a:p>
            <a:pPr lvl="1"/>
            <a:r>
              <a:rPr lang="en-US" dirty="0"/>
              <a:t>Overtones will be more strongly influenced by anharmonicity</a:t>
            </a:r>
          </a:p>
        </p:txBody>
      </p:sp>
    </p:spTree>
    <p:extLst>
      <p:ext uri="{BB962C8B-B14F-4D97-AF65-F5344CB8AC3E}">
        <p14:creationId xmlns:p14="http://schemas.microsoft.com/office/powerpoint/2010/main" val="406268841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6389B1-1FED-7EEC-1CDB-4C86E0CFB5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CA554A-D1C1-A65A-0540-D628ACBDFD01}"/>
              </a:ext>
            </a:extLst>
          </p:cNvPr>
          <p:cNvSpPr>
            <a:spLocks noGrp="1"/>
          </p:cNvSpPr>
          <p:nvPr>
            <p:ph type="title"/>
          </p:nvPr>
        </p:nvSpPr>
        <p:spPr/>
        <p:txBody>
          <a:bodyPr/>
          <a:lstStyle/>
          <a:p>
            <a:r>
              <a:rPr lang="en-US" dirty="0"/>
              <a:t>When do we need to worry about anharmonicity?</a:t>
            </a:r>
          </a:p>
        </p:txBody>
      </p:sp>
      <p:sp>
        <p:nvSpPr>
          <p:cNvPr id="3" name="Content Placeholder 2">
            <a:extLst>
              <a:ext uri="{FF2B5EF4-FFF2-40B4-BE49-F238E27FC236}">
                <a16:creationId xmlns:a16="http://schemas.microsoft.com/office/drawing/2014/main" id="{C72F2461-9B1A-78D7-85E8-08E6D42823D9}"/>
              </a:ext>
            </a:extLst>
          </p:cNvPr>
          <p:cNvSpPr>
            <a:spLocks noGrp="1"/>
          </p:cNvSpPr>
          <p:nvPr>
            <p:ph idx="1"/>
          </p:nvPr>
        </p:nvSpPr>
        <p:spPr/>
        <p:txBody>
          <a:bodyPr/>
          <a:lstStyle/>
          <a:p>
            <a:r>
              <a:rPr lang="en-US" dirty="0"/>
              <a:t>Comparing with experiment</a:t>
            </a:r>
          </a:p>
          <a:p>
            <a:pPr lvl="1"/>
            <a:r>
              <a:rPr lang="en-US" dirty="0"/>
              <a:t>All real molecules contain the full range of physical effects. (Duh)</a:t>
            </a:r>
          </a:p>
          <a:p>
            <a:pPr lvl="1"/>
            <a:r>
              <a:rPr lang="en-US" dirty="0"/>
              <a:t>Systems that have a high degree of anharmonicity will require an anharmonic treatment if you want your frequencies to be useful for experimental comparison or prediction. e.g. C-H stretches.</a:t>
            </a:r>
          </a:p>
          <a:p>
            <a:pPr lvl="1"/>
            <a:r>
              <a:rPr lang="en-US" dirty="0"/>
              <a:t>Overtones will be more strongly influenced by anharmonicity</a:t>
            </a:r>
          </a:p>
          <a:p>
            <a:pPr lvl="1"/>
            <a:r>
              <a:rPr lang="en-US" dirty="0"/>
              <a:t>Experimental kinetics may require an anharmonic ZPVE for extreme precision</a:t>
            </a:r>
          </a:p>
        </p:txBody>
      </p:sp>
    </p:spTree>
    <p:extLst>
      <p:ext uri="{BB962C8B-B14F-4D97-AF65-F5344CB8AC3E}">
        <p14:creationId xmlns:p14="http://schemas.microsoft.com/office/powerpoint/2010/main" val="127586721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541CC-6B78-1043-97ED-B5B88ACB9D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0C7116-1F9B-C704-0B6F-50BC4EF4393F}"/>
              </a:ext>
            </a:extLst>
          </p:cNvPr>
          <p:cNvSpPr>
            <a:spLocks noGrp="1"/>
          </p:cNvSpPr>
          <p:nvPr>
            <p:ph type="title"/>
          </p:nvPr>
        </p:nvSpPr>
        <p:spPr/>
        <p:txBody>
          <a:bodyPr/>
          <a:lstStyle/>
          <a:p>
            <a:r>
              <a:rPr lang="en-US" dirty="0"/>
              <a:t>When do we need to worry about anharmonicity?</a:t>
            </a:r>
          </a:p>
        </p:txBody>
      </p:sp>
      <p:sp>
        <p:nvSpPr>
          <p:cNvPr id="3" name="Content Placeholder 2">
            <a:extLst>
              <a:ext uri="{FF2B5EF4-FFF2-40B4-BE49-F238E27FC236}">
                <a16:creationId xmlns:a16="http://schemas.microsoft.com/office/drawing/2014/main" id="{E9B34107-05D0-2A60-1F32-CC7F7ED6E3A3}"/>
              </a:ext>
            </a:extLst>
          </p:cNvPr>
          <p:cNvSpPr>
            <a:spLocks noGrp="1"/>
          </p:cNvSpPr>
          <p:nvPr>
            <p:ph idx="1"/>
          </p:nvPr>
        </p:nvSpPr>
        <p:spPr/>
        <p:txBody>
          <a:bodyPr/>
          <a:lstStyle/>
          <a:p>
            <a:r>
              <a:rPr lang="en-US" dirty="0"/>
              <a:t>Comparing with experiment</a:t>
            </a:r>
          </a:p>
          <a:p>
            <a:pPr lvl="1"/>
            <a:r>
              <a:rPr lang="en-US" dirty="0"/>
              <a:t>All real molecules contain the full range of physical effects. (Duh)</a:t>
            </a:r>
          </a:p>
          <a:p>
            <a:pPr lvl="1"/>
            <a:r>
              <a:rPr lang="en-US" dirty="0"/>
              <a:t>Systems that have a high degree of anharmonicity will require an anharmonic treatment if you want your frequencies to be useful for experimental comparison or prediction. e.g. C-H stretches.</a:t>
            </a:r>
          </a:p>
          <a:p>
            <a:pPr lvl="1"/>
            <a:r>
              <a:rPr lang="en-US" dirty="0"/>
              <a:t>Overtones will be more strongly influenced by anharmonicity</a:t>
            </a:r>
          </a:p>
          <a:p>
            <a:pPr lvl="1"/>
            <a:r>
              <a:rPr lang="en-US" dirty="0"/>
              <a:t>Experimental kinetics may require an anharmonic ZPVE for extreme precision</a:t>
            </a:r>
          </a:p>
          <a:p>
            <a:pPr lvl="1"/>
            <a:r>
              <a:rPr lang="en-US" dirty="0"/>
              <a:t>Experimentally derived molecular structures will be distorted by vibrational averaging</a:t>
            </a:r>
          </a:p>
        </p:txBody>
      </p:sp>
    </p:spTree>
    <p:extLst>
      <p:ext uri="{BB962C8B-B14F-4D97-AF65-F5344CB8AC3E}">
        <p14:creationId xmlns:p14="http://schemas.microsoft.com/office/powerpoint/2010/main" val="379895618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5B1440-6CE8-14E2-69DF-A1BF6A1A5A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DF431E-305E-CDE9-FC26-FB0CAEEB9FDF}"/>
              </a:ext>
            </a:extLst>
          </p:cNvPr>
          <p:cNvSpPr>
            <a:spLocks noGrp="1"/>
          </p:cNvSpPr>
          <p:nvPr>
            <p:ph type="title"/>
          </p:nvPr>
        </p:nvSpPr>
        <p:spPr/>
        <p:txBody>
          <a:bodyPr/>
          <a:lstStyle/>
          <a:p>
            <a:r>
              <a:rPr lang="en-US" dirty="0"/>
              <a:t>When do we need to worry about anharmonicity?</a:t>
            </a:r>
          </a:p>
        </p:txBody>
      </p:sp>
      <p:sp>
        <p:nvSpPr>
          <p:cNvPr id="3" name="Content Placeholder 2">
            <a:extLst>
              <a:ext uri="{FF2B5EF4-FFF2-40B4-BE49-F238E27FC236}">
                <a16:creationId xmlns:a16="http://schemas.microsoft.com/office/drawing/2014/main" id="{10074ABE-B851-4EDF-6EA6-DF3681904258}"/>
              </a:ext>
            </a:extLst>
          </p:cNvPr>
          <p:cNvSpPr>
            <a:spLocks noGrp="1"/>
          </p:cNvSpPr>
          <p:nvPr>
            <p:ph idx="1"/>
          </p:nvPr>
        </p:nvSpPr>
        <p:spPr/>
        <p:txBody>
          <a:bodyPr/>
          <a:lstStyle/>
          <a:p>
            <a:r>
              <a:rPr lang="en-US" dirty="0"/>
              <a:t>Comparing with experiment</a:t>
            </a:r>
          </a:p>
          <a:p>
            <a:pPr lvl="1"/>
            <a:r>
              <a:rPr lang="en-US" dirty="0"/>
              <a:t>All real molecules contain the full range of physical effects. (Duh)</a:t>
            </a:r>
          </a:p>
          <a:p>
            <a:pPr lvl="1"/>
            <a:r>
              <a:rPr lang="en-US" dirty="0"/>
              <a:t>Systems that have a high degree of anharmonicity will require an anharmonic treatment if you want your frequencies to be useful for experimental comparison or prediction. e.g. C-H stretches.</a:t>
            </a:r>
          </a:p>
          <a:p>
            <a:pPr lvl="1"/>
            <a:r>
              <a:rPr lang="en-US" dirty="0"/>
              <a:t>Overtones will be more strongly influenced by anharmonicity</a:t>
            </a:r>
          </a:p>
          <a:p>
            <a:pPr lvl="1"/>
            <a:r>
              <a:rPr lang="en-US" dirty="0"/>
              <a:t>Experimental kinetics may require an anharmonic ZPVE for extreme precision</a:t>
            </a:r>
          </a:p>
          <a:p>
            <a:pPr lvl="1"/>
            <a:r>
              <a:rPr lang="en-US" dirty="0"/>
              <a:t>Experimentally derived molecular structures will be distorted by vibrational averaging</a:t>
            </a:r>
          </a:p>
          <a:p>
            <a:r>
              <a:rPr lang="en-US" dirty="0"/>
              <a:t>Just getting the correct answer</a:t>
            </a:r>
          </a:p>
        </p:txBody>
      </p:sp>
    </p:spTree>
    <p:extLst>
      <p:ext uri="{BB962C8B-B14F-4D97-AF65-F5344CB8AC3E}">
        <p14:creationId xmlns:p14="http://schemas.microsoft.com/office/powerpoint/2010/main" val="407413659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352EA8-7BA3-8865-0B91-3AD63740D073}"/>
              </a:ext>
            </a:extLst>
          </p:cNvPr>
          <p:cNvSpPr>
            <a:spLocks noGrp="1"/>
          </p:cNvSpPr>
          <p:nvPr>
            <p:ph type="title"/>
          </p:nvPr>
        </p:nvSpPr>
        <p:spPr/>
        <p:txBody>
          <a:bodyPr/>
          <a:lstStyle/>
          <a:p>
            <a:r>
              <a:rPr lang="en-US" dirty="0"/>
              <a:t>How to compute harmonic and anharmonic frequencies</a:t>
            </a:r>
          </a:p>
        </p:txBody>
      </p:sp>
      <p:sp>
        <p:nvSpPr>
          <p:cNvPr id="3" name="Content Placeholder 2">
            <a:extLst>
              <a:ext uri="{FF2B5EF4-FFF2-40B4-BE49-F238E27FC236}">
                <a16:creationId xmlns:a16="http://schemas.microsoft.com/office/drawing/2014/main" id="{72B4AC74-A9D7-45F7-4841-915715F578ED}"/>
              </a:ext>
            </a:extLst>
          </p:cNvPr>
          <p:cNvSpPr>
            <a:spLocks noGrp="1"/>
          </p:cNvSpPr>
          <p:nvPr>
            <p:ph idx="1"/>
          </p:nvPr>
        </p:nvSpPr>
        <p:spPr/>
        <p:txBody>
          <a:bodyPr>
            <a:normAutofit/>
          </a:bodyPr>
          <a:lstStyle/>
          <a:p>
            <a:r>
              <a:rPr lang="en-US" dirty="0"/>
              <a:t>Harmonic frequencies are relatively simple.</a:t>
            </a:r>
          </a:p>
        </p:txBody>
      </p:sp>
    </p:spTree>
    <p:extLst>
      <p:ext uri="{BB962C8B-B14F-4D97-AF65-F5344CB8AC3E}">
        <p14:creationId xmlns:p14="http://schemas.microsoft.com/office/powerpoint/2010/main" val="338767868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421061-F812-0A26-5C61-708FDB3E1D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02FC64-2413-A9FF-0C17-AA84438CBC8D}"/>
              </a:ext>
            </a:extLst>
          </p:cNvPr>
          <p:cNvSpPr>
            <a:spLocks noGrp="1"/>
          </p:cNvSpPr>
          <p:nvPr>
            <p:ph type="title"/>
          </p:nvPr>
        </p:nvSpPr>
        <p:spPr/>
        <p:txBody>
          <a:bodyPr/>
          <a:lstStyle/>
          <a:p>
            <a:r>
              <a:rPr lang="en-US" dirty="0"/>
              <a:t>How to compute harmonic and anharmonic frequencies</a:t>
            </a:r>
          </a:p>
        </p:txBody>
      </p:sp>
      <p:sp>
        <p:nvSpPr>
          <p:cNvPr id="3" name="Content Placeholder 2">
            <a:extLst>
              <a:ext uri="{FF2B5EF4-FFF2-40B4-BE49-F238E27FC236}">
                <a16:creationId xmlns:a16="http://schemas.microsoft.com/office/drawing/2014/main" id="{D94BFD6F-D3B5-B20E-9ACB-EEF3D42F99E8}"/>
              </a:ext>
            </a:extLst>
          </p:cNvPr>
          <p:cNvSpPr>
            <a:spLocks noGrp="1"/>
          </p:cNvSpPr>
          <p:nvPr>
            <p:ph idx="1"/>
          </p:nvPr>
        </p:nvSpPr>
        <p:spPr/>
        <p:txBody>
          <a:bodyPr>
            <a:normAutofit/>
          </a:bodyPr>
          <a:lstStyle/>
          <a:p>
            <a:r>
              <a:rPr lang="en-US" dirty="0"/>
              <a:t>Harmonic frequencies are relatively simple.</a:t>
            </a:r>
          </a:p>
          <a:p>
            <a:r>
              <a:rPr lang="en-US" dirty="0"/>
              <a:t>Any major quantum chemistry code will have a built-in function to calculate harmonic frequencies.</a:t>
            </a:r>
          </a:p>
          <a:p>
            <a:pPr lvl="1"/>
            <a:r>
              <a:rPr lang="en-US" dirty="0"/>
              <a:t>Don’t let this fool you though, there are some factors to consider.</a:t>
            </a:r>
          </a:p>
        </p:txBody>
      </p:sp>
    </p:spTree>
    <p:extLst>
      <p:ext uri="{BB962C8B-B14F-4D97-AF65-F5344CB8AC3E}">
        <p14:creationId xmlns:p14="http://schemas.microsoft.com/office/powerpoint/2010/main" val="255394607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A15562-D343-D425-FCCC-33D955819D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488DA3-8670-8E94-3BB1-2EDDD5CB3733}"/>
              </a:ext>
            </a:extLst>
          </p:cNvPr>
          <p:cNvSpPr>
            <a:spLocks noGrp="1"/>
          </p:cNvSpPr>
          <p:nvPr>
            <p:ph type="title"/>
          </p:nvPr>
        </p:nvSpPr>
        <p:spPr/>
        <p:txBody>
          <a:bodyPr/>
          <a:lstStyle/>
          <a:p>
            <a:r>
              <a:rPr lang="en-US" dirty="0"/>
              <a:t>How to compute harmonic and anharmonic frequencies</a:t>
            </a:r>
          </a:p>
        </p:txBody>
      </p:sp>
      <p:sp>
        <p:nvSpPr>
          <p:cNvPr id="3" name="Content Placeholder 2">
            <a:extLst>
              <a:ext uri="{FF2B5EF4-FFF2-40B4-BE49-F238E27FC236}">
                <a16:creationId xmlns:a16="http://schemas.microsoft.com/office/drawing/2014/main" id="{AC4BA0A1-281E-19D6-8E1D-F76F17AF82CB}"/>
              </a:ext>
            </a:extLst>
          </p:cNvPr>
          <p:cNvSpPr>
            <a:spLocks noGrp="1"/>
          </p:cNvSpPr>
          <p:nvPr>
            <p:ph idx="1"/>
          </p:nvPr>
        </p:nvSpPr>
        <p:spPr/>
        <p:txBody>
          <a:bodyPr>
            <a:normAutofit/>
          </a:bodyPr>
          <a:lstStyle/>
          <a:p>
            <a:r>
              <a:rPr lang="en-US" dirty="0"/>
              <a:t>Harmonic frequencies are relatively simple.</a:t>
            </a:r>
          </a:p>
          <a:p>
            <a:r>
              <a:rPr lang="en-US" dirty="0"/>
              <a:t>Any major quantum chemistry code will have a built-in function to calculate harmonic frequencies.</a:t>
            </a:r>
          </a:p>
          <a:p>
            <a:pPr lvl="1"/>
            <a:r>
              <a:rPr lang="en-US" dirty="0"/>
              <a:t>Don’t let this fool you though, there are some factors to consider.</a:t>
            </a:r>
          </a:p>
          <a:p>
            <a:r>
              <a:rPr lang="en-US" dirty="0"/>
              <a:t>In order to acquire the harmonic frequencies, you need to take the second-derivative of the potential energy surface.</a:t>
            </a:r>
          </a:p>
        </p:txBody>
      </p:sp>
    </p:spTree>
    <p:extLst>
      <p:ext uri="{BB962C8B-B14F-4D97-AF65-F5344CB8AC3E}">
        <p14:creationId xmlns:p14="http://schemas.microsoft.com/office/powerpoint/2010/main" val="91622283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786F17-5B96-53FA-8F2B-A427082609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5A224B-5FDB-ABA0-CA44-7407C1E12627}"/>
              </a:ext>
            </a:extLst>
          </p:cNvPr>
          <p:cNvSpPr>
            <a:spLocks noGrp="1"/>
          </p:cNvSpPr>
          <p:nvPr>
            <p:ph type="title"/>
          </p:nvPr>
        </p:nvSpPr>
        <p:spPr/>
        <p:txBody>
          <a:bodyPr/>
          <a:lstStyle/>
          <a:p>
            <a:r>
              <a:rPr lang="en-US" dirty="0"/>
              <a:t>How to compute harmonic and anharmonic frequencies</a:t>
            </a:r>
          </a:p>
        </p:txBody>
      </p:sp>
      <p:sp>
        <p:nvSpPr>
          <p:cNvPr id="3" name="Content Placeholder 2">
            <a:extLst>
              <a:ext uri="{FF2B5EF4-FFF2-40B4-BE49-F238E27FC236}">
                <a16:creationId xmlns:a16="http://schemas.microsoft.com/office/drawing/2014/main" id="{B90B2A72-E74A-0DB1-EC8D-BA21523992FA}"/>
              </a:ext>
            </a:extLst>
          </p:cNvPr>
          <p:cNvSpPr>
            <a:spLocks noGrp="1"/>
          </p:cNvSpPr>
          <p:nvPr>
            <p:ph idx="1"/>
          </p:nvPr>
        </p:nvSpPr>
        <p:spPr/>
        <p:txBody>
          <a:bodyPr>
            <a:normAutofit/>
          </a:bodyPr>
          <a:lstStyle/>
          <a:p>
            <a:r>
              <a:rPr lang="en-US" dirty="0"/>
              <a:t>Harmonic frequencies are relatively simple.</a:t>
            </a:r>
          </a:p>
          <a:p>
            <a:r>
              <a:rPr lang="en-US" dirty="0"/>
              <a:t>Any major quantum chemistry code will have a built-in function to calculate harmonic frequencies.</a:t>
            </a:r>
          </a:p>
          <a:p>
            <a:pPr lvl="1"/>
            <a:r>
              <a:rPr lang="en-US" dirty="0"/>
              <a:t>Don’t let this fool you though, there are some factors to consider.</a:t>
            </a:r>
          </a:p>
          <a:p>
            <a:r>
              <a:rPr lang="en-US" dirty="0"/>
              <a:t>In order to acquire the harmonic frequencies, you need to take the second-derivative of the potential energy surface.</a:t>
            </a:r>
          </a:p>
          <a:p>
            <a:r>
              <a:rPr lang="en-US" dirty="0"/>
              <a:t>There are some highly accurate approximations that allow you to compute harmonic frequencies at a linear scaling rather than quadratic, such as the Concordant Mode Approach (CMA), developed by yours truly.</a:t>
            </a:r>
          </a:p>
        </p:txBody>
      </p:sp>
    </p:spTree>
    <p:extLst>
      <p:ext uri="{BB962C8B-B14F-4D97-AF65-F5344CB8AC3E}">
        <p14:creationId xmlns:p14="http://schemas.microsoft.com/office/powerpoint/2010/main" val="151105375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A59D68-529A-5FCC-A35C-38AEE86F48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0D31EF-6F9E-3F00-C7AC-2B4A876A573B}"/>
              </a:ext>
            </a:extLst>
          </p:cNvPr>
          <p:cNvSpPr>
            <a:spLocks noGrp="1"/>
          </p:cNvSpPr>
          <p:nvPr>
            <p:ph type="title"/>
          </p:nvPr>
        </p:nvSpPr>
        <p:spPr/>
        <p:txBody>
          <a:bodyPr/>
          <a:lstStyle/>
          <a:p>
            <a:r>
              <a:rPr lang="en-US" dirty="0"/>
              <a:t>How to compute harmonic and anharmonic frequencies</a:t>
            </a:r>
          </a:p>
        </p:txBody>
      </p:sp>
      <p:sp>
        <p:nvSpPr>
          <p:cNvPr id="3" name="Content Placeholder 2">
            <a:extLst>
              <a:ext uri="{FF2B5EF4-FFF2-40B4-BE49-F238E27FC236}">
                <a16:creationId xmlns:a16="http://schemas.microsoft.com/office/drawing/2014/main" id="{D0251E2A-BF7E-0620-85A2-32735D2E9A3A}"/>
              </a:ext>
            </a:extLst>
          </p:cNvPr>
          <p:cNvSpPr>
            <a:spLocks noGrp="1"/>
          </p:cNvSpPr>
          <p:nvPr>
            <p:ph idx="1"/>
          </p:nvPr>
        </p:nvSpPr>
        <p:spPr>
          <a:xfrm>
            <a:off x="838200" y="1825625"/>
            <a:ext cx="10515600" cy="449741"/>
          </a:xfrm>
        </p:spPr>
        <p:txBody>
          <a:bodyPr>
            <a:normAutofit fontScale="92500" lnSpcReduction="10000"/>
          </a:bodyPr>
          <a:lstStyle/>
          <a:p>
            <a:r>
              <a:rPr lang="en-US" dirty="0"/>
              <a:t>Anharmonic computations are trickier.</a:t>
            </a:r>
          </a:p>
        </p:txBody>
      </p:sp>
    </p:spTree>
    <p:extLst>
      <p:ext uri="{BB962C8B-B14F-4D97-AF65-F5344CB8AC3E}">
        <p14:creationId xmlns:p14="http://schemas.microsoft.com/office/powerpoint/2010/main" val="146195488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4EE32D-D7CA-58FB-0F48-6D3B5DF8DC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2F9383-3CA8-FE05-14AB-351FD7701D66}"/>
              </a:ext>
            </a:extLst>
          </p:cNvPr>
          <p:cNvSpPr>
            <a:spLocks noGrp="1"/>
          </p:cNvSpPr>
          <p:nvPr>
            <p:ph type="title"/>
          </p:nvPr>
        </p:nvSpPr>
        <p:spPr/>
        <p:txBody>
          <a:bodyPr/>
          <a:lstStyle/>
          <a:p>
            <a:r>
              <a:rPr lang="en-US" dirty="0"/>
              <a:t>How to compute harmonic and anharmonic frequencies</a:t>
            </a:r>
          </a:p>
        </p:txBody>
      </p:sp>
      <p:sp>
        <p:nvSpPr>
          <p:cNvPr id="3" name="Content Placeholder 2">
            <a:extLst>
              <a:ext uri="{FF2B5EF4-FFF2-40B4-BE49-F238E27FC236}">
                <a16:creationId xmlns:a16="http://schemas.microsoft.com/office/drawing/2014/main" id="{9B03788A-DB8B-CB97-E0E5-569507F36A86}"/>
              </a:ext>
            </a:extLst>
          </p:cNvPr>
          <p:cNvSpPr>
            <a:spLocks noGrp="1"/>
          </p:cNvSpPr>
          <p:nvPr>
            <p:ph idx="1"/>
          </p:nvPr>
        </p:nvSpPr>
        <p:spPr>
          <a:xfrm>
            <a:off x="838200" y="1825626"/>
            <a:ext cx="10515600" cy="1603374"/>
          </a:xfrm>
        </p:spPr>
        <p:txBody>
          <a:bodyPr>
            <a:normAutofit fontScale="92500" lnSpcReduction="10000"/>
          </a:bodyPr>
          <a:lstStyle/>
          <a:p>
            <a:r>
              <a:rPr lang="en-US" dirty="0"/>
              <a:t>Anharmonic computations are trickier.</a:t>
            </a:r>
          </a:p>
          <a:p>
            <a:r>
              <a:rPr lang="en-US" dirty="0"/>
              <a:t>If you have a diatomic, you can simply compute the full PES and fit vibrational energy levels. Three or more atoms requires more advanced methods.</a:t>
            </a:r>
          </a:p>
        </p:txBody>
      </p:sp>
    </p:spTree>
    <p:extLst>
      <p:ext uri="{BB962C8B-B14F-4D97-AF65-F5344CB8AC3E}">
        <p14:creationId xmlns:p14="http://schemas.microsoft.com/office/powerpoint/2010/main" val="103698984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BA804D-188D-1B67-DCC7-10454CE8FD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8CEDFE-87B8-94D0-F2B8-97FD84C1A6C3}"/>
              </a:ext>
            </a:extLst>
          </p:cNvPr>
          <p:cNvSpPr>
            <a:spLocks noGrp="1"/>
          </p:cNvSpPr>
          <p:nvPr>
            <p:ph type="title"/>
          </p:nvPr>
        </p:nvSpPr>
        <p:spPr/>
        <p:txBody>
          <a:bodyPr/>
          <a:lstStyle/>
          <a:p>
            <a:r>
              <a:rPr lang="en-US" dirty="0"/>
              <a:t>How to compute harmonic and anharmonic frequencies</a:t>
            </a:r>
          </a:p>
        </p:txBody>
      </p:sp>
      <p:sp>
        <p:nvSpPr>
          <p:cNvPr id="3" name="Content Placeholder 2">
            <a:extLst>
              <a:ext uri="{FF2B5EF4-FFF2-40B4-BE49-F238E27FC236}">
                <a16:creationId xmlns:a16="http://schemas.microsoft.com/office/drawing/2014/main" id="{F9819FA2-1A3C-0BAD-A2E5-B2D946FA65EC}"/>
              </a:ext>
            </a:extLst>
          </p:cNvPr>
          <p:cNvSpPr>
            <a:spLocks noGrp="1"/>
          </p:cNvSpPr>
          <p:nvPr>
            <p:ph idx="1"/>
          </p:nvPr>
        </p:nvSpPr>
        <p:spPr>
          <a:xfrm>
            <a:off x="838200" y="1825625"/>
            <a:ext cx="10515600" cy="3511919"/>
          </a:xfrm>
        </p:spPr>
        <p:txBody>
          <a:bodyPr>
            <a:normAutofit fontScale="92500" lnSpcReduction="10000"/>
          </a:bodyPr>
          <a:lstStyle/>
          <a:p>
            <a:r>
              <a:rPr lang="en-US" dirty="0"/>
              <a:t>Anharmonic computations are trickier.</a:t>
            </a:r>
          </a:p>
          <a:p>
            <a:r>
              <a:rPr lang="en-US" dirty="0"/>
              <a:t>If you have a diatomic, you can simply compute the full PES and fit vibrational energy levels. Three or more atoms requires more advanced methods.</a:t>
            </a:r>
          </a:p>
          <a:p>
            <a:r>
              <a:rPr lang="en-US" dirty="0"/>
              <a:t>Most common method is second-order vibrational perturbation theory (VPT2).</a:t>
            </a:r>
          </a:p>
          <a:p>
            <a:pPr lvl="1"/>
            <a:r>
              <a:rPr lang="en-US" dirty="0"/>
              <a:t>This method uses the third- and fourth-order derivatives we saw in the Taylor Series expansion.</a:t>
            </a:r>
          </a:p>
          <a:p>
            <a:pPr lvl="1"/>
            <a:r>
              <a:rPr lang="en-US" dirty="0"/>
              <a:t>CFOUR is commonly used in this group, PYVPT2 is an option. I will let Connor fill in any programs that I’ve missed.</a:t>
            </a:r>
          </a:p>
        </p:txBody>
      </p:sp>
    </p:spTree>
    <p:extLst>
      <p:ext uri="{BB962C8B-B14F-4D97-AF65-F5344CB8AC3E}">
        <p14:creationId xmlns:p14="http://schemas.microsoft.com/office/powerpoint/2010/main" val="389309083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26F403-E804-B5A8-8016-B42E24BB33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19729A-C84A-9628-D034-34D325C355A7}"/>
              </a:ext>
            </a:extLst>
          </p:cNvPr>
          <p:cNvSpPr>
            <a:spLocks noGrp="1"/>
          </p:cNvSpPr>
          <p:nvPr>
            <p:ph type="title"/>
          </p:nvPr>
        </p:nvSpPr>
        <p:spPr/>
        <p:txBody>
          <a:bodyPr/>
          <a:lstStyle/>
          <a:p>
            <a:r>
              <a:rPr lang="en-US" dirty="0"/>
              <a:t>How to compute harmonic and anharmonic frequencies</a:t>
            </a:r>
          </a:p>
        </p:txBody>
      </p:sp>
      <p:sp>
        <p:nvSpPr>
          <p:cNvPr id="3" name="Content Placeholder 2">
            <a:extLst>
              <a:ext uri="{FF2B5EF4-FFF2-40B4-BE49-F238E27FC236}">
                <a16:creationId xmlns:a16="http://schemas.microsoft.com/office/drawing/2014/main" id="{5DE4DDA8-FDA3-0D60-26A3-10316827D7E7}"/>
              </a:ext>
            </a:extLst>
          </p:cNvPr>
          <p:cNvSpPr>
            <a:spLocks noGrp="1"/>
          </p:cNvSpPr>
          <p:nvPr>
            <p:ph idx="1"/>
          </p:nvPr>
        </p:nvSpPr>
        <p:spPr/>
        <p:txBody>
          <a:bodyPr>
            <a:normAutofit fontScale="92500" lnSpcReduction="10000"/>
          </a:bodyPr>
          <a:lstStyle/>
          <a:p>
            <a:r>
              <a:rPr lang="en-US" dirty="0"/>
              <a:t>Anharmonic computations are trickier.</a:t>
            </a:r>
          </a:p>
          <a:p>
            <a:r>
              <a:rPr lang="en-US" dirty="0"/>
              <a:t>If you have a diatomic, you can simply compute the full PES and fit vibrational energy levels. Three or more atoms requires more advanced methods.</a:t>
            </a:r>
          </a:p>
          <a:p>
            <a:r>
              <a:rPr lang="en-US" dirty="0"/>
              <a:t>Most common method is second-order vibrational perturbation theory (VPT2).</a:t>
            </a:r>
          </a:p>
          <a:p>
            <a:pPr lvl="1"/>
            <a:r>
              <a:rPr lang="en-US" dirty="0"/>
              <a:t>This method uses the third- and fourth-order derivatives we saw in the Taylor Series expansion.</a:t>
            </a:r>
          </a:p>
          <a:p>
            <a:pPr lvl="1"/>
            <a:r>
              <a:rPr lang="en-US" dirty="0"/>
              <a:t>CFOUR is commonly used in this group, PYVPT2 is an option. I will let Connor fill in any programs that I’ve missed.</a:t>
            </a:r>
          </a:p>
          <a:p>
            <a:r>
              <a:rPr lang="en-US" dirty="0"/>
              <a:t>Vibrational configuration interaction (VCI) can be used when extreme accuracy is required, though it is extremely expensive to use.</a:t>
            </a:r>
          </a:p>
        </p:txBody>
      </p:sp>
    </p:spTree>
    <p:extLst>
      <p:ext uri="{BB962C8B-B14F-4D97-AF65-F5344CB8AC3E}">
        <p14:creationId xmlns:p14="http://schemas.microsoft.com/office/powerpoint/2010/main" val="325422372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0B2694-8230-B5C1-7FF9-A40A07219270}"/>
              </a:ext>
            </a:extLst>
          </p:cNvPr>
          <p:cNvSpPr>
            <a:spLocks noGrp="1"/>
          </p:cNvSpPr>
          <p:nvPr>
            <p:ph type="title"/>
          </p:nvPr>
        </p:nvSpPr>
        <p:spPr/>
        <p:txBody>
          <a:bodyPr/>
          <a:lstStyle/>
          <a:p>
            <a:r>
              <a:rPr lang="en-US" dirty="0"/>
              <a:t>Bonus: How do we derive finite difference derivatives?</a:t>
            </a:r>
          </a:p>
        </p:txBody>
      </p:sp>
      <p:pic>
        <p:nvPicPr>
          <p:cNvPr id="4" name="Picture 3">
            <a:extLst>
              <a:ext uri="{FF2B5EF4-FFF2-40B4-BE49-F238E27FC236}">
                <a16:creationId xmlns:a16="http://schemas.microsoft.com/office/drawing/2014/main" id="{88C2E884-BDFA-3F43-3A5D-DB02CDD955AA}"/>
              </a:ext>
            </a:extLst>
          </p:cNvPr>
          <p:cNvPicPr>
            <a:picLocks noChangeAspect="1"/>
          </p:cNvPicPr>
          <p:nvPr/>
        </p:nvPicPr>
        <p:blipFill>
          <a:blip r:embed="rId2"/>
          <a:stretch>
            <a:fillRect/>
          </a:stretch>
        </p:blipFill>
        <p:spPr>
          <a:xfrm>
            <a:off x="3581400" y="1844675"/>
            <a:ext cx="5029200" cy="4648200"/>
          </a:xfrm>
          <a:prstGeom prst="rect">
            <a:avLst/>
          </a:prstGeom>
        </p:spPr>
      </p:pic>
    </p:spTree>
    <p:extLst>
      <p:ext uri="{BB962C8B-B14F-4D97-AF65-F5344CB8AC3E}">
        <p14:creationId xmlns:p14="http://schemas.microsoft.com/office/powerpoint/2010/main" val="168966580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93CF0-F153-8A6E-CB03-BF83FDB384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E68D17-F4D1-719E-B0C5-7107A7A815EA}"/>
              </a:ext>
            </a:extLst>
          </p:cNvPr>
          <p:cNvSpPr>
            <a:spLocks noGrp="1"/>
          </p:cNvSpPr>
          <p:nvPr>
            <p:ph type="title"/>
          </p:nvPr>
        </p:nvSpPr>
        <p:spPr/>
        <p:txBody>
          <a:bodyPr/>
          <a:lstStyle/>
          <a:p>
            <a:r>
              <a:rPr lang="en-US" dirty="0"/>
              <a:t>Bonus: How do we derive finite difference derivatives?</a:t>
            </a:r>
          </a:p>
        </p:txBody>
      </p:sp>
      <p:pic>
        <p:nvPicPr>
          <p:cNvPr id="3" name="Picture 2">
            <a:extLst>
              <a:ext uri="{FF2B5EF4-FFF2-40B4-BE49-F238E27FC236}">
                <a16:creationId xmlns:a16="http://schemas.microsoft.com/office/drawing/2014/main" id="{1F009542-F608-01BA-555B-7084407E173E}"/>
              </a:ext>
            </a:extLst>
          </p:cNvPr>
          <p:cNvPicPr>
            <a:picLocks noChangeAspect="1"/>
          </p:cNvPicPr>
          <p:nvPr/>
        </p:nvPicPr>
        <p:blipFill>
          <a:blip r:embed="rId3"/>
          <a:stretch>
            <a:fillRect/>
          </a:stretch>
        </p:blipFill>
        <p:spPr>
          <a:xfrm>
            <a:off x="2209800" y="1690688"/>
            <a:ext cx="7772400" cy="5069374"/>
          </a:xfrm>
          <a:prstGeom prst="rect">
            <a:avLst/>
          </a:prstGeom>
        </p:spPr>
      </p:pic>
    </p:spTree>
    <p:extLst>
      <p:ext uri="{BB962C8B-B14F-4D97-AF65-F5344CB8AC3E}">
        <p14:creationId xmlns:p14="http://schemas.microsoft.com/office/powerpoint/2010/main" val="59551456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A5B9AC-09CF-1C53-A00B-3C5A1373F7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358DC8-BE90-AF8F-5079-53CB3FEDFE39}"/>
              </a:ext>
            </a:extLst>
          </p:cNvPr>
          <p:cNvSpPr>
            <a:spLocks noGrp="1"/>
          </p:cNvSpPr>
          <p:nvPr>
            <p:ph type="title"/>
          </p:nvPr>
        </p:nvSpPr>
        <p:spPr>
          <a:xfrm>
            <a:off x="838200" y="365125"/>
            <a:ext cx="4999074" cy="1325563"/>
          </a:xfrm>
        </p:spPr>
        <p:txBody>
          <a:bodyPr>
            <a:normAutofit fontScale="90000"/>
          </a:bodyPr>
          <a:lstStyle/>
          <a:p>
            <a:r>
              <a:rPr lang="en-US" dirty="0"/>
              <a:t>Bonus: How do we derive finite difference derivatives?</a:t>
            </a:r>
          </a:p>
        </p:txBody>
      </p:sp>
      <p:pic>
        <p:nvPicPr>
          <p:cNvPr id="4" name="Picture 3">
            <a:extLst>
              <a:ext uri="{FF2B5EF4-FFF2-40B4-BE49-F238E27FC236}">
                <a16:creationId xmlns:a16="http://schemas.microsoft.com/office/drawing/2014/main" id="{663F021C-1D1E-B315-AD4D-E1DBA59D4D7A}"/>
              </a:ext>
            </a:extLst>
          </p:cNvPr>
          <p:cNvPicPr>
            <a:picLocks noChangeAspect="1"/>
          </p:cNvPicPr>
          <p:nvPr/>
        </p:nvPicPr>
        <p:blipFill>
          <a:blip r:embed="rId3"/>
          <a:stretch>
            <a:fillRect/>
          </a:stretch>
        </p:blipFill>
        <p:spPr>
          <a:xfrm>
            <a:off x="5656520" y="0"/>
            <a:ext cx="6638525" cy="6796049"/>
          </a:xfrm>
          <a:prstGeom prst="rect">
            <a:avLst/>
          </a:prstGeom>
        </p:spPr>
      </p:pic>
    </p:spTree>
    <p:extLst>
      <p:ext uri="{BB962C8B-B14F-4D97-AF65-F5344CB8AC3E}">
        <p14:creationId xmlns:p14="http://schemas.microsoft.com/office/powerpoint/2010/main" val="77873539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767907-0DB1-7FE1-7A9A-5112715192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A15CF8-974A-D533-21D6-EA7BF50EF7AA}"/>
              </a:ext>
            </a:extLst>
          </p:cNvPr>
          <p:cNvSpPr>
            <a:spLocks noGrp="1"/>
          </p:cNvSpPr>
          <p:nvPr>
            <p:ph type="title"/>
          </p:nvPr>
        </p:nvSpPr>
        <p:spPr/>
        <p:txBody>
          <a:bodyPr/>
          <a:lstStyle/>
          <a:p>
            <a:r>
              <a:rPr lang="en-US" dirty="0"/>
              <a:t>Bonus: How do we derive finite difference derivatives?</a:t>
            </a:r>
          </a:p>
        </p:txBody>
      </p:sp>
      <p:pic>
        <p:nvPicPr>
          <p:cNvPr id="4" name="Picture 3">
            <a:extLst>
              <a:ext uri="{FF2B5EF4-FFF2-40B4-BE49-F238E27FC236}">
                <a16:creationId xmlns:a16="http://schemas.microsoft.com/office/drawing/2014/main" id="{4F11D0A1-03F5-BAE4-D2B8-D1EB263DD97B}"/>
              </a:ext>
            </a:extLst>
          </p:cNvPr>
          <p:cNvPicPr>
            <a:picLocks noChangeAspect="1"/>
          </p:cNvPicPr>
          <p:nvPr/>
        </p:nvPicPr>
        <p:blipFill>
          <a:blip r:embed="rId3"/>
          <a:stretch>
            <a:fillRect/>
          </a:stretch>
        </p:blipFill>
        <p:spPr>
          <a:xfrm>
            <a:off x="2209800" y="1690688"/>
            <a:ext cx="7772400" cy="4022944"/>
          </a:xfrm>
          <a:prstGeom prst="rect">
            <a:avLst/>
          </a:prstGeom>
        </p:spPr>
      </p:pic>
    </p:spTree>
    <p:extLst>
      <p:ext uri="{BB962C8B-B14F-4D97-AF65-F5344CB8AC3E}">
        <p14:creationId xmlns:p14="http://schemas.microsoft.com/office/powerpoint/2010/main" val="27864751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305</TotalTime>
  <Words>2899</Words>
  <Application>Microsoft Macintosh PowerPoint</Application>
  <PresentationFormat>Widescreen</PresentationFormat>
  <Paragraphs>260</Paragraphs>
  <Slides>64</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64</vt:i4>
      </vt:variant>
    </vt:vector>
  </HeadingPairs>
  <TitlesOfParts>
    <vt:vector size="69" baseType="lpstr">
      <vt:lpstr>Aptos</vt:lpstr>
      <vt:lpstr>Aptos Display</vt:lpstr>
      <vt:lpstr>Arial</vt:lpstr>
      <vt:lpstr>Cambria Math</vt:lpstr>
      <vt:lpstr>Office Theme</vt:lpstr>
      <vt:lpstr>Harmonic and Anharmonic Frequencies</vt:lpstr>
      <vt:lpstr>Potential Energy Surfaces</vt:lpstr>
      <vt:lpstr>Potential Energy Surfaces</vt:lpstr>
      <vt:lpstr>Potential Energy Surfaces</vt:lpstr>
      <vt:lpstr>Potential Energy Surfaces</vt:lpstr>
      <vt:lpstr>Potential Energy Surfaces</vt:lpstr>
      <vt:lpstr>Potential Energy Surfaces</vt:lpstr>
      <vt:lpstr>Potential Energy Surfaces</vt:lpstr>
      <vt:lpstr>Potential Energy Surfaces</vt:lpstr>
      <vt:lpstr>We have optimized a geometry. Now what?</vt:lpstr>
      <vt:lpstr>We have optimized a geometry. Now what?</vt:lpstr>
      <vt:lpstr>We have optimized a geometry. Now what?</vt:lpstr>
      <vt:lpstr>Taylor Series expansion applied to a PES</vt:lpstr>
      <vt:lpstr>Taylor Series expansion applied to a PES</vt:lpstr>
      <vt:lpstr>Taylor Series expansion applied to a PES</vt:lpstr>
      <vt:lpstr>Taylor Series expansion applied to a PES</vt:lpstr>
      <vt:lpstr>Taylor Series on a Morse Oscillator</vt:lpstr>
      <vt:lpstr>Taylor Series on a Morse Oscillator</vt:lpstr>
      <vt:lpstr>Taylor Series on a Morse Oscillator</vt:lpstr>
      <vt:lpstr>Taylor Series on a Morse Oscillator</vt:lpstr>
      <vt:lpstr>Taylor Series on a Morse Oscillator</vt:lpstr>
      <vt:lpstr>Taylor Series on a Morse Oscillator</vt:lpstr>
      <vt:lpstr>Taylor Series on a Morse Oscillator</vt:lpstr>
      <vt:lpstr>Taylor Series on a Morse Oscillator</vt:lpstr>
      <vt:lpstr>Taylor Series on a Morse Oscillator</vt:lpstr>
      <vt:lpstr>Taylor Series on a Morse Oscillator</vt:lpstr>
      <vt:lpstr>Harmonic Oscillator</vt:lpstr>
      <vt:lpstr>Harmonic Oscillator</vt:lpstr>
      <vt:lpstr>Harmonic Oscillator</vt:lpstr>
      <vt:lpstr>Harmonic Oscillator</vt:lpstr>
      <vt:lpstr>Harmonic Oscillator</vt:lpstr>
      <vt:lpstr>Harmonic Oscillator</vt:lpstr>
      <vt:lpstr>Harmonic Oscillator</vt:lpstr>
      <vt:lpstr>Harmonic Oscillator</vt:lpstr>
      <vt:lpstr>Harmonic Oscillator</vt:lpstr>
      <vt:lpstr>Quantum Harmonic Oscillator</vt:lpstr>
      <vt:lpstr>Quantum Harmonic Oscillator</vt:lpstr>
      <vt:lpstr>Quantum Harmonic Oscillator</vt:lpstr>
      <vt:lpstr>Quantum Harmonic Oscillator</vt:lpstr>
      <vt:lpstr>Quantum Harmonic Oscillator</vt:lpstr>
      <vt:lpstr>Quantum Harmonic Oscillator</vt:lpstr>
      <vt:lpstr>Quantum Harmonic Oscillator</vt:lpstr>
      <vt:lpstr>Quantum Harmonic Oscillator</vt:lpstr>
      <vt:lpstr>Quantum Anharmonicity</vt:lpstr>
      <vt:lpstr>Quantum Anharmonicity</vt:lpstr>
      <vt:lpstr>Quantum Anharmonicity</vt:lpstr>
      <vt:lpstr>When do we need to worry about anharmonicity?</vt:lpstr>
      <vt:lpstr>When do we need to worry about anharmonicity?</vt:lpstr>
      <vt:lpstr>When do we need to worry about anharmonicity?</vt:lpstr>
      <vt:lpstr>When do we need to worry about anharmonicity?</vt:lpstr>
      <vt:lpstr>When do we need to worry about anharmonicity?</vt:lpstr>
      <vt:lpstr>When do we need to worry about anharmonicity?</vt:lpstr>
      <vt:lpstr>How to compute harmonic and anharmonic frequencies</vt:lpstr>
      <vt:lpstr>How to compute harmonic and anharmonic frequencies</vt:lpstr>
      <vt:lpstr>How to compute harmonic and anharmonic frequencies</vt:lpstr>
      <vt:lpstr>How to compute harmonic and anharmonic frequencies</vt:lpstr>
      <vt:lpstr>How to compute harmonic and anharmonic frequencies</vt:lpstr>
      <vt:lpstr>How to compute harmonic and anharmonic frequencies</vt:lpstr>
      <vt:lpstr>How to compute harmonic and anharmonic frequencies</vt:lpstr>
      <vt:lpstr>How to compute harmonic and anharmonic frequencies</vt:lpstr>
      <vt:lpstr>Bonus: How do we derive finite difference derivatives?</vt:lpstr>
      <vt:lpstr>Bonus: How do we derive finite difference derivatives?</vt:lpstr>
      <vt:lpstr>Bonus: How do we derive finite difference derivatives?</vt:lpstr>
      <vt:lpstr>Bonus: How do we derive finite difference derivatives?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Mitchell Evan Lahm</dc:creator>
  <cp:lastModifiedBy>Mitchell Evan Lahm</cp:lastModifiedBy>
  <cp:revision>18</cp:revision>
  <dcterms:created xsi:type="dcterms:W3CDTF">2026-07-23T12:31:35Z</dcterms:created>
  <dcterms:modified xsi:type="dcterms:W3CDTF">2026-07-23T17:36:54Z</dcterms:modified>
</cp:coreProperties>
</file>