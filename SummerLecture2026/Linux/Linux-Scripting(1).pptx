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1" r:id="rId7"/>
    <p:sldId id="292" r:id="rId8"/>
    <p:sldId id="262" r:id="rId9"/>
    <p:sldId id="293" r:id="rId10"/>
    <p:sldId id="261" r:id="rId11"/>
    <p:sldId id="295" r:id="rId12"/>
    <p:sldId id="267" r:id="rId13"/>
    <p:sldId id="268" r:id="rId14"/>
    <p:sldId id="269" r:id="rId15"/>
    <p:sldId id="270" r:id="rId16"/>
    <p:sldId id="271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263" r:id="rId26"/>
    <p:sldId id="265" r:id="rId27"/>
    <p:sldId id="294" r:id="rId28"/>
    <p:sldId id="266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0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36BED2-A6FC-ED22-CCDE-E1C28DA549E7}" v="2212" dt="2026-06-09T18:04:39.1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58"/>
    <p:restoredTop sz="96327"/>
  </p:normalViewPr>
  <p:slideViewPr>
    <p:cSldViewPr snapToGrid="0">
      <p:cViewPr>
        <p:scale>
          <a:sx n="118" d="100"/>
          <a:sy n="118" d="100"/>
        </p:scale>
        <p:origin x="121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nor Briggs" userId="S::cgb31826@uga.edu::7d44f136-22b9-4f2a-b974-4d7b80135702" providerId="AD" clId="Web-{7436BED2-A6FC-ED22-CCDE-E1C28DA549E7}"/>
    <pc:docChg chg="addSld modSld">
      <pc:chgData name="Connor Briggs" userId="S::cgb31826@uga.edu::7d44f136-22b9-4f2a-b974-4d7b80135702" providerId="AD" clId="Web-{7436BED2-A6FC-ED22-CCDE-E1C28DA549E7}" dt="2026-06-09T18:04:39.151" v="2211" actId="20577"/>
      <pc:docMkLst>
        <pc:docMk/>
      </pc:docMkLst>
      <pc:sldChg chg="modSp new">
        <pc:chgData name="Connor Briggs" userId="S::cgb31826@uga.edu::7d44f136-22b9-4f2a-b974-4d7b80135702" providerId="AD" clId="Web-{7436BED2-A6FC-ED22-CCDE-E1C28DA549E7}" dt="2026-06-08T18:24:26.560" v="261" actId="20577"/>
        <pc:sldMkLst>
          <pc:docMk/>
          <pc:sldMk cId="1512949317" sldId="296"/>
        </pc:sldMkLst>
        <pc:spChg chg="mod">
          <ac:chgData name="Connor Briggs" userId="S::cgb31826@uga.edu::7d44f136-22b9-4f2a-b974-4d7b80135702" providerId="AD" clId="Web-{7436BED2-A6FC-ED22-CCDE-E1C28DA549E7}" dt="2026-06-08T18:21:40.064" v="2" actId="20577"/>
          <ac:spMkLst>
            <pc:docMk/>
            <pc:sldMk cId="1512949317" sldId="296"/>
            <ac:spMk id="2" creationId="{28414405-5930-D0A1-20F4-91FABB013E31}"/>
          </ac:spMkLst>
        </pc:spChg>
        <pc:spChg chg="mod">
          <ac:chgData name="Connor Briggs" userId="S::cgb31826@uga.edu::7d44f136-22b9-4f2a-b974-4d7b80135702" providerId="AD" clId="Web-{7436BED2-A6FC-ED22-CCDE-E1C28DA549E7}" dt="2026-06-08T18:24:26.560" v="261" actId="20577"/>
          <ac:spMkLst>
            <pc:docMk/>
            <pc:sldMk cId="1512949317" sldId="296"/>
            <ac:spMk id="3" creationId="{EC7FA368-A7D0-B0D2-6377-86015459486A}"/>
          </ac:spMkLst>
        </pc:spChg>
      </pc:sldChg>
      <pc:sldChg chg="modSp new">
        <pc:chgData name="Connor Briggs" userId="S::cgb31826@uga.edu::7d44f136-22b9-4f2a-b974-4d7b80135702" providerId="AD" clId="Web-{7436BED2-A6FC-ED22-CCDE-E1C28DA549E7}" dt="2026-06-09T17:30:54.715" v="902" actId="20577"/>
        <pc:sldMkLst>
          <pc:docMk/>
          <pc:sldMk cId="1115802900" sldId="297"/>
        </pc:sldMkLst>
        <pc:spChg chg="mod">
          <ac:chgData name="Connor Briggs" userId="S::cgb31826@uga.edu::7d44f136-22b9-4f2a-b974-4d7b80135702" providerId="AD" clId="Web-{7436BED2-A6FC-ED22-CCDE-E1C28DA549E7}" dt="2026-06-08T18:24:39.093" v="268" actId="20577"/>
          <ac:spMkLst>
            <pc:docMk/>
            <pc:sldMk cId="1115802900" sldId="297"/>
            <ac:spMk id="2" creationId="{C1CD2D0D-C55D-9494-1807-2BDD8194047F}"/>
          </ac:spMkLst>
        </pc:spChg>
        <pc:spChg chg="mod">
          <ac:chgData name="Connor Briggs" userId="S::cgb31826@uga.edu::7d44f136-22b9-4f2a-b974-4d7b80135702" providerId="AD" clId="Web-{7436BED2-A6FC-ED22-CCDE-E1C28DA549E7}" dt="2026-06-09T17:30:54.715" v="902" actId="20577"/>
          <ac:spMkLst>
            <pc:docMk/>
            <pc:sldMk cId="1115802900" sldId="297"/>
            <ac:spMk id="3" creationId="{CD9A8A12-8001-CCAA-4167-B9B57EC98A84}"/>
          </ac:spMkLst>
        </pc:spChg>
      </pc:sldChg>
      <pc:sldChg chg="addSp modSp new">
        <pc:chgData name="Connor Briggs" userId="S::cgb31826@uga.edu::7d44f136-22b9-4f2a-b974-4d7b80135702" providerId="AD" clId="Web-{7436BED2-A6FC-ED22-CCDE-E1C28DA549E7}" dt="2026-06-08T18:30:05.272" v="679" actId="14100"/>
        <pc:sldMkLst>
          <pc:docMk/>
          <pc:sldMk cId="3141525729" sldId="298"/>
        </pc:sldMkLst>
        <pc:spChg chg="mod">
          <ac:chgData name="Connor Briggs" userId="S::cgb31826@uga.edu::7d44f136-22b9-4f2a-b974-4d7b80135702" providerId="AD" clId="Web-{7436BED2-A6FC-ED22-CCDE-E1C28DA549E7}" dt="2026-06-08T18:29:38.614" v="668" actId="20577"/>
          <ac:spMkLst>
            <pc:docMk/>
            <pc:sldMk cId="3141525729" sldId="298"/>
            <ac:spMk id="2" creationId="{3DB4D3F5-5C4B-D8B7-2BD3-505C287AC95D}"/>
          </ac:spMkLst>
        </pc:spChg>
        <pc:spChg chg="mod">
          <ac:chgData name="Connor Briggs" userId="S::cgb31826@uga.edu::7d44f136-22b9-4f2a-b974-4d7b80135702" providerId="AD" clId="Web-{7436BED2-A6FC-ED22-CCDE-E1C28DA549E7}" dt="2026-06-08T18:30:05.272" v="679" actId="14100"/>
          <ac:spMkLst>
            <pc:docMk/>
            <pc:sldMk cId="3141525729" sldId="298"/>
            <ac:spMk id="4" creationId="{633187C8-D4E4-002D-5613-772DDB7810D2}"/>
          </ac:spMkLst>
        </pc:spChg>
        <pc:picChg chg="add mod">
          <ac:chgData name="Connor Briggs" userId="S::cgb31826@uga.edu::7d44f136-22b9-4f2a-b974-4d7b80135702" providerId="AD" clId="Web-{7436BED2-A6FC-ED22-CCDE-E1C28DA549E7}" dt="2026-06-08T18:29:47.099" v="671" actId="1076"/>
          <ac:picMkLst>
            <pc:docMk/>
            <pc:sldMk cId="3141525729" sldId="298"/>
            <ac:picMk id="5" creationId="{F1414F1A-2E6E-83C7-9C57-623495803217}"/>
          </ac:picMkLst>
        </pc:picChg>
      </pc:sldChg>
      <pc:sldChg chg="modSp new">
        <pc:chgData name="Connor Briggs" userId="S::cgb31826@uga.edu::7d44f136-22b9-4f2a-b974-4d7b80135702" providerId="AD" clId="Web-{7436BED2-A6FC-ED22-CCDE-E1C28DA549E7}" dt="2026-06-09T17:31:52.233" v="954" actId="20577"/>
        <pc:sldMkLst>
          <pc:docMk/>
          <pc:sldMk cId="347203503" sldId="299"/>
        </pc:sldMkLst>
        <pc:spChg chg="mod">
          <ac:chgData name="Connor Briggs" userId="S::cgb31826@uga.edu::7d44f136-22b9-4f2a-b974-4d7b80135702" providerId="AD" clId="Web-{7436BED2-A6FC-ED22-CCDE-E1C28DA549E7}" dt="2026-06-08T18:30:42.712" v="684" actId="20577"/>
          <ac:spMkLst>
            <pc:docMk/>
            <pc:sldMk cId="347203503" sldId="299"/>
            <ac:spMk id="2" creationId="{A47FA586-6251-01AF-966A-E7EF5D562AB2}"/>
          </ac:spMkLst>
        </pc:spChg>
        <pc:spChg chg="mod">
          <ac:chgData name="Connor Briggs" userId="S::cgb31826@uga.edu::7d44f136-22b9-4f2a-b974-4d7b80135702" providerId="AD" clId="Web-{7436BED2-A6FC-ED22-CCDE-E1C28DA549E7}" dt="2026-06-09T17:31:52.233" v="954" actId="20577"/>
          <ac:spMkLst>
            <pc:docMk/>
            <pc:sldMk cId="347203503" sldId="299"/>
            <ac:spMk id="3" creationId="{193AC253-6D5D-1737-5055-18EE0A07E887}"/>
          </ac:spMkLst>
        </pc:spChg>
      </pc:sldChg>
      <pc:sldChg chg="modSp new">
        <pc:chgData name="Connor Briggs" userId="S::cgb31826@uga.edu::7d44f136-22b9-4f2a-b974-4d7b80135702" providerId="AD" clId="Web-{7436BED2-A6FC-ED22-CCDE-E1C28DA549E7}" dt="2026-06-09T17:35:58.602" v="1227" actId="20577"/>
        <pc:sldMkLst>
          <pc:docMk/>
          <pc:sldMk cId="1816296109" sldId="300"/>
        </pc:sldMkLst>
        <pc:spChg chg="mod">
          <ac:chgData name="Connor Briggs" userId="S::cgb31826@uga.edu::7d44f136-22b9-4f2a-b974-4d7b80135702" providerId="AD" clId="Web-{7436BED2-A6FC-ED22-CCDE-E1C28DA549E7}" dt="2026-06-09T17:32:21.562" v="958" actId="20577"/>
          <ac:spMkLst>
            <pc:docMk/>
            <pc:sldMk cId="1816296109" sldId="300"/>
            <ac:spMk id="2" creationId="{F5F77A33-A75B-3B91-3E94-8ABB7BE53F4F}"/>
          </ac:spMkLst>
        </pc:spChg>
        <pc:spChg chg="mod">
          <ac:chgData name="Connor Briggs" userId="S::cgb31826@uga.edu::7d44f136-22b9-4f2a-b974-4d7b80135702" providerId="AD" clId="Web-{7436BED2-A6FC-ED22-CCDE-E1C28DA549E7}" dt="2026-06-09T17:35:58.602" v="1227" actId="20577"/>
          <ac:spMkLst>
            <pc:docMk/>
            <pc:sldMk cId="1816296109" sldId="300"/>
            <ac:spMk id="3" creationId="{1579FF32-4844-8D5F-B643-18626BC33DA0}"/>
          </ac:spMkLst>
        </pc:spChg>
      </pc:sldChg>
      <pc:sldChg chg="modSp new">
        <pc:chgData name="Connor Briggs" userId="S::cgb31826@uga.edu::7d44f136-22b9-4f2a-b974-4d7b80135702" providerId="AD" clId="Web-{7436BED2-A6FC-ED22-CCDE-E1C28DA549E7}" dt="2026-06-09T18:04:39.151" v="2211" actId="20577"/>
        <pc:sldMkLst>
          <pc:docMk/>
          <pc:sldMk cId="1675094522" sldId="301"/>
        </pc:sldMkLst>
        <pc:spChg chg="mod">
          <ac:chgData name="Connor Briggs" userId="S::cgb31826@uga.edu::7d44f136-22b9-4f2a-b974-4d7b80135702" providerId="AD" clId="Web-{7436BED2-A6FC-ED22-CCDE-E1C28DA549E7}" dt="2026-06-09T17:36:02.274" v="1232" actId="20577"/>
          <ac:spMkLst>
            <pc:docMk/>
            <pc:sldMk cId="1675094522" sldId="301"/>
            <ac:spMk id="2" creationId="{30538473-53BE-D494-3A04-5FD8D0E06499}"/>
          </ac:spMkLst>
        </pc:spChg>
        <pc:spChg chg="mod">
          <ac:chgData name="Connor Briggs" userId="S::cgb31826@uga.edu::7d44f136-22b9-4f2a-b974-4d7b80135702" providerId="AD" clId="Web-{7436BED2-A6FC-ED22-CCDE-E1C28DA549E7}" dt="2026-06-09T18:04:39.151" v="2211" actId="20577"/>
          <ac:spMkLst>
            <pc:docMk/>
            <pc:sldMk cId="1675094522" sldId="301"/>
            <ac:spMk id="3" creationId="{AB0BC8B4-25C4-D6FE-77B7-2E9E287A10B4}"/>
          </ac:spMkLst>
        </pc:spChg>
      </pc:sldChg>
      <pc:sldChg chg="modSp new">
        <pc:chgData name="Connor Briggs" userId="S::cgb31826@uga.edu::7d44f136-22b9-4f2a-b974-4d7b80135702" providerId="AD" clId="Web-{7436BED2-A6FC-ED22-CCDE-E1C28DA549E7}" dt="2026-06-09T17:43:21.321" v="1951" actId="20577"/>
        <pc:sldMkLst>
          <pc:docMk/>
          <pc:sldMk cId="3802407567" sldId="302"/>
        </pc:sldMkLst>
        <pc:spChg chg="mod">
          <ac:chgData name="Connor Briggs" userId="S::cgb31826@uga.edu::7d44f136-22b9-4f2a-b974-4d7b80135702" providerId="AD" clId="Web-{7436BED2-A6FC-ED22-CCDE-E1C28DA549E7}" dt="2026-06-09T17:41:30.739" v="1657" actId="20577"/>
          <ac:spMkLst>
            <pc:docMk/>
            <pc:sldMk cId="3802407567" sldId="302"/>
            <ac:spMk id="2" creationId="{18A7E029-1FDD-22F3-00AE-DD4FCB1F365C}"/>
          </ac:spMkLst>
        </pc:spChg>
        <pc:spChg chg="mod">
          <ac:chgData name="Connor Briggs" userId="S::cgb31826@uga.edu::7d44f136-22b9-4f2a-b974-4d7b80135702" providerId="AD" clId="Web-{7436BED2-A6FC-ED22-CCDE-E1C28DA549E7}" dt="2026-06-09T17:43:21.321" v="1951" actId="20577"/>
          <ac:spMkLst>
            <pc:docMk/>
            <pc:sldMk cId="3802407567" sldId="302"/>
            <ac:spMk id="3" creationId="{D1FAF59F-57B6-C86F-160A-A3AE893A3575}"/>
          </ac:spMkLst>
        </pc:spChg>
      </pc:sldChg>
      <pc:sldChg chg="addSp delSp modSp new">
        <pc:chgData name="Connor Briggs" userId="S::cgb31826@uga.edu::7d44f136-22b9-4f2a-b974-4d7b80135702" providerId="AD" clId="Web-{7436BED2-A6FC-ED22-CCDE-E1C28DA549E7}" dt="2026-06-09T18:01:09.190" v="2059" actId="1076"/>
        <pc:sldMkLst>
          <pc:docMk/>
          <pc:sldMk cId="3520112797" sldId="303"/>
        </pc:sldMkLst>
        <pc:spChg chg="mod">
          <ac:chgData name="Connor Briggs" userId="S::cgb31826@uga.edu::7d44f136-22b9-4f2a-b974-4d7b80135702" providerId="AD" clId="Web-{7436BED2-A6FC-ED22-CCDE-E1C28DA549E7}" dt="2026-06-09T17:43:27.665" v="1957" actId="20577"/>
          <ac:spMkLst>
            <pc:docMk/>
            <pc:sldMk cId="3520112797" sldId="303"/>
            <ac:spMk id="2" creationId="{E46CA3D5-1722-9EE1-84CA-4FE8E94C37C4}"/>
          </ac:spMkLst>
        </pc:spChg>
        <pc:spChg chg="mod">
          <ac:chgData name="Connor Briggs" userId="S::cgb31826@uga.edu::7d44f136-22b9-4f2a-b974-4d7b80135702" providerId="AD" clId="Web-{7436BED2-A6FC-ED22-CCDE-E1C28DA549E7}" dt="2026-06-09T17:43:30.837" v="1958" actId="20577"/>
          <ac:spMkLst>
            <pc:docMk/>
            <pc:sldMk cId="3520112797" sldId="303"/>
            <ac:spMk id="3" creationId="{7354097C-DD61-6BB9-4F9E-653A50DA5508}"/>
          </ac:spMkLst>
        </pc:spChg>
        <pc:graphicFrameChg chg="add del mod modGraphic">
          <ac:chgData name="Connor Briggs" userId="S::cgb31826@uga.edu::7d44f136-22b9-4f2a-b974-4d7b80135702" providerId="AD" clId="Web-{7436BED2-A6FC-ED22-CCDE-E1C28DA549E7}" dt="2026-06-09T18:00:44.877" v="2054"/>
          <ac:graphicFrameMkLst>
            <pc:docMk/>
            <pc:sldMk cId="3520112797" sldId="303"/>
            <ac:graphicFrameMk id="6" creationId="{115554ED-BB18-FFAE-8684-6B39D95B5421}"/>
          </ac:graphicFrameMkLst>
        </pc:graphicFrameChg>
        <pc:picChg chg="add del mod">
          <ac:chgData name="Connor Briggs" userId="S::cgb31826@uga.edu::7d44f136-22b9-4f2a-b974-4d7b80135702" providerId="AD" clId="Web-{7436BED2-A6FC-ED22-CCDE-E1C28DA549E7}" dt="2026-06-09T17:51:08.261" v="2051"/>
          <ac:picMkLst>
            <pc:docMk/>
            <pc:sldMk cId="3520112797" sldId="303"/>
            <ac:picMk id="7" creationId="{826442B6-3169-A6B1-28F7-0C5AE54DEAF2}"/>
          </ac:picMkLst>
        </pc:picChg>
        <pc:picChg chg="add del mod">
          <ac:chgData name="Connor Briggs" userId="S::cgb31826@uga.edu::7d44f136-22b9-4f2a-b974-4d7b80135702" providerId="AD" clId="Web-{7436BED2-A6FC-ED22-CCDE-E1C28DA549E7}" dt="2026-06-09T17:51:36.887" v="2053"/>
          <ac:picMkLst>
            <pc:docMk/>
            <pc:sldMk cId="3520112797" sldId="303"/>
            <ac:picMk id="8" creationId="{6D8B851A-87BE-25FB-D074-FF996A01A28A}"/>
          </ac:picMkLst>
        </pc:picChg>
        <pc:picChg chg="add mod">
          <ac:chgData name="Connor Briggs" userId="S::cgb31826@uga.edu::7d44f136-22b9-4f2a-b974-4d7b80135702" providerId="AD" clId="Web-{7436BED2-A6FC-ED22-CCDE-E1C28DA549E7}" dt="2026-06-09T18:01:09.190" v="2059" actId="1076"/>
          <ac:picMkLst>
            <pc:docMk/>
            <pc:sldMk cId="3520112797" sldId="303"/>
            <ac:picMk id="9" creationId="{E9B78966-8480-A3FB-2FC0-2313D3A71826}"/>
          </ac:picMkLst>
        </pc:picChg>
        <pc:cxnChg chg="add del">
          <ac:chgData name="Connor Briggs" userId="S::cgb31826@uga.edu::7d44f136-22b9-4f2a-b974-4d7b80135702" providerId="AD" clId="Web-{7436BED2-A6FC-ED22-CCDE-E1C28DA549E7}" dt="2026-06-09T17:44:15.027" v="1960"/>
          <ac:cxnSpMkLst>
            <pc:docMk/>
            <pc:sldMk cId="3520112797" sldId="303"/>
            <ac:cxnSpMk id="5" creationId="{1F633DDF-FDD1-C066-A03E-E468C92999C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/ 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35B5B-B781-CCF2-A909-732D49BE8F2E}"/>
              </a:ext>
            </a:extLst>
          </p:cNvPr>
          <p:cNvCxnSpPr/>
          <p:nvPr userDrawn="1"/>
        </p:nvCxnSpPr>
        <p:spPr>
          <a:xfrm>
            <a:off x="4552122" y="0"/>
            <a:ext cx="0" cy="685800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761AAFDA-D68B-BD89-A71B-16D8BDF1C4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46518" y="212863"/>
            <a:ext cx="211207" cy="306848"/>
          </a:xfrm>
          <a:prstGeom prst="rect">
            <a:avLst/>
          </a:prstGeom>
        </p:spPr>
      </p:pic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66B1218-F31A-BE9B-2C2F-632EEF116A6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30763" y="0"/>
            <a:ext cx="7361237" cy="6858000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image. Use the CROP tool under the PICTURE FORMAT tab to adjust.</a:t>
            </a:r>
          </a:p>
          <a:p>
            <a:endParaRPr lang="en-US" dirty="0"/>
          </a:p>
        </p:txBody>
      </p:sp>
      <p:pic>
        <p:nvPicPr>
          <p:cNvPr id="37" name="Picture 36" descr="A red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2C777AD1-65AD-58F4-02A4-1243D16FEC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8478" y="6013174"/>
            <a:ext cx="2047461" cy="669634"/>
          </a:xfrm>
          <a:prstGeom prst="rect">
            <a:avLst/>
          </a:prstGeom>
        </p:spPr>
      </p:pic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77CA490C-A94A-CC53-CE25-7B6E243C29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113" y="985838"/>
            <a:ext cx="3697287" cy="2665412"/>
          </a:xfrm>
        </p:spPr>
        <p:txBody>
          <a:bodyPr anchor="b">
            <a:normAutofit/>
          </a:bodyPr>
          <a:lstStyle>
            <a:lvl1pPr marL="0" indent="0" algn="r">
              <a:buNone/>
              <a:defRPr sz="44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AC6B1095-54A8-4217-A340-E30684240D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113" y="3851275"/>
            <a:ext cx="3697287" cy="18288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or Speaker</a:t>
            </a:r>
          </a:p>
        </p:txBody>
      </p:sp>
    </p:spTree>
    <p:extLst>
      <p:ext uri="{BB962C8B-B14F-4D97-AF65-F5344CB8AC3E}">
        <p14:creationId xmlns:p14="http://schemas.microsoft.com/office/powerpoint/2010/main" val="2340952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/ 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5974CDD7-90A6-7A33-82D0-DEFE52A003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67108" y="5773806"/>
            <a:ext cx="2047461" cy="66963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132F40-C1CF-F179-DB5C-3C51B19750B0}"/>
              </a:ext>
            </a:extLst>
          </p:cNvPr>
          <p:cNvCxnSpPr>
            <a:cxnSpLocks/>
          </p:cNvCxnSpPr>
          <p:nvPr userDrawn="1"/>
        </p:nvCxnSpPr>
        <p:spPr>
          <a:xfrm>
            <a:off x="0" y="5275375"/>
            <a:ext cx="12221817" cy="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DA45E031-22F6-77D7-36F9-44F700A760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90396" y="5145397"/>
            <a:ext cx="211207" cy="306848"/>
          </a:xfrm>
          <a:prstGeom prst="rect">
            <a:avLst/>
          </a:prstGeom>
        </p:spPr>
      </p:pic>
      <p:sp>
        <p:nvSpPr>
          <p:cNvPr id="13" name="Picture Placeholder 25">
            <a:extLst>
              <a:ext uri="{FF2B5EF4-FFF2-40B4-BE49-F238E27FC236}">
                <a16:creationId xmlns:a16="http://schemas.microsoft.com/office/drawing/2014/main" id="{1800A8DA-E0A7-B0E6-F7F8-C49924DCA24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" y="0"/>
            <a:ext cx="12192000" cy="5025509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image. Use the CROP tool under the PICTURE FORMAT tab to adjust.</a:t>
            </a:r>
          </a:p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E37783A-1E27-1F71-E0F7-4F36D6AD81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238" y="5408613"/>
            <a:ext cx="8675687" cy="801687"/>
          </a:xfrm>
        </p:spPr>
        <p:txBody>
          <a:bodyPr anchor="b">
            <a:normAutofit/>
          </a:bodyPr>
          <a:lstStyle>
            <a:lvl1pPr marL="0" indent="0">
              <a:buNone/>
              <a:defRPr sz="44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C1575F6-F9D8-C1C1-C25A-8A4CBF0514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0350" y="6197600"/>
            <a:ext cx="8664575" cy="581025"/>
          </a:xfrm>
        </p:spPr>
        <p:txBody>
          <a:bodyPr>
            <a:normAutofit/>
          </a:bodyPr>
          <a:lstStyle>
            <a:lvl1pPr marL="0" indent="0">
              <a:buNone/>
              <a:defRPr sz="24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or Speaker</a:t>
            </a:r>
          </a:p>
        </p:txBody>
      </p:sp>
    </p:spTree>
    <p:extLst>
      <p:ext uri="{BB962C8B-B14F-4D97-AF65-F5344CB8AC3E}">
        <p14:creationId xmlns:p14="http://schemas.microsoft.com/office/powerpoint/2010/main" val="1181228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9CAF84-433F-4651-A99A-9E9DBDBEF275}"/>
              </a:ext>
            </a:extLst>
          </p:cNvPr>
          <p:cNvCxnSpPr/>
          <p:nvPr userDrawn="1"/>
        </p:nvCxnSpPr>
        <p:spPr>
          <a:xfrm>
            <a:off x="7030533" y="0"/>
            <a:ext cx="0" cy="685800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FF405170-359A-252C-B187-2EF40CC409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24929" y="212863"/>
            <a:ext cx="211207" cy="30684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DC0B80A-3693-54E9-B0C0-4B7DEEE8C96B}"/>
              </a:ext>
            </a:extLst>
          </p:cNvPr>
          <p:cNvSpPr/>
          <p:nvPr userDrawn="1"/>
        </p:nvSpPr>
        <p:spPr>
          <a:xfrm>
            <a:off x="7305261" y="0"/>
            <a:ext cx="4886739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5B12DC-3EDE-C5DB-0249-F143ED15B9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</a:blip>
          <a:srcRect l="59895"/>
          <a:stretch/>
        </p:blipFill>
        <p:spPr>
          <a:xfrm>
            <a:off x="7305261" y="-37789"/>
            <a:ext cx="4916556" cy="6895789"/>
          </a:xfrm>
          <a:prstGeom prst="rect">
            <a:avLst/>
          </a:prstGeom>
        </p:spPr>
      </p:pic>
      <p:pic>
        <p:nvPicPr>
          <p:cNvPr id="13" name="Picture 12" descr="A red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36A9FBC7-A0CB-8678-F56C-3CB63A4014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48478" y="6013174"/>
            <a:ext cx="2047461" cy="66963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33771DD-72A1-98DD-2326-86BF23AD4D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6938" y="1246188"/>
            <a:ext cx="5913437" cy="2058987"/>
          </a:xfrm>
        </p:spPr>
        <p:txBody>
          <a:bodyPr anchor="b">
            <a:normAutofit/>
          </a:bodyPr>
          <a:lstStyle>
            <a:lvl1pPr marL="0" indent="0" algn="r">
              <a:buNone/>
              <a:defRPr sz="44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352FE27-680D-2FC2-AA27-8640FEE28F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938" y="3508375"/>
            <a:ext cx="5913437" cy="1655763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or Speaker</a:t>
            </a:r>
          </a:p>
        </p:txBody>
      </p:sp>
    </p:spTree>
    <p:extLst>
      <p:ext uri="{BB962C8B-B14F-4D97-AF65-F5344CB8AC3E}">
        <p14:creationId xmlns:p14="http://schemas.microsoft.com/office/powerpoint/2010/main" val="3350651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FDE4C4-60AB-BEBC-8071-D00C37005BAA}"/>
              </a:ext>
            </a:extLst>
          </p:cNvPr>
          <p:cNvCxnSpPr>
            <a:cxnSpLocks/>
          </p:cNvCxnSpPr>
          <p:nvPr userDrawn="1"/>
        </p:nvCxnSpPr>
        <p:spPr>
          <a:xfrm>
            <a:off x="0" y="4407873"/>
            <a:ext cx="12221817" cy="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FE88B008-9826-7DB9-35E6-39F9B0B419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0396" y="4277895"/>
            <a:ext cx="211207" cy="30684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0B68C84-A31D-9B14-73E7-7BBED102A02B}"/>
              </a:ext>
            </a:extLst>
          </p:cNvPr>
          <p:cNvSpPr/>
          <p:nvPr userDrawn="1"/>
        </p:nvSpPr>
        <p:spPr>
          <a:xfrm>
            <a:off x="1" y="4667828"/>
            <a:ext cx="12192000" cy="2190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46D512-8B9C-F32F-A79A-05F2506BA8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</a:blip>
          <a:srcRect l="-459" t="68239" r="-1"/>
          <a:stretch/>
        </p:blipFill>
        <p:spPr>
          <a:xfrm>
            <a:off x="-93785" y="4667830"/>
            <a:ext cx="12315602" cy="2190170"/>
          </a:xfrm>
          <a:prstGeom prst="rect">
            <a:avLst/>
          </a:prstGeom>
        </p:spPr>
      </p:pic>
      <p:pic>
        <p:nvPicPr>
          <p:cNvPr id="14" name="Picture 13" descr="A red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73256FAC-375C-EBA2-E173-54B50922B6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1892" y="224379"/>
            <a:ext cx="2047461" cy="669634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E86C11-78EE-E61F-9FDA-7872ED4C2F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1588" y="1128713"/>
            <a:ext cx="9648825" cy="1655762"/>
          </a:xfrm>
        </p:spPr>
        <p:txBody>
          <a:bodyPr anchor="b">
            <a:normAutofit/>
          </a:bodyPr>
          <a:lstStyle>
            <a:lvl1pPr marL="0" indent="0" algn="ctr">
              <a:buNone/>
              <a:defRPr sz="44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90363A4-61A0-B836-36A3-DA5FFEEE23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1588" y="2944813"/>
            <a:ext cx="9648825" cy="484187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or Speaker</a:t>
            </a:r>
          </a:p>
        </p:txBody>
      </p:sp>
    </p:spTree>
    <p:extLst>
      <p:ext uri="{BB962C8B-B14F-4D97-AF65-F5344CB8AC3E}">
        <p14:creationId xmlns:p14="http://schemas.microsoft.com/office/powerpoint/2010/main" val="428437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EFEB56-61CB-309C-CDD4-A300591A11EE}"/>
              </a:ext>
            </a:extLst>
          </p:cNvPr>
          <p:cNvCxnSpPr/>
          <p:nvPr userDrawn="1"/>
        </p:nvCxnSpPr>
        <p:spPr>
          <a:xfrm>
            <a:off x="2775056" y="0"/>
            <a:ext cx="0" cy="685800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1183106C-8CAA-C31A-215F-D58352566B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9452" y="212863"/>
            <a:ext cx="211207" cy="30684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1DC3FDE-FF90-1DA4-2BEB-EF9A46467B2B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FFDE92E-2382-A8F0-2D59-A938C594C0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C31E653-BDE2-8749-1A61-F4D8D4B657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1513" y="1165225"/>
            <a:ext cx="6929437" cy="2058988"/>
          </a:xfrm>
        </p:spPr>
        <p:txBody>
          <a:bodyPr anchor="b">
            <a:normAutofit/>
          </a:bodyPr>
          <a:lstStyle>
            <a:lvl1pPr marL="0" indent="0">
              <a:buNone/>
              <a:defRPr sz="44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2DFEB59-234D-A6F5-9C02-108C43663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04689" y="3266422"/>
            <a:ext cx="6929437" cy="1655942"/>
          </a:xfrm>
        </p:spPr>
        <p:txBody>
          <a:bodyPr>
            <a:normAutofit/>
          </a:bodyPr>
          <a:lstStyle>
            <a:lvl1pPr marL="0" indent="0">
              <a:buNone/>
              <a:defRPr sz="24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365D073-5097-A3E0-04B6-3BC7DFD2C587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1BD5B44A-645B-007D-AE64-55DB38B3FE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footer</a:t>
            </a:r>
          </a:p>
        </p:txBody>
      </p:sp>
    </p:spTree>
    <p:extLst>
      <p:ext uri="{BB962C8B-B14F-4D97-AF65-F5344CB8AC3E}">
        <p14:creationId xmlns:p14="http://schemas.microsoft.com/office/powerpoint/2010/main" val="151055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16EF6F-6DB8-1623-0941-872F00B6BE3E}"/>
              </a:ext>
            </a:extLst>
          </p:cNvPr>
          <p:cNvCxnSpPr>
            <a:cxnSpLocks/>
          </p:cNvCxnSpPr>
          <p:nvPr userDrawn="1"/>
        </p:nvCxnSpPr>
        <p:spPr>
          <a:xfrm>
            <a:off x="0" y="4108260"/>
            <a:ext cx="12221817" cy="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E464EFB9-9B9B-A7B4-628B-01FBA5B961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2981" y="3978282"/>
            <a:ext cx="211207" cy="3068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F852C9-1961-50B4-0A56-7AE0ACC162BB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E84129-27E7-BE22-DCE2-F00E613B7B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BBD3B3-F761-0DD7-9620-324E7CC9BC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1819192"/>
            <a:ext cx="8458200" cy="2228630"/>
          </a:xfrm>
        </p:spPr>
        <p:txBody>
          <a:bodyPr anchor="b">
            <a:normAutofit/>
          </a:bodyPr>
          <a:lstStyle>
            <a:lvl1pPr marL="0" indent="0">
              <a:buNone/>
              <a:defRPr sz="44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5E996FE-58B8-32DA-71DC-0771EA2C10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1874" y="4303713"/>
            <a:ext cx="8458201" cy="874678"/>
          </a:xfrm>
        </p:spPr>
        <p:txBody>
          <a:bodyPr>
            <a:normAutofit/>
          </a:bodyPr>
          <a:lstStyle>
            <a:lvl1pPr marL="0" indent="0">
              <a:buNone/>
              <a:defRPr sz="24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68E4146-6E5E-3F79-9FA6-356324333119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17" name="Text Placeholder 27">
            <a:extLst>
              <a:ext uri="{FF2B5EF4-FFF2-40B4-BE49-F238E27FC236}">
                <a16:creationId xmlns:a16="http://schemas.microsoft.com/office/drawing/2014/main" id="{7C67C65A-E75C-E730-9438-3E7FD16061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footer</a:t>
            </a:r>
          </a:p>
        </p:txBody>
      </p:sp>
    </p:spTree>
    <p:extLst>
      <p:ext uri="{BB962C8B-B14F-4D97-AF65-F5344CB8AC3E}">
        <p14:creationId xmlns:p14="http://schemas.microsoft.com/office/powerpoint/2010/main" val="1448438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7F5FE8-EEC7-67B2-23CA-6317A09EC1C3}"/>
              </a:ext>
            </a:extLst>
          </p:cNvPr>
          <p:cNvCxnSpPr/>
          <p:nvPr userDrawn="1"/>
        </p:nvCxnSpPr>
        <p:spPr>
          <a:xfrm>
            <a:off x="457200" y="0"/>
            <a:ext cx="0" cy="685800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67EBD65F-7A79-9652-F7C1-6641D58BB6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1596" y="212863"/>
            <a:ext cx="211207" cy="3068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4590B2B-7207-6B40-ABBA-4951494CE346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0CC98B-0236-D532-64F0-10F93006B7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7F54ED46-1EA9-A562-A3EA-59063A4719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046" y="342521"/>
            <a:ext cx="11099864" cy="801687"/>
          </a:xfrm>
        </p:spPr>
        <p:txBody>
          <a:bodyPr anchor="b">
            <a:normAutofit/>
          </a:bodyPr>
          <a:lstStyle>
            <a:lvl1pPr marL="0" indent="0">
              <a:buNone/>
              <a:defRPr sz="40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FEFA7AA-E5D0-B3D1-56EA-52FE09A4CA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6046" y="1379538"/>
            <a:ext cx="11099867" cy="44354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AB81FB0-4D6C-66BC-FF46-EDCBF71079F1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15" name="Text Placeholder 27">
            <a:extLst>
              <a:ext uri="{FF2B5EF4-FFF2-40B4-BE49-F238E27FC236}">
                <a16:creationId xmlns:a16="http://schemas.microsoft.com/office/drawing/2014/main" id="{9C7B3A80-3F7A-CC1E-A5F0-B575EC4536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footer</a:t>
            </a:r>
          </a:p>
        </p:txBody>
      </p:sp>
    </p:spTree>
    <p:extLst>
      <p:ext uri="{BB962C8B-B14F-4D97-AF65-F5344CB8AC3E}">
        <p14:creationId xmlns:p14="http://schemas.microsoft.com/office/powerpoint/2010/main" val="382896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1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D3916B-73C6-F4B4-3332-BC1FFE6F2798}"/>
              </a:ext>
            </a:extLst>
          </p:cNvPr>
          <p:cNvCxnSpPr/>
          <p:nvPr userDrawn="1"/>
        </p:nvCxnSpPr>
        <p:spPr>
          <a:xfrm>
            <a:off x="4230303" y="0"/>
            <a:ext cx="0" cy="685800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9D112BE1-03AC-1438-690C-C155B89869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4699" y="212863"/>
            <a:ext cx="211207" cy="30684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80C8099-C1BA-917B-8B01-B92A4B14D7F4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E7AC11-04FF-A700-903A-7B9D5F26B6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65D61EA9-08B8-1341-24A7-22597269B4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41510" y="342521"/>
            <a:ext cx="7304399" cy="801687"/>
          </a:xfrm>
        </p:spPr>
        <p:txBody>
          <a:bodyPr anchor="b">
            <a:normAutofit/>
          </a:bodyPr>
          <a:lstStyle>
            <a:lvl1pPr marL="0" indent="0">
              <a:buNone/>
              <a:defRPr sz="40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65B32252-BBDF-6A3C-BFCD-3867AEA115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510" y="1379538"/>
            <a:ext cx="7304403" cy="44354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6C0A123-8900-219C-8BE1-63D08D535E8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3917950" cy="6191250"/>
          </a:xfrm>
        </p:spPr>
        <p:txBody>
          <a:bodyPr/>
          <a:lstStyle>
            <a:lvl1pPr>
              <a:defRPr sz="2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image. Use the CROP tool under the PICTURE FORMAT tab to adjust.</a:t>
            </a:r>
          </a:p>
          <a:p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09DA6E6-76FF-688A-843C-38EF945DE43A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20" name="Text Placeholder 27">
            <a:extLst>
              <a:ext uri="{FF2B5EF4-FFF2-40B4-BE49-F238E27FC236}">
                <a16:creationId xmlns:a16="http://schemas.microsoft.com/office/drawing/2014/main" id="{EE8349E5-201D-927E-F5A3-59A3E90CFB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footer</a:t>
            </a:r>
          </a:p>
        </p:txBody>
      </p:sp>
    </p:spTree>
    <p:extLst>
      <p:ext uri="{BB962C8B-B14F-4D97-AF65-F5344CB8AC3E}">
        <p14:creationId xmlns:p14="http://schemas.microsoft.com/office/powerpoint/2010/main" val="1091757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4771A60-4CBC-A241-B9E3-A22CC80B26F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464425" y="0"/>
            <a:ext cx="4518025" cy="2987675"/>
          </a:xfrm>
        </p:spPr>
        <p:txBody>
          <a:bodyPr/>
          <a:lstStyle>
            <a:lvl1pPr>
              <a:defRPr sz="2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image. Use the CROP tool under the PICTURE FORMAT tab to adjust.</a:t>
            </a:r>
          </a:p>
          <a:p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D1132FB-DC4B-D089-8F2F-D172D0FD630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464425" y="3178174"/>
            <a:ext cx="4518023" cy="3012559"/>
          </a:xfrm>
        </p:spPr>
        <p:txBody>
          <a:bodyPr/>
          <a:lstStyle>
            <a:lvl1pPr>
              <a:defRPr sz="2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image. Use the CROP tool under the PICTURE FORMAT tab to adjust.</a:t>
            </a:r>
          </a:p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D64AB9-D71F-4FE4-5E51-B741C6915269}"/>
              </a:ext>
            </a:extLst>
          </p:cNvPr>
          <p:cNvCxnSpPr/>
          <p:nvPr userDrawn="1"/>
        </p:nvCxnSpPr>
        <p:spPr>
          <a:xfrm>
            <a:off x="457200" y="0"/>
            <a:ext cx="0" cy="685800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ED404569-B3AB-CAE1-BE02-B973512D76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1596" y="212863"/>
            <a:ext cx="211207" cy="3068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B6D32D2-E3B8-32CF-87BD-135B236746B2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5BE733-2EB0-D6D4-AC0A-3B50715CEDA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D5CE6E6B-C7C9-F410-704B-922214F32F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046" y="342521"/>
            <a:ext cx="6630074" cy="801687"/>
          </a:xfrm>
        </p:spPr>
        <p:txBody>
          <a:bodyPr anchor="b">
            <a:normAutofit/>
          </a:bodyPr>
          <a:lstStyle>
            <a:lvl1pPr marL="0" indent="0">
              <a:buNone/>
              <a:defRPr sz="40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1633CA-DF56-0D45-B074-8BA43461E6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6047" y="1379538"/>
            <a:ext cx="6630074" cy="44354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91D6080-2F4C-6477-BB5D-5984005CEDB3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5597AB59-2A51-8C5F-8005-829F2979D4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footer</a:t>
            </a:r>
          </a:p>
        </p:txBody>
      </p:sp>
    </p:spTree>
    <p:extLst>
      <p:ext uri="{BB962C8B-B14F-4D97-AF65-F5344CB8AC3E}">
        <p14:creationId xmlns:p14="http://schemas.microsoft.com/office/powerpoint/2010/main" val="3756839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8BF8DA-65D3-715A-7D14-20D7A2CD1D50}"/>
              </a:ext>
            </a:extLst>
          </p:cNvPr>
          <p:cNvCxnSpPr/>
          <p:nvPr userDrawn="1"/>
        </p:nvCxnSpPr>
        <p:spPr>
          <a:xfrm>
            <a:off x="457200" y="0"/>
            <a:ext cx="0" cy="685800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D9482BC1-563E-C8C4-C80F-8F7DD4D41A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1596" y="212863"/>
            <a:ext cx="211207" cy="3068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D1E72A4-5F2B-2966-A03B-9F8555FB57C5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59933D-4ABA-DB73-0B7E-A748CEBBEE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4F921B44-4340-319A-468A-C8064F9EA8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046" y="342521"/>
            <a:ext cx="11099864" cy="801687"/>
          </a:xfrm>
        </p:spPr>
        <p:txBody>
          <a:bodyPr anchor="b">
            <a:normAutofit/>
          </a:bodyPr>
          <a:lstStyle>
            <a:lvl1pPr marL="0" indent="0">
              <a:buNone/>
              <a:defRPr sz="40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9145103-D6CB-4108-DE4B-7527D3FC49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6046" y="1379539"/>
            <a:ext cx="11099867" cy="196752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ECF7AF9-02A4-3B93-E94B-78CB36280FB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7225" y="3536950"/>
            <a:ext cx="3695700" cy="24638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image. Use the CROP tool under the PICTURE FORMAT tab to adjust.</a:t>
            </a:r>
          </a:p>
          <a:p>
            <a:endParaRPr lang="en-US" dirty="0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C42E3B9-24C6-99E6-7B85-65DE30EF2EF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95574" y="3535104"/>
            <a:ext cx="3695700" cy="24638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image. Use the CROP tool under the PICTURE FORMAT tab to adjust.</a:t>
            </a:r>
          </a:p>
          <a:p>
            <a:endParaRPr lang="en-US" dirty="0"/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DEF66B61-FA80-A902-BFB6-3F5F14EDE4D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333217" y="3535104"/>
            <a:ext cx="3695700" cy="24638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image. Use the CROP tool under the PICTURE FORMAT tab to adjust.</a:t>
            </a:r>
          </a:p>
          <a:p>
            <a:endParaRPr lang="en-US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4BC72856-E08B-81BF-C0D0-8A036369FEBE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07D6CBA6-9CCA-47C5-F175-D0E437C9D0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footer</a:t>
            </a:r>
          </a:p>
        </p:txBody>
      </p:sp>
    </p:spTree>
    <p:extLst>
      <p:ext uri="{BB962C8B-B14F-4D97-AF65-F5344CB8AC3E}">
        <p14:creationId xmlns:p14="http://schemas.microsoft.com/office/powerpoint/2010/main" val="1778386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s +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328EE0-F766-77BA-6B9C-46B2693EFE69}"/>
              </a:ext>
            </a:extLst>
          </p:cNvPr>
          <p:cNvCxnSpPr/>
          <p:nvPr userDrawn="1"/>
        </p:nvCxnSpPr>
        <p:spPr>
          <a:xfrm>
            <a:off x="457200" y="0"/>
            <a:ext cx="0" cy="685800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EF36EFD1-516A-8ABB-B214-0E0A711558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1596" y="212863"/>
            <a:ext cx="211207" cy="30684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3FC7DC-051F-D86E-9AD2-F292F074FAEA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B009BB-DBBE-677E-36FA-8E16E5888D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75C74044-769C-8EBC-28A9-7239A7FDF0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7761" y="3334969"/>
            <a:ext cx="3401746" cy="253594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2441CE3-E8DA-8A0C-B91C-C22A2723EF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95412" y="3334969"/>
            <a:ext cx="3401746" cy="253594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263FA88A-7309-F97A-A555-F8FA6288BB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33055" y="3334969"/>
            <a:ext cx="3401746" cy="253594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2CCEBFBD-54C1-E04E-9A4C-24689EBBF85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57931" y="714949"/>
            <a:ext cx="3695700" cy="24638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image. Use the CROP tool under the PICTURE FORMAT tab to adjust.</a:t>
            </a:r>
          </a:p>
          <a:p>
            <a:endParaRPr lang="en-US" dirty="0"/>
          </a:p>
        </p:txBody>
      </p:sp>
      <p:sp>
        <p:nvSpPr>
          <p:cNvPr id="21" name="Picture Placeholder 16">
            <a:extLst>
              <a:ext uri="{FF2B5EF4-FFF2-40B4-BE49-F238E27FC236}">
                <a16:creationId xmlns:a16="http://schemas.microsoft.com/office/drawing/2014/main" id="{F212A0EE-7896-A4BC-CA60-1C5F4B897D8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95412" y="714949"/>
            <a:ext cx="3695700" cy="24638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image. Use the CROP tool under the PICTURE FORMAT tab to adjust.</a:t>
            </a:r>
          </a:p>
          <a:p>
            <a:endParaRPr lang="en-US" dirty="0"/>
          </a:p>
        </p:txBody>
      </p:sp>
      <p:sp>
        <p:nvSpPr>
          <p:cNvPr id="22" name="Picture Placeholder 16">
            <a:extLst>
              <a:ext uri="{FF2B5EF4-FFF2-40B4-BE49-F238E27FC236}">
                <a16:creationId xmlns:a16="http://schemas.microsoft.com/office/drawing/2014/main" id="{0C3EBA7B-8FCB-7F8A-AB14-E09A4D849AE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332893" y="711256"/>
            <a:ext cx="3695700" cy="24638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image. Use the CROP tool under the PICTURE FORMAT tab to adjust.</a:t>
            </a:r>
          </a:p>
          <a:p>
            <a:endParaRPr lang="en-US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9F5CD62-E9F0-3BB7-BB7F-70E34A3110E2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ED2B3EF9-36D5-C07A-6BA0-86EACD5C3F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footer</a:t>
            </a:r>
          </a:p>
        </p:txBody>
      </p:sp>
    </p:spTree>
    <p:extLst>
      <p:ext uri="{BB962C8B-B14F-4D97-AF65-F5344CB8AC3E}">
        <p14:creationId xmlns:p14="http://schemas.microsoft.com/office/powerpoint/2010/main" val="176750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F33522-8FA0-8EA8-D83F-92B090F056F4}"/>
              </a:ext>
            </a:extLst>
          </p:cNvPr>
          <p:cNvCxnSpPr/>
          <p:nvPr userDrawn="1"/>
        </p:nvCxnSpPr>
        <p:spPr>
          <a:xfrm>
            <a:off x="457200" y="0"/>
            <a:ext cx="0" cy="685800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6074CECC-6E08-12A2-2A44-39524030E8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1596" y="212863"/>
            <a:ext cx="211207" cy="3068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A11C3F-1238-ECBE-7F8F-8621F2C7BD8B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A8070A-84EE-F08C-21F5-8397D9AFBEA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BB460626-2AFD-0805-5BA5-B2AE760A9E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046" y="342521"/>
            <a:ext cx="11099864" cy="801687"/>
          </a:xfrm>
        </p:spPr>
        <p:txBody>
          <a:bodyPr anchor="b">
            <a:normAutofit/>
          </a:bodyPr>
          <a:lstStyle>
            <a:lvl1pPr marL="0" indent="0">
              <a:buNone/>
              <a:defRPr sz="40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Media Placeholder 13">
            <a:extLst>
              <a:ext uri="{FF2B5EF4-FFF2-40B4-BE49-F238E27FC236}">
                <a16:creationId xmlns:a16="http://schemas.microsoft.com/office/drawing/2014/main" id="{B1955775-8C08-10BD-0A01-83ECD1BCDB10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2767013" y="1379538"/>
            <a:ext cx="6751637" cy="450215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 video. 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ED243E5-CF3B-D935-8C7E-B240A009AFC8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16" name="Text Placeholder 27">
            <a:extLst>
              <a:ext uri="{FF2B5EF4-FFF2-40B4-BE49-F238E27FC236}">
                <a16:creationId xmlns:a16="http://schemas.microsoft.com/office/drawing/2014/main" id="{C3E9EE6F-9C25-3914-E14E-36528628A7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footer</a:t>
            </a:r>
          </a:p>
        </p:txBody>
      </p:sp>
    </p:spTree>
    <p:extLst>
      <p:ext uri="{BB962C8B-B14F-4D97-AF65-F5344CB8AC3E}">
        <p14:creationId xmlns:p14="http://schemas.microsoft.com/office/powerpoint/2010/main" val="3200540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10033CA2-4AB4-1D3E-34B3-88FBD3C2CE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4858" y="214325"/>
            <a:ext cx="211207" cy="3068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A6EAF6F-01D7-1E0D-93B7-7118D815B529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F72520-8A14-AD95-4AA1-D051BF9B1B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0371799-7044-D115-6032-00468EAC3C23}"/>
              </a:ext>
            </a:extLst>
          </p:cNvPr>
          <p:cNvSpPr/>
          <p:nvPr userDrawn="1"/>
        </p:nvSpPr>
        <p:spPr>
          <a:xfrm>
            <a:off x="347870" y="367749"/>
            <a:ext cx="5536096" cy="5466522"/>
          </a:xfrm>
          <a:prstGeom prst="rect">
            <a:avLst/>
          </a:prstGeom>
          <a:noFill/>
          <a:ln w="19050">
            <a:solidFill>
              <a:srgbClr val="BA0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F809A6F2-730C-104B-E86E-B9FD760D8A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7881" y="214325"/>
            <a:ext cx="211207" cy="30684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4704AF4-EF21-2B55-04B5-BFE68FDB1B87}"/>
              </a:ext>
            </a:extLst>
          </p:cNvPr>
          <p:cNvSpPr/>
          <p:nvPr userDrawn="1"/>
        </p:nvSpPr>
        <p:spPr>
          <a:xfrm>
            <a:off x="6270893" y="367749"/>
            <a:ext cx="5536096" cy="5466522"/>
          </a:xfrm>
          <a:prstGeom prst="rect">
            <a:avLst/>
          </a:prstGeom>
          <a:noFill/>
          <a:ln w="19050">
            <a:solidFill>
              <a:srgbClr val="BA0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97F3238B-F2FD-FFE6-2ACF-42039B8813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256" y="534712"/>
            <a:ext cx="5061783" cy="801687"/>
          </a:xfrm>
        </p:spPr>
        <p:txBody>
          <a:bodyPr anchor="b">
            <a:normAutofit/>
          </a:bodyPr>
          <a:lstStyle>
            <a:lvl1pPr marL="0" indent="0">
              <a:buNone/>
              <a:defRPr sz="40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4ECCE302-4691-EDC7-ED5B-847839B46F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8257" y="1425957"/>
            <a:ext cx="5061784" cy="419296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5CE6EEAD-5F11-B470-6896-AE9B7C196B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8950" y="534712"/>
            <a:ext cx="5061783" cy="801687"/>
          </a:xfrm>
        </p:spPr>
        <p:txBody>
          <a:bodyPr anchor="b">
            <a:normAutofit/>
          </a:bodyPr>
          <a:lstStyle>
            <a:lvl1pPr marL="0" indent="0">
              <a:buNone/>
              <a:defRPr sz="40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61E5C968-4A4E-444F-60E2-130FF35946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98951" y="1425957"/>
            <a:ext cx="5061784" cy="419296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780B3EA-64EE-ECD0-8CD7-A9A24ED930EB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C0B7281E-7DC6-04A7-4DC4-8E1FF14807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footer</a:t>
            </a:r>
          </a:p>
        </p:txBody>
      </p:sp>
    </p:spTree>
    <p:extLst>
      <p:ext uri="{BB962C8B-B14F-4D97-AF65-F5344CB8AC3E}">
        <p14:creationId xmlns:p14="http://schemas.microsoft.com/office/powerpoint/2010/main" val="31534473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10033CA2-4AB4-1D3E-34B3-88FBD3C2CE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4858" y="214325"/>
            <a:ext cx="211207" cy="3068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A6EAF6F-01D7-1E0D-93B7-7118D815B529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F72520-8A14-AD95-4AA1-D051BF9B1B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0371799-7044-D115-6032-00468EAC3C23}"/>
              </a:ext>
            </a:extLst>
          </p:cNvPr>
          <p:cNvSpPr/>
          <p:nvPr userDrawn="1"/>
        </p:nvSpPr>
        <p:spPr>
          <a:xfrm>
            <a:off x="347870" y="367749"/>
            <a:ext cx="3687416" cy="5466522"/>
          </a:xfrm>
          <a:prstGeom prst="rect">
            <a:avLst/>
          </a:prstGeom>
          <a:noFill/>
          <a:ln w="19050">
            <a:solidFill>
              <a:srgbClr val="BA0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97F3238B-F2FD-FFE6-2ACF-42039B8813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256" y="555329"/>
            <a:ext cx="3317883" cy="648550"/>
          </a:xfrm>
        </p:spPr>
        <p:txBody>
          <a:bodyPr anchor="b">
            <a:normAutofit/>
          </a:bodyPr>
          <a:lstStyle>
            <a:lvl1pPr marL="0" indent="0">
              <a:buNone/>
              <a:defRPr sz="32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4ECCE302-4691-EDC7-ED5B-847839B46F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8257" y="1293437"/>
            <a:ext cx="3225117" cy="4325485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3" name="Picture 2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5ABAFCA9-EA28-543D-5243-152E04D545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33702" y="214325"/>
            <a:ext cx="211207" cy="3068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851F08-2D3F-B1F7-6CF9-CB21520CDDB6}"/>
              </a:ext>
            </a:extLst>
          </p:cNvPr>
          <p:cNvSpPr/>
          <p:nvPr userDrawn="1"/>
        </p:nvSpPr>
        <p:spPr>
          <a:xfrm>
            <a:off x="8156714" y="367749"/>
            <a:ext cx="3687416" cy="5466522"/>
          </a:xfrm>
          <a:prstGeom prst="rect">
            <a:avLst/>
          </a:prstGeom>
          <a:noFill/>
          <a:ln w="19050">
            <a:solidFill>
              <a:srgbClr val="BA0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8A78D26D-321D-5981-E547-70B190B956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7100" y="555329"/>
            <a:ext cx="3317883" cy="648550"/>
          </a:xfrm>
        </p:spPr>
        <p:txBody>
          <a:bodyPr anchor="b">
            <a:normAutofit/>
          </a:bodyPr>
          <a:lstStyle>
            <a:lvl1pPr marL="0" indent="0">
              <a:buNone/>
              <a:defRPr sz="32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6F7517C6-F02E-AF45-27B5-057F866CF1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7101" y="1293437"/>
            <a:ext cx="3226642" cy="4325485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Picture 6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68CC38A8-642A-E9AB-B356-9C0D4A059D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9280" y="214325"/>
            <a:ext cx="211207" cy="30684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6FE8D8D-1593-21F6-53FB-B71E28178E77}"/>
              </a:ext>
            </a:extLst>
          </p:cNvPr>
          <p:cNvSpPr/>
          <p:nvPr userDrawn="1"/>
        </p:nvSpPr>
        <p:spPr>
          <a:xfrm>
            <a:off x="4252292" y="367749"/>
            <a:ext cx="3687416" cy="5466522"/>
          </a:xfrm>
          <a:prstGeom prst="rect">
            <a:avLst/>
          </a:prstGeom>
          <a:noFill/>
          <a:ln w="19050">
            <a:solidFill>
              <a:srgbClr val="BA0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D555CB58-B3E4-2BA4-F7FB-30C971932A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2678" y="555329"/>
            <a:ext cx="3317883" cy="648550"/>
          </a:xfrm>
        </p:spPr>
        <p:txBody>
          <a:bodyPr anchor="b">
            <a:normAutofit/>
          </a:bodyPr>
          <a:lstStyle>
            <a:lvl1pPr marL="0" indent="0">
              <a:buNone/>
              <a:defRPr sz="32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F31741F6-F611-B549-AEC3-17E59B0680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82679" y="1293437"/>
            <a:ext cx="3216834" cy="4325485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9DAA46D-FECB-D4A2-E823-2FFB3A1188CA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22" name="Text Placeholder 27">
            <a:extLst>
              <a:ext uri="{FF2B5EF4-FFF2-40B4-BE49-F238E27FC236}">
                <a16:creationId xmlns:a16="http://schemas.microsoft.com/office/drawing/2014/main" id="{F92D8C11-329A-3B98-9391-655DBD6826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footer</a:t>
            </a:r>
          </a:p>
        </p:txBody>
      </p:sp>
    </p:spTree>
    <p:extLst>
      <p:ext uri="{BB962C8B-B14F-4D97-AF65-F5344CB8AC3E}">
        <p14:creationId xmlns:p14="http://schemas.microsoft.com/office/powerpoint/2010/main" val="1104414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o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094896-F84A-A245-33D5-8B2EFA04E4FE}"/>
              </a:ext>
            </a:extLst>
          </p:cNvPr>
          <p:cNvCxnSpPr/>
          <p:nvPr userDrawn="1"/>
        </p:nvCxnSpPr>
        <p:spPr>
          <a:xfrm>
            <a:off x="457200" y="0"/>
            <a:ext cx="0" cy="685800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92A95711-FC83-602E-DB41-B0CD034A5E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1596" y="212863"/>
            <a:ext cx="211207" cy="30684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5ED3A40-26C9-84BE-1854-8D303DE27E96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37D79E-0228-D54D-3B47-5FF03FFA5A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3DD11AC-2901-300E-15EB-27594AB89C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4063" y="828675"/>
            <a:ext cx="3014662" cy="4883150"/>
          </a:xfrm>
        </p:spPr>
        <p:txBody>
          <a:bodyPr anchor="b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24" name="Picture Placeholder 16">
            <a:extLst>
              <a:ext uri="{FF2B5EF4-FFF2-40B4-BE49-F238E27FC236}">
                <a16:creationId xmlns:a16="http://schemas.microsoft.com/office/drawing/2014/main" id="{EA45F593-A06F-6F57-7361-2F298A6716A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962399" y="519711"/>
            <a:ext cx="7772399" cy="5191664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 of graph or chart. Use the CROP tool under the PICTURE FORMAT tab to adjust.</a:t>
            </a:r>
          </a:p>
          <a:p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D198D2DB-0C08-401C-39FF-FA342B3289FE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845BD108-EDC7-A50E-8F3F-F5E303F496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footer</a:t>
            </a:r>
          </a:p>
        </p:txBody>
      </p:sp>
    </p:spTree>
    <p:extLst>
      <p:ext uri="{BB962C8B-B14F-4D97-AF65-F5344CB8AC3E}">
        <p14:creationId xmlns:p14="http://schemas.microsoft.com/office/powerpoint/2010/main" val="3179373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or 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5F24E7F-FFFA-2825-BC52-B50333809A37}"/>
              </a:ext>
            </a:extLst>
          </p:cNvPr>
          <p:cNvCxnSpPr/>
          <p:nvPr userDrawn="1"/>
        </p:nvCxnSpPr>
        <p:spPr>
          <a:xfrm>
            <a:off x="6096000" y="0"/>
            <a:ext cx="0" cy="685800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F76A3090-117B-86F1-E64F-9AF8B025B9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0396" y="212863"/>
            <a:ext cx="211207" cy="30684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5ED3A40-26C9-84BE-1854-8D303DE27E96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37D79E-0228-D54D-3B47-5FF03FFA5A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51440F65-1F06-5A63-9540-5AF71139C4C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68412" y="741405"/>
            <a:ext cx="4934461" cy="3289089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 of graph or chart. Use the CROP tool under the PICTURE FORMAT tab to adjust.</a:t>
            </a:r>
          </a:p>
          <a:p>
            <a:endParaRPr lang="en-US" dirty="0"/>
          </a:p>
        </p:txBody>
      </p:sp>
      <p:sp>
        <p:nvSpPr>
          <p:cNvPr id="9" name="Picture Placeholder 16">
            <a:extLst>
              <a:ext uri="{FF2B5EF4-FFF2-40B4-BE49-F238E27FC236}">
                <a16:creationId xmlns:a16="http://schemas.microsoft.com/office/drawing/2014/main" id="{C44DA87E-7704-E9D4-349D-B8FEE8EF106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726198" y="748347"/>
            <a:ext cx="4934461" cy="3289089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 of graph or chart. Use the CROP tool under the PICTURE FORMAT tab to adjust.</a:t>
            </a:r>
          </a:p>
          <a:p>
            <a:endParaRPr lang="en-US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E1AF621B-3A6E-FA4D-FC6F-0FEC8FFAE5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341" y="4201297"/>
            <a:ext cx="4971533" cy="166961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18ABF65A-002D-0CE0-C34E-4FB50CFE10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26198" y="4201297"/>
            <a:ext cx="4971533" cy="166961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4A621D3-317E-1793-9469-899A725E93D7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13" name="Text Placeholder 27">
            <a:extLst>
              <a:ext uri="{FF2B5EF4-FFF2-40B4-BE49-F238E27FC236}">
                <a16:creationId xmlns:a16="http://schemas.microsoft.com/office/drawing/2014/main" id="{0FCCA129-501D-325D-88FA-B013AB0A30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footer</a:t>
            </a:r>
          </a:p>
        </p:txBody>
      </p:sp>
    </p:spTree>
    <p:extLst>
      <p:ext uri="{BB962C8B-B14F-4D97-AF65-F5344CB8AC3E}">
        <p14:creationId xmlns:p14="http://schemas.microsoft.com/office/powerpoint/2010/main" val="2722983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35FBAD3-4459-A6F1-6531-B7151C510576}"/>
              </a:ext>
            </a:extLst>
          </p:cNvPr>
          <p:cNvCxnSpPr/>
          <p:nvPr userDrawn="1"/>
        </p:nvCxnSpPr>
        <p:spPr>
          <a:xfrm>
            <a:off x="4213654" y="0"/>
            <a:ext cx="0" cy="685800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25B85424-0F5D-BC8D-9ABB-6CE3CCB055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08050" y="212863"/>
            <a:ext cx="211207" cy="30684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89BFA81-1E91-70A6-D6E5-FB02BB7BE98F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F374D3-5686-7834-9BAD-EC3ADA11B4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E83FDA-529C-CE79-DC44-0058D744AE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08513" y="963613"/>
            <a:ext cx="6735762" cy="4732337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7AC8FAF-20D9-9E89-2DF0-6BBAEBB8730A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17" name="Text Placeholder 27">
            <a:extLst>
              <a:ext uri="{FF2B5EF4-FFF2-40B4-BE49-F238E27FC236}">
                <a16:creationId xmlns:a16="http://schemas.microsoft.com/office/drawing/2014/main" id="{3DFB41D8-FEA5-187C-C4F5-9BF6482AEF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footer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91F9208B-9EE2-3B1F-63BD-BAFEA72669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7734" y="896228"/>
            <a:ext cx="3091061" cy="3468943"/>
          </a:xfrm>
        </p:spPr>
        <p:txBody>
          <a:bodyPr anchor="t">
            <a:normAutofit/>
          </a:bodyPr>
          <a:lstStyle>
            <a:lvl1pPr marL="0" indent="0" algn="r">
              <a:buNone/>
              <a:defRPr sz="44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0877301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CF2A6D-6CEF-8939-5F0E-77695142BA5B}"/>
              </a:ext>
            </a:extLst>
          </p:cNvPr>
          <p:cNvCxnSpPr/>
          <p:nvPr userDrawn="1"/>
        </p:nvCxnSpPr>
        <p:spPr>
          <a:xfrm>
            <a:off x="457200" y="0"/>
            <a:ext cx="0" cy="685800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326E5DEF-ED02-43F6-F554-265C70A96B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1596" y="212863"/>
            <a:ext cx="211207" cy="3068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4CCEF6-2FF3-04C4-8946-CAB16CCA0CB3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B4A5DA-B190-9CF7-2C8B-3A53883356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E84D8F-EB58-A0DA-1520-920E08C2974B}"/>
              </a:ext>
            </a:extLst>
          </p:cNvPr>
          <p:cNvCxnSpPr>
            <a:cxnSpLocks/>
          </p:cNvCxnSpPr>
          <p:nvPr userDrawn="1"/>
        </p:nvCxnSpPr>
        <p:spPr>
          <a:xfrm>
            <a:off x="852488" y="4563351"/>
            <a:ext cx="2245042" cy="0"/>
          </a:xfrm>
          <a:prstGeom prst="line">
            <a:avLst/>
          </a:prstGeom>
          <a:ln w="9525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410D9FE-8706-3474-D6BB-0FDA2D109B26}"/>
              </a:ext>
            </a:extLst>
          </p:cNvPr>
          <p:cNvCxnSpPr>
            <a:cxnSpLocks/>
          </p:cNvCxnSpPr>
          <p:nvPr userDrawn="1"/>
        </p:nvCxnSpPr>
        <p:spPr>
          <a:xfrm>
            <a:off x="3466735" y="4563351"/>
            <a:ext cx="2245042" cy="0"/>
          </a:xfrm>
          <a:prstGeom prst="line">
            <a:avLst/>
          </a:prstGeom>
          <a:ln w="9525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ED6BC07-CB51-1A67-12AA-5C39542D7B84}"/>
              </a:ext>
            </a:extLst>
          </p:cNvPr>
          <p:cNvCxnSpPr>
            <a:cxnSpLocks/>
          </p:cNvCxnSpPr>
          <p:nvPr userDrawn="1"/>
        </p:nvCxnSpPr>
        <p:spPr>
          <a:xfrm>
            <a:off x="6080978" y="4563351"/>
            <a:ext cx="2245042" cy="0"/>
          </a:xfrm>
          <a:prstGeom prst="line">
            <a:avLst/>
          </a:prstGeom>
          <a:ln w="9525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ADE52C0-38F1-1F42-BC38-934250017C7F}"/>
              </a:ext>
            </a:extLst>
          </p:cNvPr>
          <p:cNvCxnSpPr>
            <a:cxnSpLocks/>
          </p:cNvCxnSpPr>
          <p:nvPr userDrawn="1"/>
        </p:nvCxnSpPr>
        <p:spPr>
          <a:xfrm>
            <a:off x="8695225" y="4563351"/>
            <a:ext cx="2245042" cy="0"/>
          </a:xfrm>
          <a:prstGeom prst="line">
            <a:avLst/>
          </a:prstGeom>
          <a:ln w="9525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2AB7CB10-7A9A-04E5-3B47-B458FD44D8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046" y="342521"/>
            <a:ext cx="11099864" cy="801687"/>
          </a:xfrm>
        </p:spPr>
        <p:txBody>
          <a:bodyPr anchor="b">
            <a:normAutofit/>
          </a:bodyPr>
          <a:lstStyle>
            <a:lvl1pPr marL="0" indent="0">
              <a:buNone/>
              <a:defRPr sz="40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DB16EE2-6BE0-6A59-E4FE-DAEB4743E0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0888" y="4137025"/>
            <a:ext cx="2411412" cy="444500"/>
          </a:xfrm>
        </p:spPr>
        <p:txBody>
          <a:bodyPr anchor="b">
            <a:normAutofit/>
          </a:bodyPr>
          <a:lstStyle>
            <a:lvl1pPr marL="0" indent="0">
              <a:buNone/>
              <a:defRPr sz="18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687BB18-8EEA-3826-1B40-788E821007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0888" y="4611688"/>
            <a:ext cx="2411412" cy="1006475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E98E7280-CA34-B729-B1D0-841560AE20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85051" y="4137025"/>
            <a:ext cx="2411412" cy="444500"/>
          </a:xfrm>
        </p:spPr>
        <p:txBody>
          <a:bodyPr anchor="b">
            <a:normAutofit/>
          </a:bodyPr>
          <a:lstStyle>
            <a:lvl1pPr marL="0" indent="0">
              <a:buNone/>
              <a:defRPr sz="18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2F65D5FE-4145-3AE8-4576-10EF6DE7CE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85051" y="4611688"/>
            <a:ext cx="2411412" cy="1006475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1B111259-30FC-5F0F-D3F8-217A8B8068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9298" y="4137025"/>
            <a:ext cx="2411412" cy="444500"/>
          </a:xfrm>
        </p:spPr>
        <p:txBody>
          <a:bodyPr anchor="b">
            <a:normAutofit/>
          </a:bodyPr>
          <a:lstStyle>
            <a:lvl1pPr marL="0" indent="0">
              <a:buNone/>
              <a:defRPr sz="18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B36BD38C-D476-63A8-309F-FA7E21A344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9298" y="4611688"/>
            <a:ext cx="2411412" cy="1006475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38" name="Text Placeholder 30">
            <a:extLst>
              <a:ext uri="{FF2B5EF4-FFF2-40B4-BE49-F238E27FC236}">
                <a16:creationId xmlns:a16="http://schemas.microsoft.com/office/drawing/2014/main" id="{60826E5A-49AF-B01A-23F2-EA094EFDF4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3708" y="4137025"/>
            <a:ext cx="2411412" cy="444500"/>
          </a:xfrm>
        </p:spPr>
        <p:txBody>
          <a:bodyPr anchor="b">
            <a:normAutofit/>
          </a:bodyPr>
          <a:lstStyle>
            <a:lvl1pPr marL="0" indent="0">
              <a:buNone/>
              <a:defRPr sz="18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27BC2FFA-ACDF-F215-4EAC-565C9CBD49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13708" y="4611688"/>
            <a:ext cx="2411412" cy="1006475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40" name="Picture Placeholder 16">
            <a:extLst>
              <a:ext uri="{FF2B5EF4-FFF2-40B4-BE49-F238E27FC236}">
                <a16:creationId xmlns:a16="http://schemas.microsoft.com/office/drawing/2014/main" id="{20313018-CFD2-F283-3E96-E8289CE6A7D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0888" y="1590222"/>
            <a:ext cx="2450791" cy="2448894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image. Use the CROP tool under the PICTURE FORMAT tab to adjust.</a:t>
            </a:r>
          </a:p>
          <a:p>
            <a:endParaRPr lang="en-US" dirty="0"/>
          </a:p>
        </p:txBody>
      </p:sp>
      <p:sp>
        <p:nvSpPr>
          <p:cNvPr id="41" name="Picture Placeholder 16">
            <a:extLst>
              <a:ext uri="{FF2B5EF4-FFF2-40B4-BE49-F238E27FC236}">
                <a16:creationId xmlns:a16="http://schemas.microsoft.com/office/drawing/2014/main" id="{0E47EDF1-F62B-0ACB-6A23-2B7FB5696AD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382412" y="1597586"/>
            <a:ext cx="2450791" cy="2448894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image. Use the CROP tool under the PICTURE FORMAT tab to adjust.</a:t>
            </a:r>
          </a:p>
          <a:p>
            <a:endParaRPr lang="en-US" dirty="0"/>
          </a:p>
        </p:txBody>
      </p:sp>
      <p:sp>
        <p:nvSpPr>
          <p:cNvPr id="42" name="Picture Placeholder 16">
            <a:extLst>
              <a:ext uri="{FF2B5EF4-FFF2-40B4-BE49-F238E27FC236}">
                <a16:creationId xmlns:a16="http://schemas.microsoft.com/office/drawing/2014/main" id="{2F9473ED-B34A-705C-F6B9-1EE18B1E9D6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999714" y="1597586"/>
            <a:ext cx="2450791" cy="2448894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image. Use the CROP tool under the PICTURE FORMAT tab to adjust.</a:t>
            </a:r>
          </a:p>
          <a:p>
            <a:endParaRPr lang="en-US" dirty="0"/>
          </a:p>
        </p:txBody>
      </p:sp>
      <p:sp>
        <p:nvSpPr>
          <p:cNvPr id="43" name="Picture Placeholder 16">
            <a:extLst>
              <a:ext uri="{FF2B5EF4-FFF2-40B4-BE49-F238E27FC236}">
                <a16:creationId xmlns:a16="http://schemas.microsoft.com/office/drawing/2014/main" id="{2A5592DD-F2DE-61F6-0D0A-F6937816A12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617016" y="1599948"/>
            <a:ext cx="2450791" cy="2448894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and select an image. Use the CROP tool under the PICTURE FORMAT tab to adjust.</a:t>
            </a:r>
          </a:p>
          <a:p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81C4CEA9-2B1E-C50A-9937-94A03026ACEF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45" name="Text Placeholder 27">
            <a:extLst>
              <a:ext uri="{FF2B5EF4-FFF2-40B4-BE49-F238E27FC236}">
                <a16:creationId xmlns:a16="http://schemas.microsoft.com/office/drawing/2014/main" id="{57072517-3DA8-D8E0-3530-0CA7FF7F9D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footer</a:t>
            </a:r>
          </a:p>
        </p:txBody>
      </p:sp>
    </p:spTree>
    <p:extLst>
      <p:ext uri="{BB962C8B-B14F-4D97-AF65-F5344CB8AC3E}">
        <p14:creationId xmlns:p14="http://schemas.microsoft.com/office/powerpoint/2010/main" val="20464707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15525CC-3FD1-64E9-C1B5-DBB048F3DC30}"/>
              </a:ext>
            </a:extLst>
          </p:cNvPr>
          <p:cNvCxnSpPr>
            <a:cxnSpLocks/>
          </p:cNvCxnSpPr>
          <p:nvPr userDrawn="1"/>
        </p:nvCxnSpPr>
        <p:spPr>
          <a:xfrm>
            <a:off x="0" y="1329469"/>
            <a:ext cx="12221817" cy="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F1666DA-562C-2413-98C7-6DAB4D223242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9B83D9-C8D8-7732-8D1E-8DDC36E76C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9B2A26-4AF1-6170-7104-1534C07165B1}"/>
              </a:ext>
            </a:extLst>
          </p:cNvPr>
          <p:cNvSpPr txBox="1"/>
          <p:nvPr userDrawn="1"/>
        </p:nvSpPr>
        <p:spPr>
          <a:xfrm>
            <a:off x="5680504" y="672795"/>
            <a:ext cx="830991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 b="1" dirty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endParaRPr lang="en-US" sz="115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D55F947-3060-BB10-6B95-219EF236ED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85863" y="2027238"/>
            <a:ext cx="9985375" cy="3361190"/>
          </a:xfrm>
        </p:spPr>
        <p:txBody>
          <a:bodyPr>
            <a:normAutofit/>
          </a:bodyPr>
          <a:lstStyle>
            <a:lvl1pPr marL="0" indent="0" algn="ctr">
              <a:buNone/>
              <a:defRPr sz="48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CBDB2DE-0A68-A656-7AC7-BDB4C8F11D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5863" y="5421085"/>
            <a:ext cx="9985375" cy="507605"/>
          </a:xfrm>
        </p:spPr>
        <p:txBody>
          <a:bodyPr>
            <a:noAutofit/>
          </a:bodyPr>
          <a:lstStyle>
            <a:lvl1pPr marL="0" indent="0" algn="ctr">
              <a:buNone/>
              <a:defRPr sz="24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- Give Credit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C9FA13-7F9F-BFF8-2726-63A9EC760A53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15" name="Text Placeholder 27">
            <a:extLst>
              <a:ext uri="{FF2B5EF4-FFF2-40B4-BE49-F238E27FC236}">
                <a16:creationId xmlns:a16="http://schemas.microsoft.com/office/drawing/2014/main" id="{248CD9AD-80A5-928A-7AAF-BAD8B160FA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footer</a:t>
            </a:r>
          </a:p>
        </p:txBody>
      </p:sp>
    </p:spTree>
    <p:extLst>
      <p:ext uri="{BB962C8B-B14F-4D97-AF65-F5344CB8AC3E}">
        <p14:creationId xmlns:p14="http://schemas.microsoft.com/office/powerpoint/2010/main" val="17851566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A5718A4-E599-D815-74F0-767BD1ED8CCC}"/>
              </a:ext>
            </a:extLst>
          </p:cNvPr>
          <p:cNvCxnSpPr>
            <a:cxnSpLocks/>
          </p:cNvCxnSpPr>
          <p:nvPr userDrawn="1"/>
        </p:nvCxnSpPr>
        <p:spPr>
          <a:xfrm>
            <a:off x="0" y="5710058"/>
            <a:ext cx="12221817" cy="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62FD5E8E-D0EB-C069-B7AB-76D9455263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0396" y="5580080"/>
            <a:ext cx="211207" cy="3068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0934C33-339B-FA4C-0322-2585B8E4F032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CFEDB1-ABFF-3272-0485-4423EE019D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24A052B7-34F6-0E8E-4174-7F657AFB40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85863" y="2027238"/>
            <a:ext cx="9985375" cy="801144"/>
          </a:xfrm>
        </p:spPr>
        <p:txBody>
          <a:bodyPr>
            <a:normAutofit/>
          </a:bodyPr>
          <a:lstStyle>
            <a:lvl1pPr marL="0" indent="0" algn="ctr">
              <a:buNone/>
              <a:defRPr sz="48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Thank you!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8211544B-30DA-8F73-8E8C-ECDD18F24D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5862" y="2909006"/>
            <a:ext cx="9985375" cy="507605"/>
          </a:xfrm>
        </p:spPr>
        <p:txBody>
          <a:bodyPr>
            <a:noAutofit/>
          </a:bodyPr>
          <a:lstStyle>
            <a:lvl1pPr marL="0" indent="0" algn="ctr">
              <a:buNone/>
              <a:defRPr sz="24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Questions? Or add contact info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7A08BA1-274E-91EC-AFF3-0DC536EC14B7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17" name="Text Placeholder 27">
            <a:extLst>
              <a:ext uri="{FF2B5EF4-FFF2-40B4-BE49-F238E27FC236}">
                <a16:creationId xmlns:a16="http://schemas.microsoft.com/office/drawing/2014/main" id="{19D40ADC-3252-1D58-6535-8596EB3F13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footer</a:t>
            </a:r>
          </a:p>
        </p:txBody>
      </p:sp>
    </p:spTree>
    <p:extLst>
      <p:ext uri="{BB962C8B-B14F-4D97-AF65-F5344CB8AC3E}">
        <p14:creationId xmlns:p14="http://schemas.microsoft.com/office/powerpoint/2010/main" val="4238092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E22CEB-238B-F9AF-8182-DDB05F081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B3C2F-9BBC-0CE5-AE9D-A5290F16C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FB3CB-C16C-BB1C-9B47-CE30DA8EED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39797-57C7-9247-90DC-B0BF6750C0B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DC87D-5BF8-D670-C22B-19ABA5F790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4F160-2584-ADFD-6D20-7C94F7B01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2852E-8356-7E43-92A5-A30D75A2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5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0A264-6FFE-E935-093C-698A3F6D88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AB6D6-B44E-8D30-CCCA-F158F06E1A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Connor Briggs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534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C8E49E-B480-EF5F-B26B-EBB09C465E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Brief History of Linux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04716-379A-871F-AE94-A51ABE9F20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Linux was the spiritual successor to Unix, an operating system made by AT&amp;T Bell Labs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Created by Linus Torvalds in 1990 to be an open-source alternative to </a:t>
            </a:r>
            <a:r>
              <a:rPr lang="en-US" dirty="0" err="1">
                <a:latin typeface="Arial"/>
                <a:cs typeface="Arial"/>
              </a:rPr>
              <a:t>Minix,a</a:t>
            </a:r>
            <a:r>
              <a:rPr lang="en-US" dirty="0">
                <a:latin typeface="Arial"/>
                <a:cs typeface="Arial"/>
              </a:rPr>
              <a:t> Unix-like operating system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Since its creation, there have been many operating systems based on the Linux kernel. Major examples:</a:t>
            </a:r>
            <a:endParaRPr lang="en-US" dirty="0"/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Fedora-based (Red Hat/RHEL, CentOS, Fedora)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Arch Linux and derivatives (SteamOS)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Calibri" panose="020F0502020204030204"/>
                <a:cs typeface="Calibri" panose="020F0502020204030204"/>
              </a:rPr>
              <a:t>Debian and derivatives (Ubuntu, Linux Mint)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Calibri" panose="020F0502020204030204"/>
                <a:cs typeface="Calibri" panose="020F0502020204030204"/>
              </a:rPr>
              <a:t>Android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Calibri" panose="020F0502020204030204"/>
                <a:cs typeface="Calibri" panose="020F0502020204030204"/>
              </a:rPr>
              <a:t>And many more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ADE0D-6F0D-7A46-DD06-2B0B1655C6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64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439913-9464-41BD-D59F-E53A36509B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Linux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24E5A-6064-AFA1-4D3B-F54E29E97B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Open-source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Anyone can view and suggest edits to the source code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User-end programming friendly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Lots of open-source projects target it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49BC95-0CFF-0BB3-6466-6644A29461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Windows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439442-2B35-CFF3-B02B-81F4082874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Proprietary </a:t>
            </a:r>
            <a:endParaRPr lang="en-US" dirty="0"/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Only Microsoft can modify the 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Driver-side programmer friendly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Supported by almost all major software companies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63291-7FC8-0C38-2189-46BBDB8E87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039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51E1ED-6BF6-F7E5-9AA7-3757305527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Common Linux Tools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0B540-17BD-91AB-4C81-3CC8356AD0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Bash is a scripting language widely used on Linux systems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GNU (GNU is Not Unix) is a set of programs that sit on top of the Linux kernel and make your computer useable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APT is the software manager on Ubuntu and Debian-based systems, which is what we mostly use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vi, Emacs, nano, and </a:t>
            </a:r>
            <a:r>
              <a:rPr lang="en-US" dirty="0" err="1">
                <a:latin typeface="Arial"/>
                <a:cs typeface="Arial"/>
              </a:rPr>
              <a:t>gedit</a:t>
            </a:r>
            <a:r>
              <a:rPr lang="en-US" dirty="0">
                <a:latin typeface="Arial"/>
                <a:cs typeface="Arial"/>
              </a:rPr>
              <a:t> are common editors for text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Anaconda and </a:t>
            </a:r>
            <a:r>
              <a:rPr lang="en-US" dirty="0" err="1">
                <a:latin typeface="Arial"/>
                <a:cs typeface="Arial"/>
              </a:rPr>
              <a:t>Miniconda</a:t>
            </a:r>
            <a:r>
              <a:rPr lang="en-US" dirty="0">
                <a:latin typeface="Arial"/>
                <a:cs typeface="Arial"/>
              </a:rPr>
              <a:t> allow for easier management of dependencies for programs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20501-71F5-18B2-50D3-D259599CEB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916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503768-10A7-B691-A478-7F6240F2AD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Common Linux Commands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85946-3A03-C664-77D6-7CE5AF97CC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Miriam Fixed"/>
                <a:cs typeface="Arial"/>
              </a:rPr>
              <a:t>ls</a:t>
            </a:r>
            <a:r>
              <a:rPr lang="en-US" dirty="0">
                <a:latin typeface="Arial"/>
                <a:cs typeface="Arial"/>
              </a:rPr>
              <a:t> lists the contents of a directory</a:t>
            </a:r>
          </a:p>
          <a:p>
            <a:pPr marL="342900" indent="-342900">
              <a:buChar char="•"/>
            </a:pPr>
            <a:r>
              <a:rPr lang="en-US" dirty="0">
                <a:latin typeface="Miriam Fixed"/>
                <a:cs typeface="Arial"/>
              </a:rPr>
              <a:t>cd</a:t>
            </a:r>
            <a:r>
              <a:rPr lang="en-US" dirty="0">
                <a:latin typeface="Arial"/>
                <a:cs typeface="Arial"/>
              </a:rPr>
              <a:t> changes the current directory</a:t>
            </a:r>
          </a:p>
          <a:p>
            <a:pPr marL="342900" indent="-342900">
              <a:buChar char="•"/>
            </a:pPr>
            <a:r>
              <a:rPr lang="en-US" dirty="0" err="1">
                <a:latin typeface="Miriam Fixed"/>
                <a:cs typeface="Arial"/>
              </a:rPr>
              <a:t>sh</a:t>
            </a:r>
            <a:r>
              <a:rPr lang="en-US" dirty="0">
                <a:latin typeface="Miriam Fixed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dirty="0">
                <a:latin typeface="Miriam Fixed"/>
                <a:cs typeface="Arial"/>
              </a:rPr>
              <a:t> bash</a:t>
            </a:r>
            <a:r>
              <a:rPr lang="en-US" dirty="0">
                <a:latin typeface="Arial"/>
                <a:cs typeface="Arial"/>
              </a:rPr>
              <a:t> execute a script file</a:t>
            </a:r>
          </a:p>
          <a:p>
            <a:pPr marL="342900" indent="-342900">
              <a:buChar char="•"/>
            </a:pPr>
            <a:r>
              <a:rPr lang="en-US" dirty="0">
                <a:latin typeface="Miriam Fixed"/>
                <a:cs typeface="Arial"/>
              </a:rPr>
              <a:t>ssh</a:t>
            </a:r>
            <a:r>
              <a:rPr lang="en-US" dirty="0">
                <a:latin typeface="Arial"/>
                <a:cs typeface="Arial"/>
              </a:rPr>
              <a:t> connects to a remote host and allows you to interact with it</a:t>
            </a: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This is how you talk to Vulcan and Sapelo2</a:t>
            </a: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There is a way to skip entering your password using encrypted keys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Miriam Fixed"/>
                <a:cs typeface="Arial"/>
              </a:rPr>
              <a:t>less</a:t>
            </a:r>
            <a:r>
              <a:rPr lang="en-US" dirty="0">
                <a:latin typeface="Arial"/>
                <a:cs typeface="Arial"/>
              </a:rPr>
              <a:t> reads a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Miriam Fixed"/>
                <a:cs typeface="Arial"/>
              </a:rPr>
              <a:t>man</a:t>
            </a:r>
            <a:r>
              <a:rPr lang="en-US" dirty="0">
                <a:latin typeface="Arial"/>
                <a:cs typeface="Arial"/>
              </a:rPr>
              <a:t> opens the manual page for a command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Miriam Fixed"/>
                <a:cs typeface="Arial"/>
              </a:rPr>
              <a:t>help</a:t>
            </a:r>
            <a:r>
              <a:rPr lang="en-US" dirty="0">
                <a:latin typeface="Arial"/>
                <a:cs typeface="Arial"/>
              </a:rPr>
              <a:t> and </a:t>
            </a:r>
            <a:r>
              <a:rPr lang="en-US" dirty="0">
                <a:latin typeface="Miriam Fixed"/>
                <a:cs typeface="Arial"/>
              </a:rPr>
              <a:t>info</a:t>
            </a:r>
            <a:r>
              <a:rPr lang="en-US" dirty="0">
                <a:latin typeface="Arial"/>
                <a:cs typeface="Arial"/>
              </a:rPr>
              <a:t> give information on bash constructs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Miriam Fixed"/>
                <a:cs typeface="Arial"/>
              </a:rPr>
              <a:t>echo</a:t>
            </a:r>
            <a:r>
              <a:rPr lang="en-US" dirty="0">
                <a:latin typeface="Arial"/>
                <a:cs typeface="Arial"/>
              </a:rPr>
              <a:t> prints information to the screen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4D0D3-06F1-E7AC-70FB-7C5AB887BC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2060634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4F2464-133A-8CD7-5EAC-CBB57AA76B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Common Linux Commands Cont.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9692D-700F-78BD-D39A-BADE883DA6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Font typeface="Arial,Sans-Serif" panose="020B0604020202020204" pitchFamily="34" charset="0"/>
              <a:buChar char="•"/>
            </a:pPr>
            <a:r>
              <a:rPr lang="en-US" sz="2200" dirty="0">
                <a:latin typeface="Miriam Fixed"/>
                <a:cs typeface="Miriam Fixed"/>
              </a:rPr>
              <a:t>clear</a:t>
            </a:r>
            <a:r>
              <a:rPr lang="en-US" sz="2200" dirty="0">
                <a:latin typeface="Arial"/>
                <a:cs typeface="Arial"/>
              </a:rPr>
              <a:t> clears the terminal</a:t>
            </a:r>
          </a:p>
          <a:p>
            <a:pPr marL="342900" indent="-342900">
              <a:buFont typeface="Arial,Sans-Serif" panose="020B0604020202020204" pitchFamily="34" charset="0"/>
              <a:buChar char="•"/>
            </a:pPr>
            <a:r>
              <a:rPr lang="en-US" sz="2200" dirty="0">
                <a:latin typeface="Miriam Fixed"/>
                <a:cs typeface="Miriam Fixed"/>
              </a:rPr>
              <a:t>history</a:t>
            </a:r>
            <a:r>
              <a:rPr lang="en-US" sz="2200" dirty="0">
                <a:latin typeface="Arial"/>
                <a:cs typeface="Arial"/>
              </a:rPr>
              <a:t> shows you commands you have previously typed</a:t>
            </a:r>
            <a:endParaRPr lang="en-US" dirty="0"/>
          </a:p>
          <a:p>
            <a:pPr marL="342900" indent="-342900">
              <a:buChar char="•"/>
            </a:pPr>
            <a:r>
              <a:rPr lang="en-US" dirty="0" err="1">
                <a:latin typeface="Miriam Fixed"/>
                <a:cs typeface="Arial"/>
              </a:rPr>
              <a:t>mkdir</a:t>
            </a:r>
            <a:r>
              <a:rPr lang="en-US" dirty="0">
                <a:latin typeface="Arial"/>
                <a:cs typeface="Arial"/>
              </a:rPr>
              <a:t> makes a directory</a:t>
            </a:r>
            <a:endParaRPr lang="en-US"/>
          </a:p>
          <a:p>
            <a:pPr marL="342900" indent="-342900">
              <a:buChar char="•"/>
            </a:pPr>
            <a:r>
              <a:rPr lang="en-US" err="1">
                <a:latin typeface="Miriam Fixed"/>
                <a:cs typeface="Arial"/>
              </a:rPr>
              <a:t>pwd</a:t>
            </a:r>
            <a:r>
              <a:rPr lang="en-US" dirty="0">
                <a:latin typeface="Arial"/>
                <a:cs typeface="Arial"/>
              </a:rPr>
              <a:t> prints the current directory</a:t>
            </a:r>
          </a:p>
          <a:p>
            <a:pPr marL="342900" indent="-342900">
              <a:buChar char="•"/>
            </a:pPr>
            <a:r>
              <a:rPr lang="en-US" dirty="0">
                <a:latin typeface="Miriam Fixed"/>
                <a:cs typeface="Arial"/>
              </a:rPr>
              <a:t>rm</a:t>
            </a:r>
            <a:r>
              <a:rPr lang="en-US" dirty="0">
                <a:latin typeface="Arial"/>
                <a:cs typeface="Arial"/>
              </a:rPr>
              <a:t> deletes a file or directory</a:t>
            </a:r>
            <a:endParaRPr lang="en-US" dirty="0"/>
          </a:p>
          <a:p>
            <a:pPr marL="342900" indent="-342900">
              <a:buChar char="•"/>
            </a:pPr>
            <a:r>
              <a:rPr lang="en-US" dirty="0">
                <a:latin typeface="Miriam Fixed"/>
                <a:cs typeface="Arial"/>
              </a:rPr>
              <a:t>mv</a:t>
            </a:r>
            <a:r>
              <a:rPr lang="en-US" dirty="0">
                <a:latin typeface="Arial"/>
                <a:cs typeface="Arial"/>
              </a:rPr>
              <a:t> moves or renames a file, cp copies a file</a:t>
            </a:r>
            <a:endParaRPr lang="en-US" dirty="0"/>
          </a:p>
          <a:p>
            <a:pPr marL="342900" indent="-342900">
              <a:buChar char="•"/>
            </a:pPr>
            <a:r>
              <a:rPr lang="en-US" dirty="0">
                <a:latin typeface="Miriam Fixed"/>
                <a:cs typeface="Arial"/>
              </a:rPr>
              <a:t>touch</a:t>
            </a:r>
            <a:r>
              <a:rPr lang="en-US" dirty="0">
                <a:latin typeface="Arial"/>
                <a:cs typeface="Arial"/>
              </a:rPr>
              <a:t> creates a file or updates its modification time if it exists</a:t>
            </a:r>
            <a:endParaRPr lang="en-US" dirty="0"/>
          </a:p>
          <a:p>
            <a:pPr marL="342900" indent="-342900">
              <a:buChar char="•"/>
            </a:pPr>
            <a:r>
              <a:rPr lang="en-US" dirty="0">
                <a:latin typeface="Miriam Fixed"/>
                <a:cs typeface="Arial"/>
              </a:rPr>
              <a:t>zip, unzip, tar, </a:t>
            </a:r>
            <a:r>
              <a:rPr lang="en-US" err="1">
                <a:latin typeface="Miriam Fixed"/>
                <a:cs typeface="Arial"/>
              </a:rPr>
              <a:t>gzip</a:t>
            </a:r>
            <a:r>
              <a:rPr lang="en-US" dirty="0">
                <a:latin typeface="Arial"/>
                <a:cs typeface="Arial"/>
              </a:rPr>
              <a:t> are all compression tools</a:t>
            </a:r>
            <a:endParaRPr lang="en-US" dirty="0"/>
          </a:p>
          <a:p>
            <a:pPr marL="342900" indent="-342900">
              <a:buChar char="•"/>
            </a:pPr>
            <a:r>
              <a:rPr lang="en-US" dirty="0" err="1">
                <a:latin typeface="Miriam Fixed"/>
                <a:cs typeface="Arial"/>
              </a:rPr>
              <a:t>valgrind</a:t>
            </a:r>
            <a:r>
              <a:rPr lang="en-US" dirty="0">
                <a:latin typeface="Miriam Fixed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checks your code for memory errors. Very useful for C/C++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har char="•"/>
            </a:pPr>
            <a:r>
              <a:rPr lang="en-US" dirty="0" err="1">
                <a:latin typeface="Miriam Fixed"/>
                <a:cs typeface="Arial"/>
              </a:rPr>
              <a:t>chmod</a:t>
            </a:r>
            <a:r>
              <a:rPr lang="en-US" dirty="0">
                <a:latin typeface="Arial"/>
                <a:cs typeface="Arial"/>
              </a:rPr>
              <a:t> changes file properties. Using </a:t>
            </a:r>
            <a:r>
              <a:rPr lang="en-US" dirty="0" err="1">
                <a:latin typeface="Miriam Fixed"/>
                <a:cs typeface="Arial"/>
              </a:rPr>
              <a:t>chmod</a:t>
            </a:r>
            <a:r>
              <a:rPr lang="en-US" dirty="0">
                <a:latin typeface="Miriam Fixed"/>
                <a:cs typeface="Arial"/>
              </a:rPr>
              <a:t> +x filename</a:t>
            </a:r>
            <a:r>
              <a:rPr lang="en-US" dirty="0">
                <a:latin typeface="Arial"/>
                <a:cs typeface="Arial"/>
              </a:rPr>
              <a:t> will mark a script file as an executable</a:t>
            </a:r>
            <a:endParaRPr lang="en-US" dirty="0">
              <a:latin typeface="Miriam Fixed"/>
            </a:endParaRPr>
          </a:p>
          <a:p>
            <a:pPr marL="342900" indent="-342900">
              <a:buChar char="•"/>
            </a:pPr>
            <a:endParaRPr lang="en-US" dirty="0"/>
          </a:p>
          <a:p>
            <a:pPr marL="342900" indent="-342900"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C86C0-570F-940B-0301-D5A4BFAA2E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348354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669AF6-8F55-D600-59F3-C33675EEE2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Common Linux Commands Cont.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F938F-7C0F-7FD0-2B85-0D44DA4D63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Char char="•"/>
            </a:pPr>
            <a:r>
              <a:rPr lang="en-US" dirty="0" err="1">
                <a:latin typeface="Miriam Fixed"/>
                <a:cs typeface="Arial"/>
              </a:rPr>
              <a:t>rsync</a:t>
            </a:r>
            <a:r>
              <a:rPr lang="en-US" dirty="0">
                <a:latin typeface="Arial"/>
                <a:cs typeface="Arial"/>
              </a:rPr>
              <a:t> copies files over ssh. Very useful when interacting with Vulcan and Sapelo2</a:t>
            </a:r>
          </a:p>
          <a:p>
            <a:pPr marL="342900" indent="-342900">
              <a:buFont typeface="Arial,Sans-Serif" panose="020B0604020202020204" pitchFamily="34" charset="0"/>
              <a:buChar char="•"/>
            </a:pPr>
            <a:r>
              <a:rPr lang="en-US" dirty="0">
                <a:latin typeface="Miriam Fixed"/>
                <a:cs typeface="Arial"/>
              </a:rPr>
              <a:t>sed</a:t>
            </a:r>
            <a:r>
              <a:rPr lang="en-US" dirty="0">
                <a:latin typeface="Arial"/>
                <a:cs typeface="Arial"/>
              </a:rPr>
              <a:t> is a powerful stream editor which can search and modify text</a:t>
            </a:r>
          </a:p>
          <a:p>
            <a:pPr marL="342900" indent="-342900">
              <a:buFont typeface="Arial,Sans-Serif" panose="020B0604020202020204" pitchFamily="34" charset="0"/>
              <a:buChar char="•"/>
            </a:pPr>
            <a:r>
              <a:rPr lang="en-US" dirty="0">
                <a:latin typeface="Miriam Fixed"/>
                <a:cs typeface="Arial"/>
              </a:rPr>
              <a:t>grep</a:t>
            </a:r>
            <a:r>
              <a:rPr lang="en-US" dirty="0">
                <a:latin typeface="Arial"/>
                <a:cs typeface="Arial"/>
              </a:rPr>
              <a:t> is a fast way of searching through files for matching text</a:t>
            </a:r>
          </a:p>
          <a:p>
            <a:pPr marL="342900" indent="-342900">
              <a:buFont typeface="Arial,Sans-Serif" panose="020B0604020202020204" pitchFamily="34" charset="0"/>
              <a:buChar char="•"/>
            </a:pPr>
            <a:r>
              <a:rPr lang="en-US" dirty="0">
                <a:latin typeface="Miriam Fixed"/>
                <a:cs typeface="Arial"/>
              </a:rPr>
              <a:t>find</a:t>
            </a:r>
            <a:r>
              <a:rPr lang="en-US" dirty="0">
                <a:latin typeface="Arial"/>
                <a:cs typeface="Arial"/>
              </a:rPr>
              <a:t> finds a file with a given name</a:t>
            </a:r>
          </a:p>
          <a:p>
            <a:pPr marL="342900" indent="-342900">
              <a:buFont typeface="Arial,Sans-Serif" panose="020B0604020202020204" pitchFamily="34" charset="0"/>
              <a:buChar char="•"/>
            </a:pPr>
            <a:r>
              <a:rPr lang="en-US" dirty="0" err="1">
                <a:latin typeface="Miriam Fixed"/>
                <a:cs typeface="Arial"/>
              </a:rPr>
              <a:t>sudo</a:t>
            </a:r>
            <a:r>
              <a:rPr lang="en-US" dirty="0">
                <a:latin typeface="Arial"/>
                <a:cs typeface="Arial"/>
              </a:rPr>
              <a:t> (pronounced </a:t>
            </a:r>
            <a:r>
              <a:rPr lang="en-US" dirty="0" err="1">
                <a:latin typeface="Arial"/>
                <a:cs typeface="Arial"/>
              </a:rPr>
              <a:t>soo</a:t>
            </a:r>
            <a:r>
              <a:rPr lang="en-US" dirty="0">
                <a:latin typeface="Arial"/>
                <a:cs typeface="Arial"/>
              </a:rPr>
              <a:t>-doo) runs a command as superuser, or administrator in Windows terminology</a:t>
            </a:r>
          </a:p>
          <a:p>
            <a:pPr marL="342900" indent="-342900">
              <a:buFont typeface="Arial,Sans-Serif" panose="020B0604020202020204" pitchFamily="34" charset="0"/>
              <a:buChar char="•"/>
            </a:pPr>
            <a:r>
              <a:rPr lang="en-US" dirty="0">
                <a:latin typeface="Miriam Fixed"/>
                <a:cs typeface="Arial"/>
              </a:rPr>
              <a:t>exit</a:t>
            </a:r>
            <a:r>
              <a:rPr lang="en-US" dirty="0">
                <a:latin typeface="Arial"/>
                <a:cs typeface="Arial"/>
              </a:rPr>
              <a:t> exits your shell. If using SSH, it disconnects your session and returns you to a local terminal</a:t>
            </a:r>
          </a:p>
          <a:p>
            <a:pPr marL="342900" indent="-342900">
              <a:buFont typeface="Arial,Sans-Serif" panose="020B0604020202020204" pitchFamily="34" charset="0"/>
              <a:buChar char="•"/>
            </a:pPr>
            <a:r>
              <a:rPr lang="en-US" sz="2000" dirty="0">
                <a:latin typeface="Miriam Fixed"/>
                <a:cs typeface="Miriam Fixed"/>
              </a:rPr>
              <a:t>cat</a:t>
            </a:r>
            <a:r>
              <a:rPr lang="en-US" sz="2000" dirty="0">
                <a:latin typeface="Arial"/>
                <a:cs typeface="Arial"/>
              </a:rPr>
              <a:t> prints the contents of a file to </a:t>
            </a:r>
            <a:r>
              <a:rPr lang="en-US" sz="2000" dirty="0" err="1">
                <a:latin typeface="Arial"/>
                <a:cs typeface="Arial"/>
              </a:rPr>
              <a:t>stdout</a:t>
            </a:r>
            <a:endParaRPr lang="en-US" sz="2000" dirty="0">
              <a:latin typeface="Arial"/>
              <a:cs typeface="Arial"/>
            </a:endParaRPr>
          </a:p>
          <a:p>
            <a:pPr marL="342900" indent="-342900">
              <a:buFont typeface="Arial,Sans-Serif" panose="020B0604020202020204" pitchFamily="34" charset="0"/>
              <a:buChar char="•"/>
            </a:pPr>
            <a:r>
              <a:rPr lang="en-US" sz="2000" dirty="0">
                <a:latin typeface="Miriam Fixed"/>
                <a:cs typeface="Miriam Fixed"/>
              </a:rPr>
              <a:t>top</a:t>
            </a:r>
            <a:r>
              <a:rPr lang="en-US" sz="2000" dirty="0">
                <a:latin typeface="Arial"/>
                <a:cs typeface="Arial"/>
              </a:rPr>
              <a:t> and </a:t>
            </a:r>
            <a:r>
              <a:rPr lang="en-US" sz="2000" err="1">
                <a:latin typeface="Miriam Fixed"/>
                <a:cs typeface="Miriam Fixed"/>
              </a:rPr>
              <a:t>htop</a:t>
            </a:r>
            <a:r>
              <a:rPr lang="en-US" sz="2000" dirty="0">
                <a:latin typeface="Arial"/>
                <a:cs typeface="Arial"/>
              </a:rPr>
              <a:t> show user processes. </a:t>
            </a:r>
            <a:r>
              <a:rPr lang="en-US" sz="2000" err="1">
                <a:latin typeface="Miriam Fixed"/>
                <a:cs typeface="Miriam Fixed"/>
              </a:rPr>
              <a:t>htop</a:t>
            </a:r>
            <a:r>
              <a:rPr lang="en-US" sz="2000" dirty="0">
                <a:latin typeface="Arial"/>
                <a:cs typeface="Arial"/>
              </a:rPr>
              <a:t> is prettier, but </a:t>
            </a:r>
            <a:r>
              <a:rPr lang="en-US" sz="2000" dirty="0">
                <a:latin typeface="Miriam Fixed"/>
                <a:cs typeface="Arial"/>
              </a:rPr>
              <a:t>top</a:t>
            </a:r>
            <a:r>
              <a:rPr lang="en-US" sz="2000" dirty="0">
                <a:latin typeface="Arial"/>
                <a:cs typeface="Arial"/>
              </a:rPr>
              <a:t> is always installed</a:t>
            </a:r>
          </a:p>
          <a:p>
            <a:pPr marL="1028700" lvl="1" indent="-342900">
              <a:buFont typeface="Courier New,monospace" panose="020B0604020202020204" pitchFamily="34" charset="0"/>
              <a:buChar char="o"/>
            </a:pPr>
            <a:r>
              <a:rPr lang="en-US" sz="2000" dirty="0">
                <a:latin typeface="Arial"/>
                <a:cs typeface="Arial"/>
              </a:rPr>
              <a:t>Can also be done using </a:t>
            </a:r>
            <a:r>
              <a:rPr lang="en-US" sz="2000" dirty="0" err="1">
                <a:latin typeface="Miriam Fixed"/>
                <a:cs typeface="Miriam Fixed"/>
              </a:rPr>
              <a:t>ps</a:t>
            </a:r>
            <a:r>
              <a:rPr lang="en-US" sz="2000" dirty="0">
                <a:latin typeface="Miriam Fixed"/>
                <a:cs typeface="Miriam Fixed"/>
              </a:rPr>
              <a:t> –</a:t>
            </a:r>
            <a:r>
              <a:rPr lang="en-US" sz="2000" dirty="0" err="1">
                <a:latin typeface="Miriam Fixed"/>
                <a:cs typeface="Miriam Fixed"/>
              </a:rPr>
              <a:t>eap</a:t>
            </a:r>
            <a:r>
              <a:rPr lang="en-US" sz="2000" dirty="0">
                <a:latin typeface="Arial"/>
                <a:cs typeface="Arial"/>
              </a:rPr>
              <a:t>, but it doesn't update</a:t>
            </a:r>
            <a:endParaRPr lang="en-US" dirty="0">
              <a:cs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F7F45-E6C7-F256-824B-2964CE46DC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1838431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14DEF-AFA3-5A9D-5AAD-681848A7BE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Command Screenshots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190B5-1711-34D6-3704-DB43D2DCBF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6DBDA9-C263-9F5A-E327-4007C4A1DE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Linux and Bash Scripting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1D63B11-BD16-5B62-3CBA-BEE929BE0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56" y="1383820"/>
            <a:ext cx="3390316" cy="2102690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E059DF8-B32F-C25F-8E86-BB197EB6C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669" y="1380226"/>
            <a:ext cx="3426258" cy="2106284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CBC90BF-411E-E4A3-087B-B7FC93598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281" y="1380225"/>
            <a:ext cx="3433446" cy="2106284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6FB971B1-FD0E-4F96-8713-4D4C89327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56" y="3727330"/>
            <a:ext cx="3390316" cy="2088312"/>
          </a:xfrm>
          <a:prstGeom prst="rect">
            <a:avLst/>
          </a:prstGeom>
        </p:spPr>
      </p:pic>
      <p:pic>
        <p:nvPicPr>
          <p:cNvPr id="11" name="Picture 10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D3A803E-9C27-5AE0-0037-0E7760CB7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669" y="3727330"/>
            <a:ext cx="3408287" cy="2088312"/>
          </a:xfrm>
          <a:prstGeom prst="rect">
            <a:avLst/>
          </a:prstGeo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DFAFB0A4-CC73-8A28-B073-0E4FFC0678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3282" y="3727330"/>
            <a:ext cx="3411882" cy="208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78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9305E7-BD67-A335-5D94-AC783B31DA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More Screenshots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1DC17-E2B9-FBDD-0F4C-BC4CEE86F0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115BE-17FE-BC56-33B3-29B25FA191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DB23BB5-30C3-CAAD-E1ED-7AC14233B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10" y="1932495"/>
            <a:ext cx="3733483" cy="2301713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E8D957A-9893-E9B0-D291-FA97A2144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491" y="1932495"/>
            <a:ext cx="3741339" cy="2301713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09B4C6D-D53A-FC99-67E8-86AE1AD1C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667" y="1932495"/>
            <a:ext cx="3780616" cy="230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856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FDBF13-4D93-12A4-7B5C-FFD270DD75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Less Common Linux Commands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4DE52-5A8B-C18F-19E8-B90664D7B8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 err="1">
                <a:latin typeface="Miriam Fixed"/>
                <a:cs typeface="Arial"/>
              </a:rPr>
              <a:t>sl</a:t>
            </a:r>
            <a:r>
              <a:rPr lang="en-US" dirty="0">
                <a:latin typeface="Arial"/>
                <a:cs typeface="Arial"/>
              </a:rPr>
              <a:t> gives a steam locomotive</a:t>
            </a:r>
          </a:p>
          <a:p>
            <a:pPr marL="342900" indent="-342900">
              <a:buChar char="•"/>
            </a:pPr>
            <a:r>
              <a:rPr lang="en-US" err="1">
                <a:latin typeface="Miriam Fixed"/>
                <a:cs typeface="Arial"/>
              </a:rPr>
              <a:t>cowsay</a:t>
            </a:r>
            <a:r>
              <a:rPr lang="en-US" dirty="0">
                <a:latin typeface="Arial"/>
                <a:cs typeface="Arial"/>
              </a:rPr>
              <a:t> is like echo, but a cow says your message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58774D-8866-41F7-78D5-A30B0E3A39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FEE6086-3988-7209-70A5-8FBA5A2B2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5" y="2674189"/>
            <a:ext cx="4669900" cy="2886255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7FC59F8E-3802-4EBC-321E-E477EA885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697" y="2674189"/>
            <a:ext cx="4684278" cy="288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8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CB2000-3CE7-1BAA-C238-7E5221C7C0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Special Directories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2DAAE-7A49-9310-2D7D-AA7B188C51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When typing directories, there are three special directories that are always available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A single period (.) represents the current directory. It can be used to distinguish between directories like </a:t>
            </a:r>
            <a:r>
              <a:rPr lang="en-US" dirty="0">
                <a:latin typeface="Miriam Fixed"/>
                <a:cs typeface="Arial"/>
              </a:rPr>
              <a:t>/bin</a:t>
            </a:r>
            <a:r>
              <a:rPr lang="en-US" dirty="0">
                <a:latin typeface="Arial"/>
                <a:cs typeface="Arial"/>
              </a:rPr>
              <a:t>, a system directory, and </a:t>
            </a:r>
            <a:r>
              <a:rPr lang="en-US" dirty="0">
                <a:latin typeface="Miriam Fixed"/>
                <a:cs typeface="Arial"/>
              </a:rPr>
              <a:t>./bin</a:t>
            </a:r>
            <a:r>
              <a:rPr lang="en-US" dirty="0">
                <a:latin typeface="Arial"/>
                <a:cs typeface="Arial"/>
              </a:rPr>
              <a:t>, a directory of the same name, but within the current directory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Two periods (..) represents the directory one level up. For instance, if you are in </a:t>
            </a:r>
            <a:r>
              <a:rPr lang="en-US" dirty="0">
                <a:latin typeface="Miriam Fixed"/>
                <a:cs typeface="Arial"/>
              </a:rPr>
              <a:t>/</a:t>
            </a:r>
            <a:r>
              <a:rPr lang="en-US" dirty="0" err="1">
                <a:latin typeface="Miriam Fixed"/>
                <a:cs typeface="Arial"/>
              </a:rPr>
              <a:t>usr</a:t>
            </a:r>
            <a:r>
              <a:rPr lang="en-US" dirty="0">
                <a:latin typeface="Miriam Fixed"/>
                <a:cs typeface="Arial"/>
              </a:rPr>
              <a:t>/lib</a:t>
            </a:r>
            <a:r>
              <a:rPr lang="en-US" dirty="0">
                <a:latin typeface="Arial"/>
                <a:cs typeface="Arial"/>
              </a:rPr>
              <a:t>, then </a:t>
            </a:r>
            <a:r>
              <a:rPr lang="en-US" dirty="0">
                <a:latin typeface="Miriam Fixed"/>
                <a:cs typeface="Arial"/>
              </a:rPr>
              <a:t>cd ..</a:t>
            </a:r>
            <a:r>
              <a:rPr lang="en-US" dirty="0">
                <a:latin typeface="Arial"/>
                <a:cs typeface="Arial"/>
              </a:rPr>
              <a:t> will place you into </a:t>
            </a:r>
            <a:r>
              <a:rPr lang="en-US" dirty="0">
                <a:latin typeface="Miriam Fixed"/>
                <a:cs typeface="Arial"/>
              </a:rPr>
              <a:t>/</a:t>
            </a:r>
            <a:r>
              <a:rPr lang="en-US" dirty="0" err="1">
                <a:latin typeface="Miriam Fixed"/>
                <a:cs typeface="Arial"/>
              </a:rPr>
              <a:t>usr</a:t>
            </a:r>
            <a:endParaRPr lang="en-US" dirty="0">
              <a:latin typeface="Miriam Fixed"/>
              <a:cs typeface="Arial"/>
            </a:endParaRP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The tilde (~) represents your home directory, no matter where you are. For instance, you can access your documents from </a:t>
            </a:r>
            <a:r>
              <a:rPr lang="en-US" dirty="0">
                <a:latin typeface="Miriam Fixed"/>
                <a:cs typeface="Arial"/>
              </a:rPr>
              <a:t>~/Documents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There is also a single slash (/) which refers to the top-level, or root directory. It contains system directories like </a:t>
            </a:r>
            <a:r>
              <a:rPr lang="en-US" dirty="0">
                <a:latin typeface="Miriam Fixed"/>
                <a:cs typeface="Arial"/>
              </a:rPr>
              <a:t>/bin, /dev, /home, /</a:t>
            </a:r>
            <a:r>
              <a:rPr lang="en-US" dirty="0" err="1">
                <a:latin typeface="Miriam Fixed"/>
                <a:cs typeface="Arial"/>
              </a:rPr>
              <a:t>etc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A9A82-367C-2F8A-3850-A600CFF7B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576969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F02369-82AC-A319-FE3D-8BE4E02A8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Running Commands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61A99-2192-34CB-A953-51D0B3586A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To run a command, simply type the name of the command, followed by any arguments that command takes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To view the possible arguments, use </a:t>
            </a:r>
            <a:r>
              <a:rPr lang="en-US" dirty="0">
                <a:latin typeface="Miriam Fixed"/>
                <a:cs typeface="Arial"/>
              </a:rPr>
              <a:t>man</a:t>
            </a:r>
            <a:r>
              <a:rPr lang="en-US" dirty="0">
                <a:latin typeface="Arial"/>
                <a:cs typeface="Arial"/>
              </a:rPr>
              <a:t> to pull up the manual page for the command. Another common way is to pass either </a:t>
            </a:r>
            <a:r>
              <a:rPr lang="en-US" dirty="0">
                <a:latin typeface="Miriam Fixed"/>
                <a:cs typeface="Arial"/>
              </a:rPr>
              <a:t>-h, --help, </a:t>
            </a:r>
            <a:r>
              <a:rPr lang="en-US" dirty="0">
                <a:latin typeface="Arial"/>
                <a:cs typeface="Arial"/>
              </a:rPr>
              <a:t>or </a:t>
            </a:r>
            <a:r>
              <a:rPr lang="en-US" dirty="0">
                <a:latin typeface="Miriam Fixed"/>
                <a:cs typeface="Arial"/>
              </a:rPr>
              <a:t>-? </a:t>
            </a:r>
            <a:r>
              <a:rPr lang="en-US" dirty="0">
                <a:latin typeface="Arial"/>
                <a:cs typeface="Arial"/>
              </a:rPr>
              <a:t>which are common help flags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To stop a command:</a:t>
            </a: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 err="1">
                <a:latin typeface="Arial"/>
                <a:cs typeface="Arial"/>
              </a:rPr>
              <a:t>Ctrl+z</a:t>
            </a:r>
            <a:r>
              <a:rPr lang="en-US" dirty="0">
                <a:latin typeface="Arial"/>
                <a:cs typeface="Arial"/>
              </a:rPr>
              <a:t> pauses the execution. It can be continued with either </a:t>
            </a:r>
            <a:r>
              <a:rPr lang="en-US" dirty="0" err="1">
                <a:latin typeface="Miriam Fixed"/>
                <a:cs typeface="Arial"/>
              </a:rPr>
              <a:t>fg</a:t>
            </a:r>
            <a:r>
              <a:rPr lang="en-US" dirty="0">
                <a:latin typeface="Arial"/>
                <a:cs typeface="Arial"/>
              </a:rPr>
              <a:t> or </a:t>
            </a:r>
            <a:r>
              <a:rPr lang="en-US" dirty="0" err="1">
                <a:latin typeface="Miriam Fixed"/>
                <a:cs typeface="Arial"/>
              </a:rPr>
              <a:t>bg</a:t>
            </a:r>
            <a:endParaRPr lang="en-US" dirty="0">
              <a:latin typeface="Miriam Fixed"/>
              <a:cs typeface="Arial"/>
            </a:endParaRP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 err="1">
                <a:latin typeface="Arial"/>
                <a:cs typeface="Arial"/>
              </a:rPr>
              <a:t>Ctrl+x</a:t>
            </a:r>
            <a:r>
              <a:rPr lang="en-US" dirty="0">
                <a:latin typeface="Arial"/>
                <a:cs typeface="Arial"/>
              </a:rPr>
              <a:t> politely asks a program to stop, but is often ignored</a:t>
            </a:r>
            <a:endParaRPr lang="en-US">
              <a:latin typeface="Miriam Fixed"/>
              <a:cs typeface="Arial"/>
            </a:endParaRP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 err="1">
                <a:latin typeface="Arial"/>
                <a:cs typeface="Arial"/>
              </a:rPr>
              <a:t>Ctrl+c</a:t>
            </a:r>
            <a:r>
              <a:rPr lang="en-US" dirty="0">
                <a:latin typeface="Arial"/>
                <a:cs typeface="Arial"/>
              </a:rPr>
              <a:t> kills a program dead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0FBE2B-7851-4BC5-CCA2-A1D663E1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3614230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90806D-DADF-86B8-9911-6978E94C8A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Advanced Command Execution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482C4-9585-E2C7-9EA3-EF65672EEF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Pipes are a way to transfer the output from one command to the input of another. This is done using the vertical bar (|)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The output of a command can be interpreted as text on the shell by surrounding the command either by back-ticks (`) or a dollar sign and parentheses. The back-tick is different from the apostrophe. Examples will be given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Typing exclamation points recalls previous commands and inserts them into the shell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Commands can be run in the background by placing a single ampersand at the end of the 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D2582-773B-FF29-C8EB-F039189D37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2012667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6AE02C-4528-09DB-32F0-054C63D861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Advanced Command Execution cont.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3D6BF-8919-4E9F-775E-02CFFFE0E3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The output of a command can be placed into a file by using the greater-than symbol and can be read from a file by using the less-than symbol. 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The special device </a:t>
            </a:r>
            <a:r>
              <a:rPr lang="en-US" dirty="0">
                <a:latin typeface="Miriam Fixed"/>
                <a:cs typeface="Arial"/>
              </a:rPr>
              <a:t>/dev/null</a:t>
            </a:r>
            <a:r>
              <a:rPr lang="en-US" dirty="0">
                <a:latin typeface="Arial"/>
                <a:cs typeface="Arial"/>
              </a:rPr>
              <a:t> acts like a trash can for command output if you want to silence a command. Reading from it always gives null bytes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The special devices </a:t>
            </a:r>
            <a:r>
              <a:rPr lang="en-US" dirty="0">
                <a:latin typeface="Miriam Fixed"/>
                <a:cs typeface="Arial"/>
              </a:rPr>
              <a:t>/dev/random</a:t>
            </a:r>
            <a:r>
              <a:rPr lang="en-US" dirty="0">
                <a:latin typeface="Arial"/>
                <a:cs typeface="Arial"/>
              </a:rPr>
              <a:t> and </a:t>
            </a:r>
            <a:r>
              <a:rPr lang="en-US" dirty="0">
                <a:latin typeface="Miriam Fixed"/>
                <a:cs typeface="Arial"/>
              </a:rPr>
              <a:t>/dev/</a:t>
            </a:r>
            <a:r>
              <a:rPr lang="en-US" dirty="0" err="1">
                <a:latin typeface="Miriam Fixed"/>
                <a:cs typeface="Arial"/>
              </a:rPr>
              <a:t>urandom</a:t>
            </a:r>
            <a:r>
              <a:rPr lang="en-US" dirty="0">
                <a:latin typeface="Arial"/>
                <a:cs typeface="Arial"/>
              </a:rPr>
              <a:t> provide a random stream of bytes. The difference between the two is not important now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Commands can be strung together using </a:t>
            </a:r>
            <a:r>
              <a:rPr lang="en-US" dirty="0">
                <a:latin typeface="Miriam Fixed"/>
                <a:cs typeface="Arial"/>
              </a:rPr>
              <a:t>&amp;&amp;</a:t>
            </a:r>
            <a:r>
              <a:rPr lang="en-US" dirty="0">
                <a:latin typeface="Arial"/>
                <a:cs typeface="Arial"/>
              </a:rPr>
              <a:t> or </a:t>
            </a:r>
            <a:r>
              <a:rPr lang="en-US" dirty="0">
                <a:latin typeface="Miriam Fixed"/>
                <a:cs typeface="Arial"/>
              </a:rPr>
              <a:t>||</a:t>
            </a:r>
            <a:endParaRPr lang="en-US" dirty="0">
              <a:latin typeface="Miriam Fixed"/>
            </a:endParaRP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>
                <a:latin typeface="Miriam Fixed"/>
                <a:cs typeface="Calibri"/>
              </a:rPr>
              <a:t>&amp;&amp;</a:t>
            </a:r>
            <a:r>
              <a:rPr lang="en-US" dirty="0">
                <a:cs typeface="Calibri"/>
              </a:rPr>
              <a:t> continues on to the next command on success</a:t>
            </a: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>
                <a:latin typeface="Miriam Fixed"/>
                <a:cs typeface="Calibri"/>
              </a:rPr>
              <a:t>||</a:t>
            </a:r>
            <a:r>
              <a:rPr lang="en-US" dirty="0">
                <a:latin typeface="Calibri"/>
                <a:cs typeface="Calibri"/>
              </a:rPr>
              <a:t> continues on to the next command on failure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libri"/>
              <a:cs typeface="Calibri"/>
            </a:endParaRPr>
          </a:p>
          <a:p>
            <a:pPr marL="342900" indent="-342900"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1DCBB-3FCC-225D-3468-27826F5D23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3444741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683A85-245A-7F70-6F9E-1858E5FCF8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Examples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61786-441E-5D26-32D8-B6FE4D5DED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D8409-0141-E514-EC88-7FDF24E035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CCACCEA6-0D47-9265-2553-8E24DE3AA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372" y="1380226"/>
            <a:ext cx="3317577" cy="2045106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69007058-C729-9F6F-54B2-7356FD549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10" y="1378670"/>
            <a:ext cx="3423183" cy="2077826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8CCD4D64-7D2F-A254-0CD0-905913828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223" y="1378670"/>
            <a:ext cx="3321059" cy="2050330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6D076DE2-630F-E308-1CD7-6F70509CC0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10" y="3700021"/>
            <a:ext cx="3423183" cy="2113176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1CB22077-B1B1-0ACA-C392-ED23A0DC8E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7595" y="3700021"/>
            <a:ext cx="3317132" cy="204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634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D981EF-0F76-D842-737F-EA6E05F99B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Advanced Command No-No's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75F1F-50FC-2F01-ED36-8919A08BDA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Never leave yourself logged in as root. If you ever use the </a:t>
            </a:r>
            <a:r>
              <a:rPr lang="en-US" dirty="0" err="1">
                <a:latin typeface="Miriam Fixed"/>
                <a:cs typeface="Arial"/>
              </a:rPr>
              <a:t>su</a:t>
            </a:r>
            <a:r>
              <a:rPr lang="en-US" dirty="0">
                <a:latin typeface="Arial"/>
                <a:cs typeface="Arial"/>
              </a:rPr>
              <a:t> command or </a:t>
            </a:r>
            <a:r>
              <a:rPr lang="en-US" dirty="0" err="1">
                <a:latin typeface="Miriam Fixed"/>
                <a:cs typeface="Arial"/>
              </a:rPr>
              <a:t>sudo</a:t>
            </a:r>
            <a:r>
              <a:rPr lang="en-US" dirty="0">
                <a:latin typeface="Miriam Fixed"/>
                <a:cs typeface="Arial"/>
              </a:rPr>
              <a:t> –s</a:t>
            </a:r>
            <a:r>
              <a:rPr lang="en-US" dirty="0">
                <a:latin typeface="Arial"/>
                <a:cs typeface="Arial"/>
              </a:rPr>
              <a:t>, always remember to type </a:t>
            </a:r>
            <a:r>
              <a:rPr lang="en-US" dirty="0">
                <a:latin typeface="Miriam Fixed"/>
                <a:cs typeface="Arial"/>
              </a:rPr>
              <a:t>exit</a:t>
            </a:r>
            <a:r>
              <a:rPr lang="en-US" dirty="0">
                <a:latin typeface="Arial"/>
                <a:cs typeface="Arial"/>
              </a:rPr>
              <a:t> when you are finished.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Avoid commands like </a:t>
            </a:r>
            <a:r>
              <a:rPr lang="en-US" dirty="0">
                <a:latin typeface="Miriam Fixed"/>
                <a:cs typeface="Arial"/>
              </a:rPr>
              <a:t>yes</a:t>
            </a:r>
            <a:r>
              <a:rPr lang="en-US" dirty="0">
                <a:latin typeface="Arial"/>
                <a:cs typeface="Arial"/>
              </a:rPr>
              <a:t>. It may make installations faster, but you will skip all messages meant to avoid accidentally borking your system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Never use the </a:t>
            </a:r>
            <a:r>
              <a:rPr lang="en-US" dirty="0">
                <a:latin typeface="Miriam Fixed"/>
                <a:cs typeface="Arial"/>
              </a:rPr>
              <a:t>dd</a:t>
            </a:r>
            <a:r>
              <a:rPr lang="en-US" dirty="0">
                <a:latin typeface="Arial"/>
                <a:cs typeface="Arial"/>
              </a:rPr>
              <a:t> command unless you are absolutely sure you know what you are doing and are at peace if you overwrite your main hard drive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3A56E-666B-11B3-E8CE-69C1F5BF02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4226371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414405-5930-D0A1-20F4-91FABB013E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Git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FA368-A7D0-B0D2-6377-8601545948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When we develop code, we will often use software known as Git to manage changes and </a:t>
            </a:r>
            <a:r>
              <a:rPr lang="en-US">
                <a:latin typeface="Arial"/>
                <a:cs typeface="Arial"/>
              </a:rPr>
              <a:t>versioning.</a:t>
            </a:r>
            <a:endParaRPr lang="en-US"/>
          </a:p>
          <a:p>
            <a:pPr marL="342900" indent="-342900">
              <a:buChar char="•"/>
            </a:pPr>
            <a:r>
              <a:rPr lang="en-US">
                <a:latin typeface="Arial"/>
                <a:cs typeface="Arial"/>
              </a:rPr>
              <a:t>Git has a client-side program, which can be accessed from the command line using the </a:t>
            </a:r>
            <a:r>
              <a:rPr lang="en-US">
                <a:latin typeface="Miriam Fixed"/>
                <a:cs typeface="Miriam Fixed"/>
              </a:rPr>
              <a:t>git </a:t>
            </a:r>
            <a:r>
              <a:rPr lang="en-US">
                <a:latin typeface="Arial"/>
                <a:ea typeface="Calibri"/>
                <a:cs typeface="Arial"/>
              </a:rPr>
              <a:t>command.</a:t>
            </a:r>
          </a:p>
          <a:p>
            <a:pPr marL="342900" indent="-342900"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There are also several websites that can store remote Git repositories. Popular ones are: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ea typeface="Calibri"/>
                <a:cs typeface="Arial"/>
              </a:rPr>
              <a:t>GitHub: free, good choice for individuals and small organizations.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>
                <a:latin typeface="Arial"/>
                <a:ea typeface="Calibri"/>
                <a:cs typeface="Arial"/>
              </a:rPr>
              <a:t>GitLab: paid, better tools than GitHub, better for large organizations.</a:t>
            </a:r>
            <a:endParaRPr lang="en-US" dirty="0">
              <a:latin typeface="Arial"/>
              <a:ea typeface="Calibri"/>
              <a:cs typeface="Arial"/>
            </a:endParaRPr>
          </a:p>
          <a:p>
            <a:pPr marL="1028700" lvl="1" indent="-342900">
              <a:buFont typeface="Courier New" panose="020B0604020202020204" pitchFamily="34" charset="0"/>
              <a:buChar char="o"/>
            </a:pPr>
            <a:endParaRPr lang="en-US" dirty="0">
              <a:latin typeface="Arial"/>
              <a:ea typeface="Calibri"/>
              <a:cs typeface="Arial"/>
            </a:endParaRPr>
          </a:p>
          <a:p>
            <a:pPr marL="1028700" lvl="1" indent="-342900">
              <a:buFont typeface="Courier New" panose="020B0604020202020204" pitchFamily="34" charset="0"/>
              <a:buChar char="o"/>
            </a:pPr>
            <a:endParaRPr lang="en-US">
              <a:latin typeface="Arial"/>
              <a:ea typeface="Calibri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6A87A-3118-E8BE-0ACF-643694E1C9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949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CD2D0D-C55D-9494-1807-2BDD819404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Terminology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A8A12-8001-CCAA-4167-B9B57EC98A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>
                <a:latin typeface="Arial"/>
                <a:cs typeface="Arial"/>
              </a:rPr>
              <a:t>A collection of code is called a repository.</a:t>
            </a:r>
            <a:endParaRPr lang="en-US"/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Repositories can have many concurrent versions called branches. Some branches contain older versions of the code, while others are for changes to the main codebase.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Every repository has a main branch (previously called the master branch) where</a:t>
            </a:r>
            <a:r>
              <a:rPr lang="en-US">
                <a:latin typeface="Arial"/>
                <a:cs typeface="Arial"/>
              </a:rPr>
              <a:t> the current form of the code is stored.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To make changes to a repository, you should first make a fork of it. This is a</a:t>
            </a:r>
            <a:r>
              <a:rPr lang="en-US">
                <a:latin typeface="Arial"/>
                <a:cs typeface="Arial"/>
              </a:rPr>
              <a:t> personal copy of the repository that is separate from the main repository.</a:t>
            </a:r>
            <a:endParaRPr lang="en-US" dirty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Then, you can make a branch to add your changes.</a:t>
            </a:r>
            <a:endParaRPr lang="en-US" dirty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Once you have made your changes, you can create a pull request (or PR) to merge your changes into the main branch of the parent repository.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BA401D-CEC8-8A5C-53EC-5A3F44A42A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02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B4D3F5-5C4B-D8B7-2BD3-505C287AC9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Git</a:t>
            </a:r>
            <a:r>
              <a:rPr lang="en-US" dirty="0">
                <a:latin typeface="Arial"/>
                <a:cs typeface="Arial"/>
              </a:rPr>
              <a:t> Workflow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DC766-602B-6A59-53DF-63EEE0722E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187C8-D4E4-002D-5613-772DDB7810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8923" y="6384666"/>
            <a:ext cx="5918611" cy="33072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Arial"/>
                <a:cs typeface="Arial"/>
              </a:rPr>
              <a:t>From </a:t>
            </a:r>
            <a:r>
              <a:rPr lang="en-US" b="0">
                <a:latin typeface="Arial"/>
                <a:cs typeface="Arial"/>
              </a:rPr>
              <a:t>https://psicode.org/psi4manual/master/build_obtaining.html</a:t>
            </a:r>
            <a:endParaRPr lang="en-US"/>
          </a:p>
        </p:txBody>
      </p:sp>
      <p:pic>
        <p:nvPicPr>
          <p:cNvPr id="5" name="Picture 4" descr="_images/prflow.001.jpeg">
            <a:extLst>
              <a:ext uri="{FF2B5EF4-FFF2-40B4-BE49-F238E27FC236}">
                <a16:creationId xmlns:a16="http://schemas.microsoft.com/office/drawing/2014/main" id="{F1414F1A-2E6E-83C7-9C57-623495803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176" y="1113388"/>
            <a:ext cx="6625057" cy="497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25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7FA586-6251-01AF-966A-E7EF5D562A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Git Workflow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AC253-6D5D-1737-5055-18EE0A07E8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>
                <a:latin typeface="Arial"/>
                <a:cs typeface="Arial"/>
              </a:rPr>
              <a:t>To make a change to a repository, start by making a fork.</a:t>
            </a:r>
            <a:endParaRPr lang="en-US" dirty="0"/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If it's your own repo, then this step is not necessary.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Then, make a branch on your fork for the change. Never push directly to main.</a:t>
            </a:r>
            <a:endParaRPr lang="en-US" dirty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Clone your </a:t>
            </a:r>
            <a:r>
              <a:rPr lang="en-US">
                <a:latin typeface="Arial"/>
                <a:cs typeface="Arial"/>
              </a:rPr>
              <a:t>repository on your local machine.</a:t>
            </a:r>
            <a:endParaRPr lang="en-US" dirty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Add your changes with commits.</a:t>
            </a:r>
            <a:endParaRPr lang="en-US" dirty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Push those commits to the upstream branch on GitHub, GitLab, etc.</a:t>
            </a:r>
            <a:endParaRPr lang="en-US" dirty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To merge your changes into main, make a pull request.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As you add commits to your branch, your pull request will update.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Once your changes have been merged, you can delete your branch.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C13B4-4D57-233E-8311-DD4246B947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3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F77A33-A75B-3B91-3E94-8ABB7BE53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Git Commands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9FF32-4844-8D5F-B643-18626BC33D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Use </a:t>
            </a:r>
            <a:r>
              <a:rPr lang="en-US" dirty="0">
                <a:latin typeface="Miriam Fixed"/>
                <a:cs typeface="Miriam Fixed"/>
              </a:rPr>
              <a:t>git add </a:t>
            </a:r>
            <a:r>
              <a:rPr lang="en-US" dirty="0">
                <a:latin typeface="Arial"/>
                <a:ea typeface="Calibri"/>
                <a:cs typeface="Arial"/>
              </a:rPr>
              <a:t>to mark changes as </a:t>
            </a:r>
            <a:r>
              <a:rPr lang="en-US" dirty="0" err="1">
                <a:latin typeface="Arial"/>
                <a:ea typeface="Calibri"/>
                <a:cs typeface="Arial"/>
              </a:rPr>
              <a:t>commitable</a:t>
            </a:r>
            <a:r>
              <a:rPr lang="en-US" dirty="0">
                <a:latin typeface="Arial"/>
                <a:ea typeface="Calibri"/>
                <a:cs typeface="Arial"/>
              </a:rPr>
              <a:t>.</a:t>
            </a:r>
          </a:p>
          <a:p>
            <a:pPr marL="342900" indent="-342900"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Use </a:t>
            </a:r>
            <a:r>
              <a:rPr lang="en-US">
                <a:latin typeface="Miriam Fixed"/>
                <a:ea typeface="Calibri"/>
                <a:cs typeface="Miriam Fixed"/>
              </a:rPr>
              <a:t>git blame</a:t>
            </a:r>
            <a:r>
              <a:rPr lang="en-US">
                <a:latin typeface="Arial"/>
                <a:ea typeface="Calibri"/>
                <a:cs typeface="Arial"/>
              </a:rPr>
              <a:t> to see who made certain changes.</a:t>
            </a:r>
          </a:p>
          <a:p>
            <a:pPr marL="342900" indent="-342900"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Use </a:t>
            </a:r>
            <a:r>
              <a:rPr lang="en-US">
                <a:latin typeface="Miriam Fixed"/>
                <a:ea typeface="Calibri"/>
                <a:cs typeface="Miriam Fixed"/>
              </a:rPr>
              <a:t>git checkout </a:t>
            </a:r>
            <a:r>
              <a:rPr lang="en-US">
                <a:latin typeface="Arial"/>
                <a:ea typeface="Calibri"/>
                <a:cs typeface="Arial"/>
              </a:rPr>
              <a:t>to switch to a branch.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ea typeface="Calibri"/>
                <a:cs typeface="Arial"/>
              </a:rPr>
              <a:t>Use </a:t>
            </a:r>
            <a:r>
              <a:rPr lang="en-US" dirty="0">
                <a:latin typeface="Miriam Fixed"/>
                <a:ea typeface="Calibri"/>
                <a:cs typeface="Miriam Fixed"/>
              </a:rPr>
              <a:t>git branch </a:t>
            </a:r>
            <a:r>
              <a:rPr lang="en-US" dirty="0">
                <a:latin typeface="Arial"/>
                <a:ea typeface="Calibri"/>
                <a:cs typeface="Arial"/>
              </a:rPr>
              <a:t>to manage branches. You can set the branch to mirror one on GitHub </a:t>
            </a:r>
            <a:r>
              <a:rPr lang="en-US">
                <a:latin typeface="Arial"/>
                <a:ea typeface="Calibri"/>
                <a:cs typeface="Arial"/>
              </a:rPr>
              <a:t>using this command.</a:t>
            </a:r>
          </a:p>
          <a:p>
            <a:pPr marL="342900" indent="-342900"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Use </a:t>
            </a:r>
            <a:r>
              <a:rPr lang="en-US">
                <a:latin typeface="Miriam Fixed"/>
                <a:ea typeface="Calibri"/>
                <a:cs typeface="Miriam Fixed"/>
              </a:rPr>
              <a:t>git cherry </a:t>
            </a:r>
            <a:r>
              <a:rPr lang="en-US">
                <a:latin typeface="Arial"/>
                <a:ea typeface="Calibri"/>
                <a:cs typeface="Arial"/>
              </a:rPr>
              <a:t>to apply a commit from one branch onto another. This is great for fixing bugs in multiple releases of a large project.</a:t>
            </a:r>
          </a:p>
          <a:p>
            <a:pPr marL="342900" indent="-342900"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Use </a:t>
            </a:r>
            <a:r>
              <a:rPr lang="en-US">
                <a:latin typeface="Miriam Fixed"/>
                <a:ea typeface="Calibri"/>
                <a:cs typeface="Miriam Fixed"/>
              </a:rPr>
              <a:t>git clone </a:t>
            </a:r>
            <a:r>
              <a:rPr lang="en-US">
                <a:latin typeface="Arial"/>
                <a:ea typeface="Calibri"/>
                <a:cs typeface="Arial"/>
              </a:rPr>
              <a:t>to download a repository to make your own changes to, or to build for yourself.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DE0B4-E9DF-7F53-907F-70C6FE0820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96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538473-53BE-D494-3A04-5FD8D0E064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Git Commands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BC8B4-25C4-D6FE-77B7-2E9E287A10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342900" indent="-342900">
              <a:buChar char="•"/>
            </a:pPr>
            <a:r>
              <a:rPr lang="en-US">
                <a:latin typeface="Arial"/>
                <a:cs typeface="Arial"/>
              </a:rPr>
              <a:t>Use </a:t>
            </a:r>
            <a:r>
              <a:rPr lang="en-US">
                <a:latin typeface="Miriam Fixed"/>
                <a:cs typeface="Miriam Fixed"/>
              </a:rPr>
              <a:t>git commit </a:t>
            </a:r>
            <a:r>
              <a:rPr lang="en-US">
                <a:latin typeface="Arial"/>
                <a:cs typeface="Arial"/>
              </a:rPr>
              <a:t>to apply your changes to your local branch. This creates a sort of save point.</a:t>
            </a:r>
          </a:p>
          <a:p>
            <a:pPr marL="342900" indent="-342900">
              <a:buChar char="•"/>
            </a:pPr>
            <a:r>
              <a:rPr lang="en-US">
                <a:latin typeface="Arial"/>
                <a:cs typeface="Arial"/>
              </a:rPr>
              <a:t>Use </a:t>
            </a:r>
            <a:r>
              <a:rPr lang="en-US">
                <a:latin typeface="Miriam Fixed"/>
                <a:cs typeface="Miriam Fixed"/>
              </a:rPr>
              <a:t>git fetch </a:t>
            </a:r>
            <a:r>
              <a:rPr lang="en-US">
                <a:latin typeface="Arial"/>
                <a:cs typeface="Arial"/>
              </a:rPr>
              <a:t>to get changes from the upstream branch. Apply them with </a:t>
            </a:r>
            <a:r>
              <a:rPr lang="en-US">
                <a:latin typeface="Miriam Fixed"/>
                <a:cs typeface="Miriam Fixed"/>
              </a:rPr>
              <a:t>git merge/rebase</a:t>
            </a:r>
            <a:r>
              <a:rPr lang="en-US">
                <a:latin typeface="Arial"/>
                <a:cs typeface="Arial"/>
              </a:rPr>
              <a:t>, depending on how you want to apply the changes.</a:t>
            </a:r>
          </a:p>
          <a:p>
            <a:pPr marL="342900" indent="-342900">
              <a:buChar char="•"/>
            </a:pPr>
            <a:r>
              <a:rPr lang="en-US">
                <a:latin typeface="Arial"/>
                <a:cs typeface="Arial"/>
              </a:rPr>
              <a:t>Use </a:t>
            </a:r>
            <a:r>
              <a:rPr lang="en-US">
                <a:latin typeface="Miriam Fixed"/>
                <a:ea typeface="Calibri"/>
                <a:cs typeface="Miriam Fixed"/>
              </a:rPr>
              <a:t>git log </a:t>
            </a:r>
            <a:r>
              <a:rPr lang="en-US">
                <a:latin typeface="Arial"/>
                <a:ea typeface="Calibri"/>
                <a:cs typeface="Arial"/>
              </a:rPr>
              <a:t>to see a history of changes on the current branch.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ea typeface="Calibri"/>
                <a:cs typeface="Arial"/>
              </a:rPr>
              <a:t>When looking at the commits in the log, they will be given a long string of </a:t>
            </a:r>
            <a:r>
              <a:rPr lang="en-US">
                <a:latin typeface="Arial"/>
                <a:ea typeface="Calibri"/>
                <a:cs typeface="Arial"/>
              </a:rPr>
              <a:t>hexadecimal numbers. You can refer to a unique commit with the first 5 or 6 of these digits.</a:t>
            </a:r>
            <a:endParaRPr lang="en-US" dirty="0">
              <a:latin typeface="Arial"/>
              <a:ea typeface="Calibri"/>
              <a:cs typeface="Arial"/>
            </a:endParaRPr>
          </a:p>
          <a:p>
            <a:pPr marL="342900" indent="-342900"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Use </a:t>
            </a:r>
            <a:r>
              <a:rPr lang="en-US">
                <a:latin typeface="Miriam Fixed"/>
                <a:ea typeface="Calibri"/>
                <a:cs typeface="Miriam Fixed"/>
              </a:rPr>
              <a:t>git merge </a:t>
            </a:r>
            <a:r>
              <a:rPr lang="en-US">
                <a:latin typeface="Arial"/>
                <a:ea typeface="Calibri"/>
                <a:cs typeface="Arial"/>
              </a:rPr>
              <a:t>to mix changes within files.</a:t>
            </a:r>
          </a:p>
          <a:p>
            <a:pPr marL="342900" indent="-342900"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Use </a:t>
            </a:r>
            <a:r>
              <a:rPr lang="en-US">
                <a:latin typeface="Miriam Fixed"/>
                <a:ea typeface="Calibri"/>
                <a:cs typeface="Miriam Fixed"/>
              </a:rPr>
              <a:t>git push </a:t>
            </a:r>
            <a:r>
              <a:rPr lang="en-US">
                <a:latin typeface="Arial"/>
                <a:ea typeface="Calibri"/>
                <a:cs typeface="Arial"/>
              </a:rPr>
              <a:t>to send your commits to GitHub.</a:t>
            </a:r>
          </a:p>
          <a:p>
            <a:pPr marL="342900" indent="-342900">
              <a:buChar char="•"/>
            </a:pPr>
            <a:r>
              <a:rPr lang="en-US">
                <a:latin typeface="Arial"/>
                <a:ea typeface="Calibri"/>
                <a:cs typeface="Arial"/>
              </a:rPr>
              <a:t>Use </a:t>
            </a:r>
            <a:r>
              <a:rPr lang="en-US">
                <a:latin typeface="Miriam Fixed"/>
                <a:ea typeface="Calibri"/>
                <a:cs typeface="Miriam Fixed"/>
              </a:rPr>
              <a:t>git rebase </a:t>
            </a:r>
            <a:r>
              <a:rPr lang="en-US">
                <a:latin typeface="Arial"/>
                <a:ea typeface="Calibri"/>
                <a:cs typeface="Arial"/>
              </a:rPr>
              <a:t>to rebase.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ea typeface="Calibri"/>
                <a:cs typeface="Arial"/>
              </a:rPr>
              <a:t>Use </a:t>
            </a:r>
            <a:r>
              <a:rPr lang="en-US" dirty="0">
                <a:latin typeface="Miriam Fixed"/>
                <a:ea typeface="Calibri"/>
                <a:cs typeface="Miriam Fixed"/>
              </a:rPr>
              <a:t>git rm </a:t>
            </a:r>
            <a:r>
              <a:rPr lang="en-US" dirty="0">
                <a:latin typeface="Arial"/>
                <a:ea typeface="Calibri"/>
                <a:cs typeface="Arial"/>
              </a:rPr>
              <a:t>to delete a file from the Git tree.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42AC58-48C5-8FFC-361F-252C638B72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94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A7E029-1FDD-22F3-00AE-DD4FCB1F36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Git Commands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AF59F-57B6-C86F-160A-A3AE893A35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Use </a:t>
            </a:r>
            <a:r>
              <a:rPr lang="en-US" dirty="0">
                <a:latin typeface="Miriam Fixed"/>
                <a:cs typeface="Miriam Fixed"/>
              </a:rPr>
              <a:t>git stash push </a:t>
            </a:r>
            <a:r>
              <a:rPr lang="en-US" dirty="0">
                <a:latin typeface="Arial"/>
                <a:cs typeface="Arial"/>
              </a:rPr>
              <a:t>to save your changes without </a:t>
            </a:r>
            <a:r>
              <a:rPr lang="en-US" dirty="0" err="1">
                <a:latin typeface="Arial"/>
                <a:cs typeface="Arial"/>
              </a:rPr>
              <a:t>commiting</a:t>
            </a:r>
            <a:r>
              <a:rPr lang="en-US" dirty="0">
                <a:latin typeface="Arial"/>
                <a:cs typeface="Arial"/>
              </a:rPr>
              <a:t> them. Useful for updating your branch between commits.</a:t>
            </a:r>
          </a:p>
          <a:p>
            <a:pPr marL="342900" indent="-342900">
              <a:buChar char="•"/>
            </a:pPr>
            <a:r>
              <a:rPr lang="en-US">
                <a:latin typeface="Arial"/>
                <a:cs typeface="Arial"/>
              </a:rPr>
              <a:t>Use </a:t>
            </a:r>
            <a:r>
              <a:rPr lang="en-US">
                <a:latin typeface="Miriam Fixed"/>
                <a:ea typeface="Calibri"/>
                <a:cs typeface="Miriam Fixed"/>
              </a:rPr>
              <a:t>git stash pop </a:t>
            </a:r>
            <a:r>
              <a:rPr lang="en-US">
                <a:latin typeface="Arial"/>
                <a:ea typeface="Calibri"/>
                <a:cs typeface="Arial"/>
              </a:rPr>
              <a:t>to apply stashed changes.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ea typeface="Calibri"/>
                <a:cs typeface="Arial"/>
              </a:rPr>
              <a:t>Use </a:t>
            </a:r>
            <a:r>
              <a:rPr lang="en-US" dirty="0">
                <a:latin typeface="Miriam Fixed"/>
                <a:ea typeface="Calibri"/>
                <a:cs typeface="Miriam Fixed"/>
              </a:rPr>
              <a:t>git status </a:t>
            </a:r>
            <a:r>
              <a:rPr lang="en-US" dirty="0">
                <a:latin typeface="Arial"/>
                <a:ea typeface="Calibri"/>
                <a:cs typeface="Arial"/>
              </a:rPr>
              <a:t>to see which files have been changed, which changes </a:t>
            </a:r>
            <a:r>
              <a:rPr lang="en-US">
                <a:latin typeface="Arial"/>
                <a:ea typeface="Calibri"/>
                <a:cs typeface="Arial"/>
              </a:rPr>
              <a:t>have been added to the index, and other information.</a:t>
            </a:r>
          </a:p>
          <a:p>
            <a:pPr marL="342900" indent="-342900">
              <a:buChar char="•"/>
            </a:pPr>
            <a:endParaRPr lang="en-US" dirty="0">
              <a:latin typeface="Arial"/>
              <a:ea typeface="Calibri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8BCD9-7621-D98F-F982-75757C24AF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407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CA3D5-1722-9EE1-84CA-4FE8E94C37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Merging vs. Rebasing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4097C-DD61-6BB9-4F9E-653A50DA55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39FCD-029F-D4FC-3CA2-E8B19FC00C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9B78966-8480-A3FB-2FC0-2313D3A718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13862" y="193566"/>
            <a:ext cx="10475103" cy="809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12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5FFC1B-14EE-6231-BEDF-104EE8BB0B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Bash Scripting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8ADFF-3C11-5091-5492-4230F76057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We will go over the basics of Bash scripting here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Start with a simple Hello, World! Program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Comments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Go over variables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Go over control structures</a:t>
            </a: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If-else, for loops, while loops, functions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Talk about regular expressions</a:t>
            </a:r>
          </a:p>
          <a:p>
            <a:pPr marL="342900" indent="-342900">
              <a:buChar char="•"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5FEDB3-0B89-E238-97CD-4DA991D7F3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3777826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CC5573-E9E8-E608-7A52-B4379DC00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Hello, World!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1260C-A779-6199-61AB-49136590C6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6046" y="1379538"/>
            <a:ext cx="5453161" cy="44354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dirty="0">
                <a:latin typeface="Arial"/>
                <a:cs typeface="Arial"/>
              </a:rPr>
              <a:t>Create a new file. Give it any name you want but end it with </a:t>
            </a:r>
            <a:r>
              <a:rPr lang="en-US" dirty="0">
                <a:latin typeface="Miriam Fixed"/>
                <a:cs typeface="Arial"/>
              </a:rPr>
              <a:t>.</a:t>
            </a:r>
            <a:r>
              <a:rPr lang="en-US" err="1">
                <a:latin typeface="Miriam Fixed"/>
                <a:cs typeface="Arial"/>
              </a:rPr>
              <a:t>sh</a:t>
            </a:r>
            <a:endParaRPr lang="en-US">
              <a:latin typeface="Miriam Fixed"/>
              <a:cs typeface="Arial"/>
            </a:endParaRPr>
          </a:p>
          <a:p>
            <a:pPr marL="457200" indent="-457200">
              <a:buAutoNum type="arabicPeriod"/>
            </a:pPr>
            <a:r>
              <a:rPr lang="en-US" dirty="0">
                <a:latin typeface="Arial"/>
                <a:cs typeface="Arial"/>
              </a:rPr>
              <a:t>First line of the file should be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Miriam Fixed"/>
                <a:cs typeface="Arial"/>
              </a:rPr>
              <a:t>#!/bin/bash</a:t>
            </a:r>
          </a:p>
          <a:p>
            <a:pPr marL="457200" indent="-457200">
              <a:buAutoNum type="arabicPeriod"/>
            </a:pPr>
            <a:r>
              <a:rPr lang="en-US" dirty="0">
                <a:latin typeface="Arial"/>
                <a:cs typeface="Arial"/>
              </a:rPr>
              <a:t>On a new line, type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Miriam Fixed"/>
                <a:cs typeface="Arial"/>
              </a:rPr>
              <a:t>echo "Hello, World!"</a:t>
            </a:r>
          </a:p>
          <a:p>
            <a:pPr marL="457200" indent="-457200">
              <a:buAutoNum type="arabicPeriod"/>
            </a:pPr>
            <a:r>
              <a:rPr lang="en-US" dirty="0">
                <a:latin typeface="Arial"/>
                <a:cs typeface="Arial"/>
              </a:rPr>
              <a:t>Save the file and run it.</a:t>
            </a:r>
          </a:p>
          <a:p>
            <a:pPr marL="457200" indent="-457200">
              <a:buAutoNum type="arabicPeriod"/>
            </a:pPr>
            <a:r>
              <a:rPr lang="en-US" dirty="0">
                <a:latin typeface="Arial"/>
                <a:cs typeface="Arial"/>
              </a:rPr>
              <a:t>This will print the string to the terminal</a:t>
            </a:r>
            <a:endParaRPr lang="en-US" dirty="0">
              <a:latin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8BF73-E9B4-297E-1B29-6B784546BE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Linux and Bash Scripting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61640-F54F-1089-FC59-116FBF9B1FB1}"/>
              </a:ext>
            </a:extLst>
          </p:cNvPr>
          <p:cNvSpPr txBox="1"/>
          <p:nvPr/>
        </p:nvSpPr>
        <p:spPr>
          <a:xfrm>
            <a:off x="6194083" y="1144905"/>
            <a:ext cx="557030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Miriam Fixed"/>
                <a:cs typeface="Miriam Fixed"/>
              </a:rPr>
              <a:t>#!/bin/bash</a:t>
            </a:r>
          </a:p>
          <a:p>
            <a:endParaRPr lang="en-US" dirty="0">
              <a:latin typeface="Miriam Fixed"/>
              <a:cs typeface="Miriam Fixed"/>
            </a:endParaRPr>
          </a:p>
          <a:p>
            <a:r>
              <a:rPr lang="en-US" dirty="0">
                <a:latin typeface="Miriam Fixed"/>
                <a:cs typeface="Miriam Fixed"/>
              </a:rPr>
              <a:t>echo "Hello, World!"</a:t>
            </a:r>
          </a:p>
        </p:txBody>
      </p:sp>
    </p:spTree>
    <p:extLst>
      <p:ext uri="{BB962C8B-B14F-4D97-AF65-F5344CB8AC3E}">
        <p14:creationId xmlns:p14="http://schemas.microsoft.com/office/powerpoint/2010/main" val="2075771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75CB01-8B43-1C34-4769-D03F7C2279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Comments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B75A8-AF96-5AA4-BF67-39D64DA93E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Comments allow us to write documentation for our code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In bash and many other scripting languages, comments start with a #</a:t>
            </a:r>
            <a:endParaRPr lang="en-US" dirty="0"/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Everything after that # in a line will be ignored</a:t>
            </a:r>
            <a:endParaRPr lang="en-US" dirty="0"/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Sometimes, comments can have special meaning.</a:t>
            </a:r>
            <a:endParaRPr lang="en-US">
              <a:latin typeface="Arial"/>
              <a:cs typeface="Arial"/>
            </a:endParaRP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The </a:t>
            </a:r>
            <a:r>
              <a:rPr lang="en-US" dirty="0">
                <a:latin typeface="Miriam Fixed"/>
                <a:cs typeface="Arial"/>
              </a:rPr>
              <a:t>#!/bin/bash</a:t>
            </a:r>
            <a:r>
              <a:rPr lang="en-US" dirty="0">
                <a:latin typeface="Arial"/>
                <a:cs typeface="Arial"/>
              </a:rPr>
              <a:t> is a comment which tells the computer where to find the script interpreter. This is for a bash file, but you can put </a:t>
            </a:r>
            <a:r>
              <a:rPr lang="en-US" dirty="0">
                <a:latin typeface="Miriam Fixed"/>
                <a:cs typeface="Arial"/>
              </a:rPr>
              <a:t>#!/usr/bin/python3</a:t>
            </a:r>
            <a:r>
              <a:rPr lang="en-US" dirty="0">
                <a:latin typeface="Arial"/>
                <a:cs typeface="Arial"/>
              </a:rPr>
              <a:t> at the top of a Python file</a:t>
            </a:r>
            <a:endParaRPr lang="en-US">
              <a:latin typeface="Arial"/>
              <a:cs typeface="Arial"/>
            </a:endParaRP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For many job submission programs, rich comments will be used for job parameters, such as </a:t>
            </a:r>
            <a:r>
              <a:rPr lang="en-US" dirty="0">
                <a:latin typeface="Miriam Fixed"/>
                <a:cs typeface="Arial"/>
              </a:rPr>
              <a:t>#SBATCH --time 7-00:00:00</a:t>
            </a:r>
            <a:endParaRPr lang="en-US">
              <a:latin typeface="Miriam Fixed"/>
              <a:cs typeface="Arial"/>
            </a:endParaRPr>
          </a:p>
          <a:p>
            <a:pPr marL="1028700" lvl="1" indent="-342900">
              <a:buFont typeface="Courier New" panose="020B0604020202020204" pitchFamily="34" charset="0"/>
              <a:buChar char="o"/>
            </a:pPr>
            <a:endParaRPr lang="en-US">
              <a:latin typeface="Miriam Fixed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8E5C4-62CA-246B-516B-A93E62D293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39704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1C432A-6A3D-9689-24FF-48CCDE1B68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Variables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9745E-DBBC-6466-EC34-CBD9A4AEBB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Variables are a convenient way of storing information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In some languages, variables have type. In bash, they are all stored as text, even if they are numbers.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Variables in bash are referenced by placing a dollar sign before the name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There are some special variables, such as </a:t>
            </a:r>
            <a:r>
              <a:rPr lang="en-US" dirty="0">
                <a:latin typeface="Miriam Fixed"/>
                <a:cs typeface="Arial"/>
              </a:rPr>
              <a:t>$0 - $9</a:t>
            </a:r>
            <a:r>
              <a:rPr lang="en-US" dirty="0">
                <a:latin typeface="Arial"/>
                <a:cs typeface="Arial"/>
              </a:rPr>
              <a:t>, which reference arguments passed into your script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There are also some special ways to reference variables, such as </a:t>
            </a:r>
            <a:r>
              <a:rPr lang="en-US" dirty="0">
                <a:latin typeface="Miriam Fixed"/>
                <a:cs typeface="Arial"/>
              </a:rPr>
              <a:t>${} </a:t>
            </a:r>
            <a:r>
              <a:rPr lang="en-US" dirty="0">
                <a:latin typeface="Arial"/>
                <a:cs typeface="Arial"/>
              </a:rPr>
              <a:t>to do string operations and </a:t>
            </a:r>
            <a:r>
              <a:rPr lang="en-US" dirty="0">
                <a:latin typeface="Miriam Fixed"/>
                <a:cs typeface="Arial"/>
              </a:rPr>
              <a:t>$() </a:t>
            </a:r>
            <a:r>
              <a:rPr lang="en-US" dirty="0">
                <a:latin typeface="Arial"/>
                <a:cs typeface="Arial"/>
              </a:rPr>
              <a:t>to run a command and save its output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EE21F-97FF-CF0F-3B80-CA2AAD30E6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3065608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216EA0-2E25-92C8-3389-90E5E8A35B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Environment Variables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E5FA1-C3D5-5A80-BDFA-48660436F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Your computer also has some pre-defined variables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These are called environment variables</a:t>
            </a:r>
            <a:endParaRPr lang="en-US" dirty="0"/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Here are some commonly used variables</a:t>
            </a: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>
                <a:latin typeface="Miriam Fixed"/>
                <a:cs typeface="Arial"/>
              </a:rPr>
              <a:t>$PATH </a:t>
            </a:r>
            <a:r>
              <a:rPr lang="en-US" dirty="0">
                <a:latin typeface="Arial"/>
                <a:cs typeface="Arial"/>
              </a:rPr>
              <a:t>tells the computer where it can find core utilities</a:t>
            </a: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>
                <a:latin typeface="Miriam Fixed"/>
                <a:cs typeface="Arial"/>
              </a:rPr>
              <a:t>$USER </a:t>
            </a:r>
            <a:r>
              <a:rPr lang="en-US" dirty="0">
                <a:latin typeface="Arial"/>
                <a:cs typeface="Arial"/>
              </a:rPr>
              <a:t>is your username</a:t>
            </a: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>
                <a:latin typeface="Miriam Fixed"/>
                <a:cs typeface="Arial"/>
              </a:rPr>
              <a:t>$PWD </a:t>
            </a:r>
            <a:r>
              <a:rPr lang="en-US" dirty="0">
                <a:latin typeface="Arial"/>
                <a:cs typeface="Arial"/>
              </a:rPr>
              <a:t>is the current working directory</a:t>
            </a: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>
                <a:latin typeface="Miriam Fixed"/>
                <a:cs typeface="Arial"/>
              </a:rPr>
              <a:t>$RANDOM </a:t>
            </a:r>
            <a:r>
              <a:rPr lang="en-US" dirty="0">
                <a:latin typeface="Arial"/>
                <a:cs typeface="Arial"/>
              </a:rPr>
              <a:t>gives a random number every time it is accessed</a:t>
            </a:r>
            <a:endParaRPr lang="en-US" dirty="0">
              <a:latin typeface="Arial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F424E-2430-25E9-3C6F-3B648377E5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11825455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906B70-AA26-730B-8DA9-E0E030ECA5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Example: Adding two numbers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1BFCB-B0F4-04A0-E303-7796C5B0D0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iriam Fixed"/>
                <a:cs typeface="Arial"/>
              </a:rPr>
              <a:t>#!/bin/bash</a:t>
            </a:r>
          </a:p>
          <a:p>
            <a:endParaRPr lang="en-US" dirty="0">
              <a:latin typeface="Miriam Fixed"/>
            </a:endParaRPr>
          </a:p>
          <a:p>
            <a:r>
              <a:rPr lang="en-US" dirty="0">
                <a:latin typeface="Miriam Fixed"/>
                <a:cs typeface="Arial"/>
              </a:rPr>
              <a:t>read –p "Enter the first number: " FIRST</a:t>
            </a:r>
          </a:p>
          <a:p>
            <a:r>
              <a:rPr lang="en-US" dirty="0">
                <a:latin typeface="Miriam Fixed"/>
                <a:cs typeface="Arial"/>
              </a:rPr>
              <a:t>read –p "Enter the second number: " SECOND</a:t>
            </a:r>
          </a:p>
          <a:p>
            <a:r>
              <a:rPr lang="en-US" dirty="0">
                <a:latin typeface="Miriam Fixed"/>
                <a:cs typeface="Arial"/>
              </a:rPr>
              <a:t>echo "$FIRST + $SECOND = $((FIRST + SECOND))"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1CB3D-E9B2-6A27-A908-5BA5F9256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Linux and Bash Scripting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5A20F72-7C11-6229-8C53-F238F15DF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876" y="3597934"/>
            <a:ext cx="4137938" cy="25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803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CC6D5A-C5B0-EA42-07EB-F6565A2B60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If Statements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DF1D6-C92D-B522-2474-6B27D73237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If statements perform different things depending on whether a condition is true or false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If statements can have an else statement, which executes when the condition is false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They can also have an elseif statement, which checks another condition if all previous conditions are false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Don't get too used to this syntax. It is not used in other more common languages like C, C++, and Python</a:t>
            </a: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None of these require the then</a:t>
            </a: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The relational operators for equality are different. Bash uses </a:t>
            </a:r>
            <a:r>
              <a:rPr lang="en-US" dirty="0">
                <a:latin typeface="Miriam Fixed"/>
                <a:cs typeface="Arial"/>
              </a:rPr>
              <a:t>=</a:t>
            </a:r>
            <a:r>
              <a:rPr lang="en-US" dirty="0">
                <a:latin typeface="Arial"/>
                <a:cs typeface="Arial"/>
              </a:rPr>
              <a:t>, while the rest use </a:t>
            </a:r>
            <a:r>
              <a:rPr lang="en-US" dirty="0">
                <a:latin typeface="Miriam Fixed"/>
                <a:cs typeface="Arial"/>
              </a:rPr>
              <a:t>==</a:t>
            </a:r>
            <a:r>
              <a:rPr lang="en-US" dirty="0">
                <a:latin typeface="Arial"/>
                <a:cs typeface="Arial"/>
              </a:rPr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B72B9-0331-5076-FA21-D0B7DD8725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13958207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59DCE3-73A4-1A8D-505D-B9DFF2FB15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Example: Rock-Paper-Scissors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89604-CE54-9435-A9C4-C3A8BE0CAD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latin typeface="Miriam Fixed"/>
                <a:cs typeface="Arial"/>
              </a:rPr>
              <a:t>#!/bin/bash</a:t>
            </a:r>
          </a:p>
          <a:p>
            <a:r>
              <a:rPr lang="en-US" dirty="0">
                <a:latin typeface="Miriam Fixed"/>
                <a:cs typeface="Arial"/>
              </a:rPr>
              <a:t>read –p "What is your choice? " CHOICE</a:t>
            </a:r>
          </a:p>
          <a:p>
            <a:r>
              <a:rPr lang="en-US" dirty="0">
                <a:latin typeface="Miriam Fixed"/>
                <a:cs typeface="Arial"/>
              </a:rPr>
              <a:t>echo "You chose $CHOICE."</a:t>
            </a:r>
          </a:p>
          <a:p>
            <a:r>
              <a:rPr lang="en-US" dirty="0">
                <a:latin typeface="Miriam Fixed"/>
                <a:cs typeface="Arial"/>
              </a:rPr>
              <a:t>if [ "$CHOICE" = "rock" ]; then</a:t>
            </a:r>
          </a:p>
          <a:p>
            <a:r>
              <a:rPr lang="en-US" dirty="0">
                <a:latin typeface="Miriam Fixed"/>
                <a:cs typeface="Arial"/>
              </a:rPr>
              <a:t>    echo "I choose paper."</a:t>
            </a:r>
          </a:p>
          <a:p>
            <a:r>
              <a:rPr lang="en-US" dirty="0" err="1">
                <a:latin typeface="Miriam Fixed"/>
                <a:cs typeface="Arial"/>
              </a:rPr>
              <a:t>elif</a:t>
            </a:r>
            <a:r>
              <a:rPr lang="en-US" dirty="0">
                <a:latin typeface="Miriam Fixed"/>
                <a:cs typeface="Arial"/>
              </a:rPr>
              <a:t> [ "$CHOICE" = "paper" ]; then</a:t>
            </a:r>
          </a:p>
          <a:p>
            <a:r>
              <a:rPr lang="en-US" dirty="0">
                <a:latin typeface="Miriam Fixed"/>
                <a:cs typeface="Arial"/>
              </a:rPr>
              <a:t>    echo "I choose scissors."</a:t>
            </a:r>
          </a:p>
          <a:p>
            <a:r>
              <a:rPr lang="en-US" dirty="0" err="1">
                <a:latin typeface="Miriam Fixed"/>
                <a:cs typeface="Arial"/>
              </a:rPr>
              <a:t>elif</a:t>
            </a:r>
            <a:r>
              <a:rPr lang="en-US" dirty="0">
                <a:latin typeface="Miriam Fixed"/>
                <a:cs typeface="Arial"/>
              </a:rPr>
              <a:t> [ "$CHOICE" = "scissors"]; then</a:t>
            </a:r>
          </a:p>
          <a:p>
            <a:r>
              <a:rPr lang="en-US" dirty="0">
                <a:latin typeface="Miriam Fixed"/>
                <a:cs typeface="Arial"/>
              </a:rPr>
              <a:t>    echo "I choose rock."</a:t>
            </a:r>
          </a:p>
          <a:p>
            <a:r>
              <a:rPr lang="en-US" dirty="0">
                <a:latin typeface="Miriam Fixed"/>
                <a:cs typeface="Arial"/>
              </a:rPr>
              <a:t>else</a:t>
            </a:r>
          </a:p>
          <a:p>
            <a:r>
              <a:rPr lang="en-US" dirty="0">
                <a:latin typeface="Miriam Fixed"/>
                <a:cs typeface="Arial"/>
              </a:rPr>
              <a:t>    echo "I don't know what that means."</a:t>
            </a:r>
          </a:p>
          <a:p>
            <a:r>
              <a:rPr lang="en-US" dirty="0">
                <a:latin typeface="Miriam Fixed"/>
                <a:cs typeface="Arial"/>
              </a:rPr>
              <a:t>fi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2899D-E4B7-81F5-8752-C394D1D3FA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3155815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D0FB7E-57DF-45D2-B073-57AF44C1A4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Rock-Paper-Scissors Output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860F0-E949-1B85-D69B-B214CD0AEE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7B0C8-2ED8-EBC2-C2CC-DD45C00AA0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21D5EE5-5930-C0D6-EEC8-D0CBB0334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602" y="1143000"/>
            <a:ext cx="8418795" cy="519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617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843184-D431-03C6-4E76-6DC9650ED8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For loops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1C8ED-804D-2CE4-4251-D4E75994AA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For loops allow you to run code multiple times for different inputs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These can be over ranges or over multiple pieces of text</a:t>
            </a: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Ranges look like </a:t>
            </a:r>
            <a:r>
              <a:rPr lang="en-US" dirty="0">
                <a:latin typeface="Miriam Fixed"/>
                <a:cs typeface="Arial"/>
              </a:rPr>
              <a:t>{1..10}</a:t>
            </a:r>
            <a:r>
              <a:rPr lang="en-US" dirty="0">
                <a:latin typeface="Arial"/>
                <a:cs typeface="Arial"/>
              </a:rPr>
              <a:t>, giving numbers 1 to 10, or </a:t>
            </a:r>
            <a:r>
              <a:rPr lang="en-US" dirty="0">
                <a:latin typeface="Miriam Fixed"/>
                <a:cs typeface="Arial"/>
              </a:rPr>
              <a:t>{1..10..3}</a:t>
            </a:r>
            <a:r>
              <a:rPr lang="en-US" dirty="0">
                <a:latin typeface="Arial"/>
                <a:cs typeface="Arial"/>
              </a:rPr>
              <a:t>, giving numbers 1 to 10, but only every third: 1, 4, 7, 10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Multiple pieces of text might look like the output from </a:t>
            </a:r>
            <a:r>
              <a:rPr lang="en-US" dirty="0">
                <a:latin typeface="Miriam Fixed"/>
                <a:cs typeface="Calibri"/>
              </a:rPr>
              <a:t>ls</a:t>
            </a:r>
            <a:r>
              <a:rPr lang="en-US" dirty="0">
                <a:latin typeface="Arial"/>
                <a:cs typeface="Calibri"/>
              </a:rPr>
              <a:t> or a wildcard glob</a:t>
            </a:r>
            <a:endParaRPr lang="en-US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Calibri"/>
              </a:rPr>
              <a:t>There is also a method using C-style syntax: </a:t>
            </a:r>
            <a:r>
              <a:rPr lang="en-US" dirty="0">
                <a:latin typeface="Miriam Fixed"/>
                <a:cs typeface="Calibri"/>
              </a:rPr>
              <a:t>for ((</a:t>
            </a:r>
            <a:r>
              <a:rPr lang="en-US" dirty="0" err="1">
                <a:latin typeface="Miriam Fixed"/>
                <a:cs typeface="Calibri"/>
              </a:rPr>
              <a:t>i</a:t>
            </a:r>
            <a:r>
              <a:rPr lang="en-US" dirty="0">
                <a:latin typeface="Miriam Fixed"/>
                <a:cs typeface="Calibri"/>
              </a:rPr>
              <a:t>=1;i&lt;=10;i++))...</a:t>
            </a:r>
            <a:endParaRPr lang="en-US" dirty="0">
              <a:latin typeface="Calibri" panose="020F0502020204030204"/>
              <a:cs typeface="Calibri"/>
            </a:endParaRPr>
          </a:p>
          <a:p>
            <a:pPr marL="342900" indent="-342900"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8A718-24DD-2131-779B-0291FDEDFF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1400" b="1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Linux and Bash Scripting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3909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3A8926-969E-E27C-C99D-5455C36C9D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For loop example: Potatoes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85282-1384-09C8-ED9D-74A863F75E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latin typeface="Miriam Fixed"/>
                <a:cs typeface="Arial"/>
              </a:rPr>
              <a:t>#!/bin/bash</a:t>
            </a:r>
          </a:p>
          <a:p>
            <a:r>
              <a:rPr lang="en-US" dirty="0">
                <a:latin typeface="Miriam Fixed"/>
                <a:cs typeface="Arial"/>
              </a:rPr>
              <a:t>for I in {1..8}; do</a:t>
            </a:r>
          </a:p>
          <a:p>
            <a:r>
              <a:rPr lang="en-US" dirty="0">
                <a:latin typeface="Miriam Fixed"/>
                <a:cs typeface="Arial"/>
              </a:rPr>
              <a:t>    if [ "$I" = "4" ]; then</a:t>
            </a:r>
          </a:p>
          <a:p>
            <a:r>
              <a:rPr lang="en-US" dirty="0">
                <a:latin typeface="Miriam Fixed"/>
                <a:cs typeface="Arial"/>
              </a:rPr>
              <a:t>        echo "4"</a:t>
            </a:r>
          </a:p>
          <a:p>
            <a:r>
              <a:rPr lang="en-US" dirty="0">
                <a:latin typeface="Miriam Fixed"/>
                <a:cs typeface="Arial"/>
              </a:rPr>
              <a:t>    </a:t>
            </a:r>
            <a:r>
              <a:rPr lang="en-US" dirty="0" err="1">
                <a:latin typeface="Miriam Fixed"/>
                <a:cs typeface="Arial"/>
              </a:rPr>
              <a:t>elif</a:t>
            </a:r>
            <a:r>
              <a:rPr lang="en-US" dirty="0">
                <a:latin typeface="Miriam Fixed"/>
                <a:cs typeface="Arial"/>
              </a:rPr>
              <a:t> [ "$I" = "8"]; then</a:t>
            </a:r>
          </a:p>
          <a:p>
            <a:r>
              <a:rPr lang="en-US" dirty="0">
                <a:latin typeface="Miriam Fixed"/>
                <a:cs typeface="Arial"/>
              </a:rPr>
              <a:t>        echo "More!"</a:t>
            </a:r>
          </a:p>
          <a:p>
            <a:r>
              <a:rPr lang="en-US" dirty="0">
                <a:latin typeface="Miriam Fixed"/>
                <a:cs typeface="Arial"/>
              </a:rPr>
              <a:t>    else</a:t>
            </a:r>
          </a:p>
          <a:p>
            <a:r>
              <a:rPr lang="en-US" dirty="0">
                <a:latin typeface="Miriam Fixed"/>
                <a:cs typeface="Arial"/>
              </a:rPr>
              <a:t>        echo "$I potato"</a:t>
            </a:r>
          </a:p>
          <a:p>
            <a:r>
              <a:rPr lang="en-US" dirty="0">
                <a:latin typeface="Miriam Fixed"/>
                <a:cs typeface="Arial"/>
              </a:rPr>
              <a:t>    fi</a:t>
            </a:r>
          </a:p>
          <a:p>
            <a:r>
              <a:rPr lang="en-US" dirty="0">
                <a:latin typeface="Miriam Fixed"/>
                <a:cs typeface="Arial"/>
              </a:rPr>
              <a:t>done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67223-B834-2791-45B8-366DB0EE6D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28806232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D8EE42-7DC1-E34D-D8A6-AA61FE68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Potatoes Output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49E00-F438-E6B2-216B-64EE651C73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20853-9EE2-01FB-9A21-CBF4150A69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32A0D76-7F29-FDA5-4B45-46C168C02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839" y="1304745"/>
            <a:ext cx="6887607" cy="424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187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5F52A1-9AB8-8111-BC0E-4DE2FC4061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While Loops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2B670-7628-9778-B534-02BA62156B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While loops take a condition and execute a block of code for as long as the condition is true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Both while loops and for loops can be exited early by using the </a:t>
            </a:r>
            <a:r>
              <a:rPr lang="en-US" dirty="0">
                <a:latin typeface="Miriam Fixed"/>
                <a:cs typeface="Arial"/>
              </a:rPr>
              <a:t>break </a:t>
            </a:r>
            <a:r>
              <a:rPr lang="en-US" dirty="0">
                <a:latin typeface="Arial"/>
                <a:cs typeface="Arial"/>
              </a:rPr>
              <a:t>command, or the rest of the body of the loop can be skipped and control returned to the top of the loop using the </a:t>
            </a:r>
            <a:r>
              <a:rPr lang="en-US" dirty="0">
                <a:latin typeface="Miriam Fixed"/>
                <a:cs typeface="Arial"/>
              </a:rPr>
              <a:t>continue </a:t>
            </a:r>
            <a:r>
              <a:rPr lang="en-US" dirty="0">
                <a:latin typeface="Arial"/>
                <a:cs typeface="Arial"/>
              </a:rPr>
              <a:t>command.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5F541-AD24-D82B-4C17-4012A23549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29861478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D542E0-146A-EFA3-BFD0-3563C0DA38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Example: Guess the Code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928C2-42A9-A47E-FC1D-ED6804A397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latin typeface="Miriam Fixed"/>
                <a:cs typeface="Arial"/>
              </a:rPr>
              <a:t>#!/bin/bash</a:t>
            </a:r>
          </a:p>
          <a:p>
            <a:r>
              <a:rPr lang="en-US" dirty="0">
                <a:latin typeface="Miriam Fixed"/>
                <a:cs typeface="Arial"/>
              </a:rPr>
              <a:t>code="secret"</a:t>
            </a:r>
          </a:p>
          <a:p>
            <a:r>
              <a:rPr lang="en-US" dirty="0">
                <a:latin typeface="Miriam Fixed"/>
                <a:cs typeface="Arial"/>
              </a:rPr>
              <a:t>guess=""</a:t>
            </a:r>
          </a:p>
          <a:p>
            <a:r>
              <a:rPr lang="en-US" dirty="0">
                <a:latin typeface="Miriam Fixed"/>
                <a:cs typeface="Arial"/>
              </a:rPr>
              <a:t>while [ "$guess" != "$code" ]; do</a:t>
            </a:r>
          </a:p>
          <a:p>
            <a:r>
              <a:rPr lang="en-US" dirty="0">
                <a:latin typeface="Miriam Fixed"/>
                <a:cs typeface="Arial"/>
              </a:rPr>
              <a:t>    read –p "What's the password? " guess</a:t>
            </a:r>
          </a:p>
          <a:p>
            <a:r>
              <a:rPr lang="en-US" dirty="0">
                <a:latin typeface="Miriam Fixed"/>
                <a:cs typeface="Arial"/>
              </a:rPr>
              <a:t>    if [ "$guess" = "$code" ]; then</a:t>
            </a:r>
          </a:p>
          <a:p>
            <a:r>
              <a:rPr lang="en-US" dirty="0">
                <a:latin typeface="Miriam Fixed"/>
                <a:cs typeface="Arial"/>
              </a:rPr>
              <a:t>        echo "Correct!"</a:t>
            </a:r>
          </a:p>
          <a:p>
            <a:r>
              <a:rPr lang="en-US" dirty="0">
                <a:latin typeface="Miriam Fixed"/>
                <a:cs typeface="Arial"/>
              </a:rPr>
              <a:t>    else</a:t>
            </a:r>
          </a:p>
          <a:p>
            <a:r>
              <a:rPr lang="en-US" dirty="0">
                <a:latin typeface="Miriam Fixed"/>
                <a:cs typeface="Arial"/>
              </a:rPr>
              <a:t>        echo "Wrong!"</a:t>
            </a:r>
          </a:p>
          <a:p>
            <a:r>
              <a:rPr lang="en-US" dirty="0">
                <a:latin typeface="Miriam Fixed"/>
                <a:cs typeface="Arial"/>
              </a:rPr>
              <a:t>    fi</a:t>
            </a:r>
          </a:p>
          <a:p>
            <a:r>
              <a:rPr lang="en-US" dirty="0">
                <a:latin typeface="Miriam Fixed"/>
                <a:cs typeface="Arial"/>
              </a:rPr>
              <a:t>done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7E235-F5E5-9B44-94F4-4E86835E11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16118745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17F852-F203-3199-6B87-9F83B54366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Guess the Code Output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586CC-C6D2-CE06-B6F4-4C41505425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D80D8E-8B84-EBE2-B7F5-447103D1AB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531D25A-CF91-81F9-1E66-3B47AC39E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750" y="1201918"/>
            <a:ext cx="7248894" cy="445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8245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630EE4-D84B-3166-72CF-7A4BF0F5B6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Functions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57BD3-B3B3-F815-1B19-32D298432D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Functions allow for a piece of code to be reused in many different places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Functions can take arguments that can change their behavior, or not</a:t>
            </a:r>
            <a:endParaRPr lang="en-US" dirty="0"/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Functions can return values if they choose, or not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Functions can call other functions, and even call themselves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There are two equivalent ways to define a function</a:t>
            </a: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>
                <a:latin typeface="Miriam Fixed"/>
                <a:cs typeface="Arial"/>
              </a:rPr>
              <a:t>function foo { commands; }</a:t>
            </a:r>
          </a:p>
          <a:p>
            <a:pPr marL="1028700" lvl="1">
              <a:buFont typeface="Courier New" panose="020B0604020202020204" pitchFamily="34" charset="0"/>
              <a:buChar char="o"/>
            </a:pPr>
            <a:r>
              <a:rPr lang="en-US" dirty="0">
                <a:latin typeface="Miriam Fixed"/>
                <a:cs typeface="Arial"/>
              </a:rPr>
              <a:t>foo () { commands; }</a:t>
            </a:r>
            <a:endParaRPr lang="en-US" dirty="0">
              <a:latin typeface="Miriam Fixed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Miriam Fixed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98BEC-EDA6-4437-227C-DF34D244E0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28794971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EA48E3-8D0E-557F-88A1-17DC78B871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Example: Edit Distance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30FD5-6578-F5BA-840D-7D62C132BB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6046" y="1379538"/>
            <a:ext cx="5453160" cy="4435475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r>
              <a:rPr lang="en-US" dirty="0">
                <a:latin typeface="Miriam Fixed"/>
                <a:cs typeface="Arial"/>
              </a:rPr>
              <a:t>#!/bin/bash</a:t>
            </a:r>
          </a:p>
          <a:p>
            <a:r>
              <a:rPr lang="en-US" dirty="0" err="1">
                <a:latin typeface="Miriam Fixed"/>
                <a:cs typeface="Arial"/>
              </a:rPr>
              <a:t>edit_dist</a:t>
            </a:r>
            <a:r>
              <a:rPr lang="en-US" dirty="0">
                <a:latin typeface="Miriam Fixed"/>
                <a:cs typeface="Arial"/>
              </a:rPr>
              <a:t> () {</a:t>
            </a:r>
          </a:p>
          <a:p>
            <a:r>
              <a:rPr lang="en-US" dirty="0">
                <a:latin typeface="Miriam Fixed"/>
                <a:cs typeface="Arial"/>
              </a:rPr>
              <a:t>  local first=$1</a:t>
            </a:r>
          </a:p>
          <a:p>
            <a:r>
              <a:rPr lang="en-US" dirty="0">
                <a:latin typeface="Miriam Fixed"/>
                <a:cs typeface="Arial"/>
              </a:rPr>
              <a:t>  local second=$2</a:t>
            </a:r>
          </a:p>
          <a:p>
            <a:r>
              <a:rPr lang="en-US" dirty="0">
                <a:latin typeface="Miriam Fixed"/>
                <a:cs typeface="Arial"/>
              </a:rPr>
              <a:t>  if [ "$first" = "$second" ]; then</a:t>
            </a:r>
          </a:p>
          <a:p>
            <a:r>
              <a:rPr lang="en-US" dirty="0">
                <a:latin typeface="Miriam Fixed"/>
                <a:cs typeface="Arial"/>
              </a:rPr>
              <a:t>    echo "0"</a:t>
            </a:r>
          </a:p>
          <a:p>
            <a:r>
              <a:rPr lang="en-US" dirty="0">
                <a:latin typeface="Miriam Fixed"/>
                <a:cs typeface="Arial"/>
              </a:rPr>
              <a:t>  </a:t>
            </a:r>
            <a:r>
              <a:rPr lang="en-US" dirty="0" err="1">
                <a:latin typeface="Miriam Fixed"/>
                <a:cs typeface="Arial"/>
              </a:rPr>
              <a:t>elif</a:t>
            </a:r>
            <a:r>
              <a:rPr lang="en-US" dirty="0">
                <a:latin typeface="Miriam Fixed"/>
                <a:cs typeface="Arial"/>
              </a:rPr>
              <a:t> [ "$first" = "" ]; then</a:t>
            </a:r>
          </a:p>
          <a:p>
            <a:r>
              <a:rPr lang="en-US" dirty="0">
                <a:latin typeface="Miriam Fixed"/>
                <a:cs typeface="Arial"/>
              </a:rPr>
              <a:t>    echo "${#second}"</a:t>
            </a:r>
          </a:p>
          <a:p>
            <a:r>
              <a:rPr lang="en-US" dirty="0">
                <a:latin typeface="Miriam Fixed"/>
                <a:cs typeface="Arial"/>
              </a:rPr>
              <a:t>  </a:t>
            </a:r>
            <a:r>
              <a:rPr lang="en-US" dirty="0" err="1">
                <a:latin typeface="Miriam Fixed"/>
                <a:cs typeface="Arial"/>
              </a:rPr>
              <a:t>elif</a:t>
            </a:r>
            <a:r>
              <a:rPr lang="en-US" dirty="0">
                <a:latin typeface="Miriam Fixed"/>
                <a:cs typeface="Arial"/>
              </a:rPr>
              <a:t> [ "$second" = "" ]; then</a:t>
            </a:r>
          </a:p>
          <a:p>
            <a:r>
              <a:rPr lang="en-US" dirty="0">
                <a:latin typeface="Miriam Fixed"/>
                <a:cs typeface="Arial"/>
              </a:rPr>
              <a:t>    echo "${#first}"</a:t>
            </a:r>
          </a:p>
          <a:p>
            <a:r>
              <a:rPr lang="en-US" dirty="0">
                <a:latin typeface="Miriam Fixed"/>
                <a:cs typeface="Arial"/>
              </a:rPr>
              <a:t>  </a:t>
            </a:r>
            <a:r>
              <a:rPr lang="en-US" dirty="0" err="1">
                <a:latin typeface="Miriam Fixed"/>
                <a:cs typeface="Arial"/>
              </a:rPr>
              <a:t>elif</a:t>
            </a:r>
            <a:r>
              <a:rPr lang="en-US" dirty="0">
                <a:latin typeface="Miriam Fixed"/>
                <a:cs typeface="Arial"/>
              </a:rPr>
              <a:t> [ "${first:0:1}" = "${second:0:1}" ]; then</a:t>
            </a:r>
          </a:p>
          <a:p>
            <a:r>
              <a:rPr lang="en-US" dirty="0">
                <a:latin typeface="Miriam Fixed"/>
                <a:cs typeface="Arial"/>
              </a:rPr>
              <a:t>    </a:t>
            </a:r>
            <a:r>
              <a:rPr lang="en-US" err="1">
                <a:latin typeface="Miriam Fixed"/>
                <a:cs typeface="Arial"/>
              </a:rPr>
              <a:t>edit_dist</a:t>
            </a:r>
            <a:r>
              <a:rPr lang="en-US" dirty="0">
                <a:latin typeface="Miriam Fixed"/>
                <a:cs typeface="Arial"/>
              </a:rPr>
              <a:t> "${first:1}" "${second:1}"</a:t>
            </a:r>
          </a:p>
          <a:p>
            <a:r>
              <a:rPr lang="en-US" dirty="0">
                <a:latin typeface="Miriam Fixed"/>
                <a:cs typeface="Arial"/>
              </a:rPr>
              <a:t>  else</a:t>
            </a:r>
          </a:p>
          <a:p>
            <a:r>
              <a:rPr lang="en-US" dirty="0">
                <a:latin typeface="Miriam Fixed"/>
                <a:cs typeface="Arial"/>
              </a:rPr>
              <a:t>    local replace=$(</a:t>
            </a:r>
            <a:r>
              <a:rPr lang="en-US" dirty="0" err="1">
                <a:latin typeface="Miriam Fixed"/>
                <a:cs typeface="Arial"/>
              </a:rPr>
              <a:t>edit_dist</a:t>
            </a:r>
            <a:r>
              <a:rPr lang="en-US" dirty="0">
                <a:latin typeface="Miriam Fixed"/>
                <a:cs typeface="Arial"/>
              </a:rPr>
              <a:t> "${first:1}" "${second:1}")</a:t>
            </a:r>
          </a:p>
          <a:p>
            <a:r>
              <a:rPr lang="en-US" dirty="0">
                <a:latin typeface="Miriam Fixed"/>
                <a:cs typeface="Arial"/>
              </a:rPr>
              <a:t>    local append1=$(</a:t>
            </a:r>
            <a:r>
              <a:rPr lang="en-US" dirty="0" err="1">
                <a:latin typeface="Miriam Fixed"/>
                <a:cs typeface="Arial"/>
              </a:rPr>
              <a:t>edit_dist</a:t>
            </a:r>
            <a:r>
              <a:rPr lang="en-US" dirty="0">
                <a:latin typeface="Miriam Fixed"/>
                <a:cs typeface="Arial"/>
              </a:rPr>
              <a:t> "${first:1}" "$second")</a:t>
            </a:r>
          </a:p>
          <a:p>
            <a:r>
              <a:rPr lang="en-US" dirty="0">
                <a:latin typeface="Miriam Fixed"/>
                <a:cs typeface="Arial"/>
              </a:rPr>
              <a:t>    local append2=$(</a:t>
            </a:r>
            <a:r>
              <a:rPr lang="en-US" dirty="0" err="1">
                <a:latin typeface="Miriam Fixed"/>
                <a:cs typeface="Arial"/>
              </a:rPr>
              <a:t>edit_dist</a:t>
            </a:r>
            <a:r>
              <a:rPr lang="en-US" dirty="0">
                <a:latin typeface="Miriam Fixed"/>
                <a:cs typeface="Arial"/>
              </a:rPr>
              <a:t> "$first" "${second:1}")</a:t>
            </a:r>
          </a:p>
          <a:p>
            <a:r>
              <a:rPr lang="en-US" dirty="0">
                <a:latin typeface="Miriam Fixed"/>
                <a:cs typeface="Arial"/>
              </a:rPr>
              <a:t>    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1A8B3-228F-A7F5-4DD5-E8B9F24A71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Linux and Bash Scripting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34F6D-9300-7AF6-C5FA-92897C181FB0}"/>
              </a:ext>
            </a:extLst>
          </p:cNvPr>
          <p:cNvSpPr txBox="1"/>
          <p:nvPr/>
        </p:nvSpPr>
        <p:spPr>
          <a:xfrm>
            <a:off x="6096148" y="1217628"/>
            <a:ext cx="5636887" cy="3252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050" dirty="0">
                <a:latin typeface="Miriam Fixed"/>
                <a:cs typeface="Miriam Fixed"/>
              </a:rPr>
              <a:t>    local min=$replace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050" dirty="0">
                <a:latin typeface="Miriam Fixed"/>
                <a:cs typeface="Miriam Fixed"/>
              </a:rPr>
              <a:t>    if [ "$append1" -le "$min" ]; then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050" dirty="0">
                <a:latin typeface="Miriam Fixed"/>
                <a:cs typeface="Miriam Fixed"/>
              </a:rPr>
              <a:t>      min=$append1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050" dirty="0">
                <a:latin typeface="Miriam Fixed"/>
                <a:cs typeface="Miriam Fixed"/>
              </a:rPr>
              <a:t>    fi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050" dirty="0">
                <a:latin typeface="Miriam Fixed"/>
                <a:cs typeface="Miriam Fixed"/>
              </a:rPr>
              <a:t>    if [ "$append2" -le "$min" ]; then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050" dirty="0">
                <a:latin typeface="Miriam Fixed"/>
                <a:cs typeface="Miriam Fixed"/>
              </a:rPr>
              <a:t>      min=$append2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050" dirty="0">
                <a:latin typeface="Miriam Fixed"/>
                <a:cs typeface="Miriam Fixed"/>
              </a:rPr>
              <a:t>    fi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050" dirty="0">
                <a:latin typeface="Miriam Fixed"/>
                <a:cs typeface="Miriam Fixed"/>
              </a:rPr>
              <a:t>    echo $((min + 1))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050" dirty="0">
                <a:latin typeface="Miriam Fixed"/>
                <a:cs typeface="Miriam Fixed"/>
              </a:rPr>
              <a:t>  fi</a:t>
            </a:r>
          </a:p>
          <a:p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1050" dirty="0">
                <a:latin typeface="Miriam Fixed"/>
                <a:cs typeface="Miriam Fixed"/>
              </a:rPr>
              <a:t>}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050" dirty="0">
                <a:latin typeface="Miriam Fixed"/>
                <a:cs typeface="Miriam Fixed"/>
              </a:rPr>
              <a:t>read –p "Enter two strings: " first second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050" dirty="0" err="1">
                <a:latin typeface="Miriam Fixed"/>
                <a:cs typeface="Miriam Fixed"/>
              </a:rPr>
              <a:t>edit_dist</a:t>
            </a:r>
            <a:r>
              <a:rPr lang="en-US" sz="1050" dirty="0">
                <a:latin typeface="Miriam Fixed"/>
                <a:cs typeface="Miriam Fixed"/>
              </a:rPr>
              <a:t> "$first" "$second"</a:t>
            </a:r>
          </a:p>
        </p:txBody>
      </p:sp>
    </p:spTree>
    <p:extLst>
      <p:ext uri="{BB962C8B-B14F-4D97-AF65-F5344CB8AC3E}">
        <p14:creationId xmlns:p14="http://schemas.microsoft.com/office/powerpoint/2010/main" val="1444628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31E335-1B4F-709D-5A75-3DBE8F4CA2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Edit Distance Output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701A6-D159-DF9D-AE71-685372597F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AC4F33-6678-6FB2-49EE-0C501DB292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0B6038D-0D68-7153-BC35-F26BAAA85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255" y="1143000"/>
            <a:ext cx="8065884" cy="499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8893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7153D2-D40A-9A27-33EA-9ABE618442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Regular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0AF0B-1A45-5D9C-3AC7-515E9C57B0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Regular expressions are strings of arcane symbols used for finding things in a file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Here's an example from </a:t>
            </a:r>
            <a:r>
              <a:rPr lang="en-US" err="1">
                <a:latin typeface="Arial"/>
                <a:cs typeface="Arial"/>
              </a:rPr>
              <a:t>StackOverflow</a:t>
            </a:r>
            <a:r>
              <a:rPr lang="en-US" dirty="0">
                <a:latin typeface="Arial"/>
                <a:cs typeface="Arial"/>
              </a:rPr>
              <a:t> that checks for email addresses: </a:t>
            </a:r>
            <a:r>
              <a:rPr lang="en-US" sz="1000" dirty="0">
                <a:latin typeface="Miriam Fixed"/>
                <a:ea typeface="+mn-lt"/>
                <a:cs typeface="+mn-lt"/>
              </a:rPr>
              <a:t>(?:[a-z0-9!#$%&amp;'*+/=?^_`{|}~-]+(?:\.[a-z0-9!#$%&amp;'*+/=?^_`{|}~-]+)*|"(?:[\x01-\x08\x0b\x0c\x0e-\x1f\x21\x23-\x5b\x5d-\x7f]|\\[\x01-\x09\x0b\x0c\x0e-\x7f])*")@(?:(?:[a-z0-9](?:[a-z0-9-]*[a-z0-9])?\.)+[a-z0-9](?:[a-z0-9-]*[a-z0-9])?|\[(?:(?:(2(5[0-5]|[0-4][0-9])|1[0-9][0-9]|[1-9]?[0-9]))\.){3}(?:(2(5[0-5]|[0-4][0-9])|1[0-9][0-9]|[1-9]?[0-9])|[a-z0-9-]*[a-z0-9]:(?:[\x01-\x08\x0b\x0c\x0e-\x1f\x21-\x5a\x53-\x7f]|\\[\x01-\x09\x0b\x0c\x0e-\x7f])+)\])</a:t>
            </a:r>
            <a:endParaRPr lang="en-US" sz="2000">
              <a:latin typeface="Miriam Fixed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These are commonly used with programs like find and grep, but are common in Python as well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1B863-126A-40D8-31C4-DCCF47E1DE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28674861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957923-5E16-7265-E073-A170917C65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Basic Regexes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C1CBB-4AE9-3036-5260-BE798EEA02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A regex can contain a list of characters to match, as well as special groups that affect matching, and a few special characters.</a:t>
            </a: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A regex like "</a:t>
            </a:r>
            <a:r>
              <a:rPr lang="en-US" err="1">
                <a:latin typeface="Arial"/>
                <a:cs typeface="Arial"/>
              </a:rPr>
              <a:t>abc</a:t>
            </a:r>
            <a:r>
              <a:rPr lang="en-US" dirty="0">
                <a:latin typeface="Arial"/>
                <a:cs typeface="Arial"/>
              </a:rPr>
              <a:t>" will only match the string "</a:t>
            </a:r>
            <a:r>
              <a:rPr lang="en-US" err="1">
                <a:latin typeface="Arial"/>
                <a:cs typeface="Arial"/>
              </a:rPr>
              <a:t>abc</a:t>
            </a:r>
            <a:r>
              <a:rPr lang="en-US" dirty="0">
                <a:latin typeface="Arial"/>
                <a:cs typeface="Arial"/>
              </a:rPr>
              <a:t>"</a:t>
            </a:r>
            <a:endParaRPr lang="en-US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Special characters include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The period, which matches all characters except line terminators and file terminators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The +, ?, and *, which specify repetitions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Brackets [], which specify selections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Braces {}, which specify repetitions more </a:t>
            </a:r>
            <a:r>
              <a:rPr lang="en-US" dirty="0" err="1">
                <a:latin typeface="Arial"/>
                <a:cs typeface="Arial"/>
              </a:rPr>
              <a:t>precicely</a:t>
            </a:r>
            <a:endParaRPr lang="en-US" dirty="0">
              <a:latin typeface="Arial"/>
              <a:cs typeface="Arial"/>
            </a:endParaRP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Parentheses (), which group sub-expressions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B859E-892E-3DEA-B700-3E3101B02B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5489366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0CE7B2-451C-8080-4E2D-A228266C10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Regexes Cont.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8DB95-A7E7-D574-8A97-53C0D5082D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More special characters</a:t>
            </a:r>
            <a:endParaRPr lang="en-US" dirty="0"/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The dollar sign $, which matches the end of the string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The caret ^, which matches the start of the string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The caret has another use, which is when it is inside braces [^], it matches everything not inside the braces.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The dash indicates a range of numbers or letters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There are also special groups, but the exact form they take depends on the program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For instance, digits can be indicated by </a:t>
            </a:r>
            <a:r>
              <a:rPr lang="en-US" dirty="0">
                <a:latin typeface="Miriam Fixed"/>
                <a:cs typeface="Arial"/>
              </a:rPr>
              <a:t>[[:digit:]], \d, \p{Digit},</a:t>
            </a:r>
            <a:r>
              <a:rPr lang="en-US" dirty="0">
                <a:latin typeface="Arial"/>
                <a:cs typeface="Arial"/>
              </a:rPr>
              <a:t> or more directly by </a:t>
            </a:r>
            <a:r>
              <a:rPr lang="en-US" dirty="0">
                <a:latin typeface="Miriam Fixed"/>
                <a:cs typeface="Arial"/>
              </a:rPr>
              <a:t>[0-9]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0FBD9-ED36-7B18-85EA-639D23F9E9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1456597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8E304C-AF84-C2AA-7CA4-876CDB5AE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Regex Examples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22AFA-9641-BC73-EC65-BCBA09695E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latin typeface="Arial"/>
                <a:cs typeface="Arial"/>
              </a:rPr>
              <a:t>To extract the energy values from a </a:t>
            </a:r>
            <a:r>
              <a:rPr lang="en-US" dirty="0" err="1">
                <a:latin typeface="Arial"/>
                <a:cs typeface="Arial"/>
              </a:rPr>
              <a:t>Molpro</a:t>
            </a:r>
            <a:r>
              <a:rPr lang="en-US" dirty="0">
                <a:latin typeface="Arial"/>
                <a:cs typeface="Arial"/>
              </a:rPr>
              <a:t> file: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Miriam Fixed"/>
                <a:cs typeface="Arial"/>
              </a:rPr>
              <a:t>[RU]HF(-[RU]CCSD)?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Arial"/>
              </a:rPr>
              <a:t>Matches RHF, UHF, RHF-RCCSD, RHF-UCCSD, UHF-RCCSD, and UHF-UCCSD, though not all are possible outputs of </a:t>
            </a:r>
            <a:r>
              <a:rPr lang="en-US" dirty="0" err="1">
                <a:latin typeface="Arial"/>
                <a:cs typeface="Arial"/>
              </a:rPr>
              <a:t>Molpro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To find out if Psi4 finished: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Miriam Fixed"/>
                <a:cs typeface="Miriam Fixed"/>
              </a:rPr>
              <a:t>Buy a developer a (</a:t>
            </a:r>
            <a:r>
              <a:rPr lang="en-US" dirty="0" err="1">
                <a:latin typeface="Miriam Fixed"/>
                <a:cs typeface="Miriam Fixed"/>
              </a:rPr>
              <a:t>beer|coffee</a:t>
            </a:r>
            <a:r>
              <a:rPr lang="en-US" dirty="0">
                <a:latin typeface="Miriam Fixed"/>
                <a:cs typeface="Miriam Fixed"/>
              </a:rPr>
              <a:t>)!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Miriam Fixed"/>
              </a:rPr>
              <a:t>To match any string: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Miriam Fixed"/>
                <a:cs typeface="Miriam Fixed"/>
              </a:rPr>
              <a:t>.*</a:t>
            </a:r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cs typeface="Miriam Fixed"/>
              </a:rPr>
              <a:t>This means match any character zero or more times</a:t>
            </a:r>
            <a:endParaRPr lang="en-US" dirty="0">
              <a:latin typeface="Miriam Fixed"/>
              <a:cs typeface="Miriam Fixed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280B6-B4CB-8ADB-CD16-2F801CAB75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Linux and Bash Scripting</a:t>
            </a:r>
          </a:p>
        </p:txBody>
      </p:sp>
    </p:spTree>
    <p:extLst>
      <p:ext uri="{BB962C8B-B14F-4D97-AF65-F5344CB8AC3E}">
        <p14:creationId xmlns:p14="http://schemas.microsoft.com/office/powerpoint/2010/main" val="227607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10342</TotalTime>
  <Words>0</Words>
  <Application>Microsoft Office PowerPoint</Application>
  <PresentationFormat>Widescreen</PresentationFormat>
  <Paragraphs>0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Georgia is Great</dc:title>
  <dc:creator>Whitney Mathisen</dc:creator>
  <cp:lastModifiedBy>Whitney Mathisen</cp:lastModifiedBy>
  <cp:revision>1438</cp:revision>
  <dcterms:created xsi:type="dcterms:W3CDTF">2023-05-23T13:55:30Z</dcterms:created>
  <dcterms:modified xsi:type="dcterms:W3CDTF">2026-06-09T18:04:58Z</dcterms:modified>
</cp:coreProperties>
</file>